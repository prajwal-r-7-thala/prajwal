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Default Extension="png" ContentType="image/png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www.kaggle.com/datasets/bhadramohit/climate" TargetMode="Externa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8228" y="2486222"/>
            <a:ext cx="2709585" cy="249316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635370" y="1590273"/>
            <a:ext cx="4294505" cy="8140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11200"/>
              </a:lnSpc>
              <a:spcBef>
                <a:spcPts val="100"/>
              </a:spcBef>
            </a:pPr>
            <a:r>
              <a:rPr dirty="0" sz="1550">
                <a:solidFill>
                  <a:srgbClr val="050505"/>
                </a:solidFill>
                <a:latin typeface="Arial"/>
                <a:cs typeface="Arial"/>
              </a:rPr>
              <a:t>UNIVERSITY</a:t>
            </a:r>
            <a:r>
              <a:rPr dirty="0" sz="1550" spc="15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050505"/>
                </a:solidFill>
                <a:latin typeface="Arial"/>
                <a:cs typeface="Arial"/>
              </a:rPr>
              <a:t>OF</a:t>
            </a:r>
            <a:r>
              <a:rPr dirty="0" sz="1550" spc="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050505"/>
                </a:solidFill>
                <a:latin typeface="Arial"/>
                <a:cs typeface="Arial"/>
              </a:rPr>
              <a:t>AGRICULTURAL</a:t>
            </a:r>
            <a:r>
              <a:rPr dirty="0" sz="1550" spc="19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050505"/>
                </a:solidFill>
                <a:latin typeface="Arial"/>
                <a:cs typeface="Arial"/>
              </a:rPr>
              <a:t>SCIENCES, </a:t>
            </a:r>
            <a:r>
              <a:rPr dirty="0" sz="1550">
                <a:solidFill>
                  <a:srgbClr val="050505"/>
                </a:solidFill>
                <a:latin typeface="Arial"/>
                <a:cs typeface="Arial"/>
              </a:rPr>
              <a:t>COLLEGE</a:t>
            </a:r>
            <a:r>
              <a:rPr dirty="0" sz="1550" spc="10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050505"/>
                </a:solidFill>
                <a:latin typeface="Arial"/>
                <a:cs typeface="Arial"/>
              </a:rPr>
              <a:t>OF</a:t>
            </a:r>
            <a:r>
              <a:rPr dirty="0" sz="1550" spc="4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050505"/>
                </a:solidFill>
                <a:latin typeface="Arial"/>
                <a:cs typeface="Arial"/>
              </a:rPr>
              <a:t>AGRICULTURE,</a:t>
            </a:r>
            <a:r>
              <a:rPr dirty="0" sz="1550" spc="175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050505"/>
                </a:solidFill>
                <a:latin typeface="Arial"/>
                <a:cs typeface="Arial"/>
              </a:rPr>
              <a:t>GKVK </a:t>
            </a:r>
            <a:r>
              <a:rPr dirty="0" sz="1550">
                <a:solidFill>
                  <a:srgbClr val="050505"/>
                </a:solidFill>
                <a:latin typeface="Arial"/>
                <a:cs typeface="Arial"/>
              </a:rPr>
              <a:t>BANGALORE-</a:t>
            </a:r>
            <a:r>
              <a:rPr dirty="0" sz="1550" spc="-10">
                <a:solidFill>
                  <a:srgbClr val="050505"/>
                </a:solidFill>
                <a:latin typeface="Arial"/>
                <a:cs typeface="Arial"/>
              </a:rPr>
              <a:t>560065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899" y="5359045"/>
            <a:ext cx="5494020" cy="3817620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algn="ctr" marR="640080">
              <a:lnSpc>
                <a:spcPct val="100000"/>
              </a:lnSpc>
              <a:spcBef>
                <a:spcPts val="330"/>
              </a:spcBef>
            </a:pPr>
            <a:r>
              <a:rPr dirty="0" sz="1250" b="1">
                <a:solidFill>
                  <a:srgbClr val="050505"/>
                </a:solidFill>
                <a:latin typeface="Arial"/>
                <a:cs typeface="Arial"/>
              </a:rPr>
              <a:t>EAl421</a:t>
            </a:r>
            <a:r>
              <a:rPr dirty="0" sz="1250" spc="-5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212121"/>
                </a:solidFill>
                <a:latin typeface="Arial"/>
                <a:cs typeface="Arial"/>
              </a:rPr>
              <a:t>-</a:t>
            </a:r>
            <a:r>
              <a:rPr dirty="0" sz="1250" spc="-1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050505"/>
                </a:solidFill>
                <a:latin typeface="Arial"/>
                <a:cs typeface="Arial"/>
              </a:rPr>
              <a:t>APPLICATION</a:t>
            </a:r>
            <a:r>
              <a:rPr dirty="0" sz="1250" spc="95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050505"/>
                </a:solidFill>
                <a:latin typeface="Arial"/>
                <a:cs typeface="Arial"/>
              </a:rPr>
              <a:t>OF</a:t>
            </a:r>
            <a:r>
              <a:rPr dirty="0" sz="1250" spc="-50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050505"/>
                </a:solidFill>
                <a:latin typeface="Arial"/>
                <a:cs typeface="Arial"/>
              </a:rPr>
              <a:t>ARTIFICIAL</a:t>
            </a:r>
            <a:r>
              <a:rPr dirty="0" sz="1250" spc="35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050505"/>
                </a:solidFill>
                <a:latin typeface="Arial"/>
                <a:cs typeface="Arial"/>
              </a:rPr>
              <a:t>INTELLIGENCE</a:t>
            </a:r>
            <a:endParaRPr sz="1250">
              <a:latin typeface="Arial"/>
              <a:cs typeface="Arial"/>
            </a:endParaRPr>
          </a:p>
          <a:p>
            <a:pPr algn="ctr" marR="628015">
              <a:lnSpc>
                <a:spcPct val="100000"/>
              </a:lnSpc>
              <a:spcBef>
                <a:spcPts val="229"/>
              </a:spcBef>
            </a:pPr>
            <a:r>
              <a:rPr dirty="0" sz="1250" b="1">
                <a:solidFill>
                  <a:srgbClr val="050505"/>
                </a:solidFill>
                <a:latin typeface="Arial"/>
                <a:cs typeface="Arial"/>
              </a:rPr>
              <a:t>AND</a:t>
            </a:r>
            <a:r>
              <a:rPr dirty="0" sz="1250" spc="-15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250" b="1">
                <a:solidFill>
                  <a:srgbClr val="050505"/>
                </a:solidFill>
                <a:latin typeface="Arial"/>
                <a:cs typeface="Arial"/>
              </a:rPr>
              <a:t>MACHINE</a:t>
            </a:r>
            <a:r>
              <a:rPr dirty="0" sz="1250" spc="55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250" spc="-10" b="1">
                <a:solidFill>
                  <a:srgbClr val="050505"/>
                </a:solidFill>
                <a:latin typeface="Arial"/>
                <a:cs typeface="Arial"/>
              </a:rPr>
              <a:t>LEARNING</a:t>
            </a:r>
            <a:endParaRPr sz="1250">
              <a:latin typeface="Arial"/>
              <a:cs typeface="Arial"/>
            </a:endParaRPr>
          </a:p>
          <a:p>
            <a:pPr algn="ctr" marR="620395">
              <a:lnSpc>
                <a:spcPts val="1580"/>
              </a:lnSpc>
              <a:spcBef>
                <a:spcPts val="1095"/>
              </a:spcBef>
            </a:pPr>
            <a:r>
              <a:rPr dirty="0" sz="1350">
                <a:solidFill>
                  <a:srgbClr val="2A3B59"/>
                </a:solidFill>
                <a:latin typeface="Arial"/>
                <a:cs typeface="Arial"/>
              </a:rPr>
              <a:t>PROJECT</a:t>
            </a:r>
            <a:r>
              <a:rPr dirty="0" sz="1350" spc="90">
                <a:solidFill>
                  <a:srgbClr val="2A3B59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2A3B59"/>
                </a:solidFill>
                <a:latin typeface="Arial"/>
                <a:cs typeface="Arial"/>
              </a:rPr>
              <a:t>TITLE</a:t>
            </a:r>
            <a:r>
              <a:rPr dirty="0" sz="1350" spc="-10">
                <a:solidFill>
                  <a:srgbClr val="333333"/>
                </a:solidFill>
                <a:latin typeface="Arial"/>
                <a:cs typeface="Arial"/>
              </a:rPr>
              <a:t>:</a:t>
            </a:r>
            <a:endParaRPr sz="1350">
              <a:latin typeface="Arial"/>
              <a:cs typeface="Arial"/>
            </a:endParaRPr>
          </a:p>
          <a:p>
            <a:pPr algn="ctr">
              <a:lnSpc>
                <a:spcPts val="1540"/>
              </a:lnSpc>
            </a:pPr>
            <a:r>
              <a:rPr dirty="0" sz="1350">
                <a:solidFill>
                  <a:srgbClr val="3B70A0"/>
                </a:solidFill>
                <a:latin typeface="Arial"/>
                <a:cs typeface="Arial"/>
              </a:rPr>
              <a:t>CLIMATE</a:t>
            </a:r>
            <a:r>
              <a:rPr dirty="0" sz="1350" spc="15">
                <a:solidFill>
                  <a:srgbClr val="3B70A0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3B70A0"/>
                </a:solidFill>
                <a:latin typeface="Arial"/>
                <a:cs typeface="Arial"/>
              </a:rPr>
              <a:t>CHANGE </a:t>
            </a:r>
            <a:r>
              <a:rPr dirty="0" sz="1350">
                <a:solidFill>
                  <a:srgbClr val="3B70A0"/>
                </a:solidFill>
                <a:latin typeface="Arial"/>
                <a:cs typeface="Arial"/>
              </a:rPr>
              <a:t>PREDECTION</a:t>
            </a:r>
            <a:r>
              <a:rPr dirty="0" sz="1350" spc="245">
                <a:solidFill>
                  <a:srgbClr val="3B70A0"/>
                </a:solidFill>
                <a:latin typeface="Arial"/>
                <a:cs typeface="Arial"/>
              </a:rPr>
              <a:t> </a:t>
            </a:r>
            <a:r>
              <a:rPr dirty="0" sz="1300" spc="50" b="1">
                <a:solidFill>
                  <a:srgbClr val="3B70A0"/>
                </a:solidFill>
                <a:latin typeface="Arial"/>
                <a:cs typeface="Arial"/>
              </a:rPr>
              <a:t>AND</a:t>
            </a:r>
            <a:r>
              <a:rPr dirty="0" sz="1300" spc="-20" b="1">
                <a:solidFill>
                  <a:srgbClr val="3B70A0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3B70A0"/>
                </a:solidFill>
                <a:latin typeface="Arial"/>
                <a:cs typeface="Arial"/>
              </a:rPr>
              <a:t>ANALYSIS</a:t>
            </a:r>
            <a:r>
              <a:rPr dirty="0" sz="1300" spc="50" b="1">
                <a:solidFill>
                  <a:srgbClr val="3B70A0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3B70A0"/>
                </a:solidFill>
                <a:latin typeface="Arial"/>
                <a:cs typeface="Arial"/>
              </a:rPr>
              <a:t>USING</a:t>
            </a:r>
            <a:r>
              <a:rPr dirty="0" sz="1300" spc="-70" b="1">
                <a:solidFill>
                  <a:srgbClr val="3B70A0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3B70A0"/>
                </a:solidFill>
                <a:latin typeface="Arial"/>
                <a:cs typeface="Arial"/>
              </a:rPr>
              <a:t>MACHINE</a:t>
            </a:r>
            <a:endParaRPr sz="1300">
              <a:latin typeface="Arial"/>
              <a:cs typeface="Arial"/>
            </a:endParaRPr>
          </a:p>
          <a:p>
            <a:pPr algn="ctr" marR="141605">
              <a:lnSpc>
                <a:spcPts val="1520"/>
              </a:lnSpc>
            </a:pPr>
            <a:r>
              <a:rPr dirty="0" sz="1300" spc="-10" b="1">
                <a:solidFill>
                  <a:srgbClr val="3B70A0"/>
                </a:solidFill>
                <a:latin typeface="Arial"/>
                <a:cs typeface="Arial"/>
              </a:rPr>
              <a:t>LEARNING</a:t>
            </a:r>
            <a:endParaRPr sz="1300">
              <a:latin typeface="Arial"/>
              <a:cs typeface="Arial"/>
            </a:endParaRPr>
          </a:p>
          <a:p>
            <a:pPr algn="ctr" marL="1748789" marR="2367915" indent="6985">
              <a:lnSpc>
                <a:spcPct val="120400"/>
              </a:lnSpc>
              <a:spcBef>
                <a:spcPts val="40"/>
              </a:spcBef>
            </a:pPr>
            <a:r>
              <a:rPr dirty="0" sz="1150" b="1">
                <a:solidFill>
                  <a:srgbClr val="050505"/>
                </a:solidFill>
                <a:latin typeface="Arial"/>
                <a:cs typeface="Arial"/>
              </a:rPr>
              <a:t>Submitted </a:t>
            </a:r>
            <a:r>
              <a:rPr dirty="0" sz="1150" spc="-25" b="1">
                <a:solidFill>
                  <a:srgbClr val="050505"/>
                </a:solidFill>
                <a:latin typeface="Arial"/>
                <a:cs typeface="Arial"/>
              </a:rPr>
              <a:t>to</a:t>
            </a:r>
            <a:r>
              <a:rPr dirty="0" sz="1150" spc="-25" b="1">
                <a:solidFill>
                  <a:srgbClr val="333333"/>
                </a:solidFill>
                <a:latin typeface="Arial"/>
                <a:cs typeface="Arial"/>
              </a:rPr>
              <a:t>: </a:t>
            </a:r>
            <a:r>
              <a:rPr dirty="0" sz="1150" b="1">
                <a:solidFill>
                  <a:srgbClr val="050505"/>
                </a:solidFill>
                <a:latin typeface="Arial"/>
                <a:cs typeface="Arial"/>
              </a:rPr>
              <a:t>Dr.Sailaja</a:t>
            </a:r>
            <a:r>
              <a:rPr dirty="0" sz="1150" spc="20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150" spc="-10" b="1">
                <a:solidFill>
                  <a:srgbClr val="050505"/>
                </a:solidFill>
                <a:latin typeface="Arial"/>
                <a:cs typeface="Arial"/>
              </a:rPr>
              <a:t>Thota </a:t>
            </a:r>
            <a:r>
              <a:rPr dirty="0" sz="1100" spc="50">
                <a:solidFill>
                  <a:srgbClr val="212121"/>
                </a:solidFill>
                <a:latin typeface="Arial"/>
                <a:cs typeface="Arial"/>
              </a:rPr>
              <a:t>The</a:t>
            </a:r>
            <a:r>
              <a:rPr dirty="0" sz="1100" spc="6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12121"/>
                </a:solidFill>
                <a:latin typeface="Arial"/>
                <a:cs typeface="Arial"/>
              </a:rPr>
              <a:t>Course</a:t>
            </a:r>
            <a:r>
              <a:rPr dirty="0" sz="1100" spc="7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050505"/>
                </a:solidFill>
                <a:latin typeface="Arial"/>
                <a:cs typeface="Arial"/>
              </a:rPr>
              <a:t>Teacher</a:t>
            </a:r>
            <a:endParaRPr sz="1100">
              <a:latin typeface="Arial"/>
              <a:cs typeface="Arial"/>
            </a:endParaRPr>
          </a:p>
          <a:p>
            <a:pPr algn="ctr" marL="1530985" marR="2169160" indent="26034">
              <a:lnSpc>
                <a:spcPts val="1300"/>
              </a:lnSpc>
              <a:spcBef>
                <a:spcPts val="90"/>
              </a:spcBef>
            </a:pPr>
            <a:r>
              <a:rPr dirty="0" sz="1100">
                <a:solidFill>
                  <a:srgbClr val="333333"/>
                </a:solidFill>
                <a:latin typeface="Arial"/>
                <a:cs typeface="Arial"/>
              </a:rPr>
              <a:t>Application</a:t>
            </a:r>
            <a:r>
              <a:rPr dirty="0" sz="1100" spc="6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212121"/>
                </a:solidFill>
                <a:latin typeface="Arial"/>
                <a:cs typeface="Arial"/>
              </a:rPr>
              <a:t>of</a:t>
            </a:r>
            <a:r>
              <a:rPr dirty="0" sz="1100" spc="8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00" spc="50">
                <a:solidFill>
                  <a:srgbClr val="333333"/>
                </a:solidFill>
                <a:latin typeface="Arial"/>
                <a:cs typeface="Arial"/>
              </a:rPr>
              <a:t>A</a:t>
            </a:r>
            <a:r>
              <a:rPr dirty="0" sz="1100" spc="50">
                <a:solidFill>
                  <a:srgbClr val="050505"/>
                </a:solidFill>
                <a:latin typeface="Arial"/>
                <a:cs typeface="Arial"/>
              </a:rPr>
              <a:t>l </a:t>
            </a:r>
            <a:r>
              <a:rPr dirty="0" sz="1100" spc="80">
                <a:solidFill>
                  <a:srgbClr val="333333"/>
                </a:solidFill>
                <a:latin typeface="Arial"/>
                <a:cs typeface="Arial"/>
              </a:rPr>
              <a:t>&amp;</a:t>
            </a:r>
            <a:r>
              <a:rPr dirty="0" sz="1100" spc="5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00" spc="60">
                <a:solidFill>
                  <a:srgbClr val="212121"/>
                </a:solidFill>
                <a:latin typeface="Arial"/>
                <a:cs typeface="Arial"/>
              </a:rPr>
              <a:t>ML </a:t>
            </a:r>
            <a:r>
              <a:rPr dirty="0" sz="1100" spc="60">
                <a:solidFill>
                  <a:srgbClr val="333333"/>
                </a:solidFill>
                <a:latin typeface="Arial"/>
                <a:cs typeface="Arial"/>
              </a:rPr>
              <a:t>COA,</a:t>
            </a:r>
            <a:r>
              <a:rPr dirty="0" sz="1100" spc="114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212121"/>
                </a:solidFill>
                <a:latin typeface="Arial"/>
                <a:cs typeface="Arial"/>
              </a:rPr>
              <a:t>GK</a:t>
            </a:r>
            <a:r>
              <a:rPr dirty="0" sz="1100" spc="10">
                <a:solidFill>
                  <a:srgbClr val="444444"/>
                </a:solidFill>
                <a:latin typeface="Arial"/>
                <a:cs typeface="Arial"/>
              </a:rPr>
              <a:t>V</a:t>
            </a:r>
            <a:r>
              <a:rPr dirty="0" sz="1100" spc="10">
                <a:solidFill>
                  <a:srgbClr val="212121"/>
                </a:solidFill>
                <a:latin typeface="Arial"/>
                <a:cs typeface="Arial"/>
              </a:rPr>
              <a:t>K</a:t>
            </a:r>
            <a:r>
              <a:rPr dirty="0" sz="1100" spc="10">
                <a:solidFill>
                  <a:srgbClr val="606060"/>
                </a:solidFill>
                <a:latin typeface="Arial"/>
                <a:cs typeface="Arial"/>
              </a:rPr>
              <a:t>,</a:t>
            </a:r>
            <a:r>
              <a:rPr dirty="0" sz="1100" spc="105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212121"/>
                </a:solidFill>
                <a:latin typeface="Arial"/>
                <a:cs typeface="Arial"/>
              </a:rPr>
              <a:t>Bangalore-</a:t>
            </a:r>
            <a:r>
              <a:rPr dirty="0" sz="1100" spc="-25">
                <a:solidFill>
                  <a:srgbClr val="212121"/>
                </a:solidFill>
                <a:latin typeface="Arial"/>
                <a:cs typeface="Arial"/>
              </a:rPr>
              <a:t>65</a:t>
            </a:r>
            <a:endParaRPr sz="1100">
              <a:latin typeface="Arial"/>
              <a:cs typeface="Arial"/>
            </a:endParaRPr>
          </a:p>
          <a:p>
            <a:pPr algn="ctr" marR="617220">
              <a:lnSpc>
                <a:spcPct val="100000"/>
              </a:lnSpc>
              <a:spcBef>
                <a:spcPts val="1140"/>
              </a:spcBef>
            </a:pPr>
            <a:r>
              <a:rPr dirty="0" sz="1150" b="1">
                <a:solidFill>
                  <a:srgbClr val="050505"/>
                </a:solidFill>
                <a:latin typeface="Arial"/>
                <a:cs typeface="Arial"/>
              </a:rPr>
              <a:t>Submitted</a:t>
            </a:r>
            <a:r>
              <a:rPr dirty="0" sz="1150" spc="35" b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150" spc="-25" b="1">
                <a:solidFill>
                  <a:srgbClr val="050505"/>
                </a:solidFill>
                <a:latin typeface="Arial"/>
                <a:cs typeface="Arial"/>
              </a:rPr>
              <a:t>by</a:t>
            </a:r>
            <a:r>
              <a:rPr dirty="0" sz="1150" spc="-25" b="1">
                <a:solidFill>
                  <a:srgbClr val="333333"/>
                </a:solidFill>
                <a:latin typeface="Arial"/>
                <a:cs typeface="Arial"/>
              </a:rPr>
              <a:t>:</a:t>
            </a:r>
            <a:endParaRPr sz="1150">
              <a:latin typeface="Arial"/>
              <a:cs typeface="Arial"/>
            </a:endParaRPr>
          </a:p>
          <a:p>
            <a:pPr marL="1820545" marR="1659255" indent="-85725">
              <a:lnSpc>
                <a:spcPts val="1300"/>
              </a:lnSpc>
              <a:spcBef>
                <a:spcPts val="270"/>
              </a:spcBef>
            </a:pPr>
            <a:r>
              <a:rPr dirty="0" sz="1100" spc="20">
                <a:solidFill>
                  <a:srgbClr val="212121"/>
                </a:solidFill>
                <a:latin typeface="Arial"/>
                <a:cs typeface="Arial"/>
              </a:rPr>
              <a:t>NIKHIL</a:t>
            </a:r>
            <a:r>
              <a:rPr dirty="0" sz="1100" spc="-5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00" spc="20">
                <a:solidFill>
                  <a:srgbClr val="333333"/>
                </a:solidFill>
                <a:latin typeface="Arial"/>
                <a:cs typeface="Arial"/>
              </a:rPr>
              <a:t>GOWDA</a:t>
            </a:r>
            <a:r>
              <a:rPr dirty="0" sz="1100" spc="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00" spc="20">
                <a:solidFill>
                  <a:srgbClr val="212121"/>
                </a:solidFill>
                <a:latin typeface="Arial"/>
                <a:cs typeface="Arial"/>
              </a:rPr>
              <a:t>HL</a:t>
            </a:r>
            <a:r>
              <a:rPr dirty="0" sz="1100" spc="114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444444"/>
                </a:solidFill>
                <a:latin typeface="Arial"/>
                <a:cs typeface="Arial"/>
              </a:rPr>
              <a:t>{AMB2154) </a:t>
            </a:r>
            <a:r>
              <a:rPr dirty="0" sz="1100" spc="20">
                <a:solidFill>
                  <a:srgbClr val="212121"/>
                </a:solidFill>
                <a:latin typeface="Arial"/>
                <a:cs typeface="Arial"/>
              </a:rPr>
              <a:t>NITHIN</a:t>
            </a:r>
            <a:r>
              <a:rPr dirty="0" sz="1100" spc="-9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00" spc="20">
                <a:solidFill>
                  <a:srgbClr val="212121"/>
                </a:solidFill>
                <a:latin typeface="Arial"/>
                <a:cs typeface="Arial"/>
              </a:rPr>
              <a:t>D</a:t>
            </a:r>
            <a:r>
              <a:rPr dirty="0" sz="110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33333"/>
                </a:solidFill>
                <a:latin typeface="Arial"/>
                <a:cs typeface="Arial"/>
              </a:rPr>
              <a:t>(AMB2159)</a:t>
            </a:r>
            <a:endParaRPr sz="1100">
              <a:latin typeface="Arial"/>
              <a:cs typeface="Arial"/>
            </a:endParaRPr>
          </a:p>
          <a:p>
            <a:pPr marL="1912620">
              <a:lnSpc>
                <a:spcPts val="1305"/>
              </a:lnSpc>
            </a:pPr>
            <a:r>
              <a:rPr dirty="0" sz="1100" spc="20">
                <a:solidFill>
                  <a:srgbClr val="212121"/>
                </a:solidFill>
                <a:latin typeface="Arial"/>
                <a:cs typeface="Arial"/>
              </a:rPr>
              <a:t>PRAJWAL</a:t>
            </a:r>
            <a:r>
              <a:rPr dirty="0" sz="1100" spc="-3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00" spc="20">
                <a:solidFill>
                  <a:srgbClr val="212121"/>
                </a:solidFill>
                <a:latin typeface="Arial"/>
                <a:cs typeface="Arial"/>
              </a:rPr>
              <a:t>R</a:t>
            </a:r>
            <a:r>
              <a:rPr dirty="0" sz="1100" spc="1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33333"/>
                </a:solidFill>
                <a:latin typeface="Arial"/>
                <a:cs typeface="Arial"/>
              </a:rPr>
              <a:t>(AMB2175)</a:t>
            </a:r>
            <a:endParaRPr sz="1100">
              <a:latin typeface="Arial"/>
              <a:cs typeface="Arial"/>
            </a:endParaRPr>
          </a:p>
          <a:p>
            <a:pPr algn="ctr" marL="1536700" marR="2169160" indent="-20320">
              <a:lnSpc>
                <a:spcPct val="105700"/>
              </a:lnSpc>
            </a:pPr>
            <a:r>
              <a:rPr dirty="0" sz="1100" spc="20">
                <a:solidFill>
                  <a:srgbClr val="212121"/>
                </a:solidFill>
                <a:latin typeface="Arial"/>
                <a:cs typeface="Arial"/>
              </a:rPr>
              <a:t>IV</a:t>
            </a:r>
            <a:r>
              <a:rPr dirty="0" sz="1100" spc="-3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00" spc="20">
                <a:solidFill>
                  <a:srgbClr val="212121"/>
                </a:solidFill>
                <a:latin typeface="Arial"/>
                <a:cs typeface="Arial"/>
              </a:rPr>
              <a:t>B.Sc.(Hons.)</a:t>
            </a:r>
            <a:r>
              <a:rPr dirty="0" sz="1100" spc="-5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333333"/>
                </a:solidFill>
                <a:latin typeface="Arial"/>
                <a:cs typeface="Arial"/>
              </a:rPr>
              <a:t>Agricu</a:t>
            </a:r>
            <a:r>
              <a:rPr dirty="0" sz="1100" spc="-10">
                <a:solidFill>
                  <a:srgbClr val="050505"/>
                </a:solidFill>
                <a:latin typeface="Arial"/>
                <a:cs typeface="Arial"/>
              </a:rPr>
              <a:t>l</a:t>
            </a:r>
            <a:r>
              <a:rPr dirty="0" sz="1100" spc="-10">
                <a:solidFill>
                  <a:srgbClr val="333333"/>
                </a:solidFill>
                <a:latin typeface="Arial"/>
                <a:cs typeface="Arial"/>
              </a:rPr>
              <a:t>ture </a:t>
            </a:r>
            <a:r>
              <a:rPr dirty="0" sz="1100" spc="50">
                <a:solidFill>
                  <a:srgbClr val="333333"/>
                </a:solidFill>
                <a:latin typeface="Arial"/>
                <a:cs typeface="Arial"/>
              </a:rPr>
              <a:t>COA,</a:t>
            </a:r>
            <a:r>
              <a:rPr dirty="0" sz="1100" spc="114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212121"/>
                </a:solidFill>
                <a:latin typeface="Arial"/>
                <a:cs typeface="Arial"/>
              </a:rPr>
              <a:t>GKVK</a:t>
            </a:r>
            <a:r>
              <a:rPr dirty="0" sz="1100" spc="10">
                <a:solidFill>
                  <a:srgbClr val="606060"/>
                </a:solidFill>
                <a:latin typeface="Arial"/>
                <a:cs typeface="Arial"/>
              </a:rPr>
              <a:t>,</a:t>
            </a:r>
            <a:r>
              <a:rPr dirty="0" sz="1100" spc="95">
                <a:solidFill>
                  <a:srgbClr val="606060"/>
                </a:solidFill>
                <a:latin typeface="Arial"/>
                <a:cs typeface="Arial"/>
              </a:rPr>
              <a:t> </a:t>
            </a:r>
            <a:r>
              <a:rPr dirty="0" sz="1100" spc="10">
                <a:solidFill>
                  <a:srgbClr val="212121"/>
                </a:solidFill>
                <a:latin typeface="Arial"/>
                <a:cs typeface="Arial"/>
              </a:rPr>
              <a:t>Bangalore-</a:t>
            </a:r>
            <a:r>
              <a:rPr dirty="0" sz="1100" spc="-25">
                <a:solidFill>
                  <a:srgbClr val="212121"/>
                </a:solidFill>
                <a:latin typeface="Arial"/>
                <a:cs typeface="Arial"/>
              </a:rPr>
              <a:t>65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1100">
              <a:latin typeface="Arial"/>
              <a:cs typeface="Arial"/>
            </a:endParaRPr>
          </a:p>
          <a:p>
            <a:pPr algn="ctr" marR="620395">
              <a:lnSpc>
                <a:spcPct val="100000"/>
              </a:lnSpc>
            </a:pPr>
            <a:r>
              <a:rPr dirty="0" sz="1150" b="1">
                <a:solidFill>
                  <a:srgbClr val="050505"/>
                </a:solidFill>
                <a:latin typeface="Arial"/>
                <a:cs typeface="Arial"/>
              </a:rPr>
              <a:t>2025-</a:t>
            </a:r>
            <a:r>
              <a:rPr dirty="0" sz="1150" spc="-20" b="1">
                <a:solidFill>
                  <a:srgbClr val="050505"/>
                </a:solidFill>
                <a:latin typeface="Arial"/>
                <a:cs typeface="Arial"/>
              </a:rPr>
              <a:t>2026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0814" y="1285501"/>
            <a:ext cx="6714490" cy="20923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176780">
              <a:lnSpc>
                <a:spcPct val="100000"/>
              </a:lnSpc>
              <a:spcBef>
                <a:spcPts val="105"/>
              </a:spcBef>
            </a:pPr>
            <a:r>
              <a:rPr dirty="0" sz="1700" spc="-10" b="1">
                <a:solidFill>
                  <a:srgbClr val="243656"/>
                </a:solidFill>
                <a:latin typeface="Arial"/>
                <a:cs typeface="Arial"/>
              </a:rPr>
              <a:t>CERTIFICATE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65"/>
              </a:spcBef>
            </a:pP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This</a:t>
            </a:r>
            <a:r>
              <a:rPr dirty="0" sz="1150" spc="-9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is</a:t>
            </a:r>
            <a:r>
              <a:rPr dirty="0" sz="1150" spc="-6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to</a:t>
            </a:r>
            <a:r>
              <a:rPr dirty="0" sz="1150" spc="-16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certify</a:t>
            </a:r>
            <a:r>
              <a:rPr dirty="0" sz="1150" spc="-10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that</a:t>
            </a:r>
            <a:r>
              <a:rPr dirty="0" sz="1150" spc="-12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the</a:t>
            </a:r>
            <a:r>
              <a:rPr dirty="0" sz="1150" spc="-13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project</a:t>
            </a:r>
            <a:r>
              <a:rPr dirty="0" sz="1150" spc="-3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report</a:t>
            </a:r>
            <a:r>
              <a:rPr dirty="0" sz="1150" spc="3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entitled</a:t>
            </a:r>
            <a:r>
              <a:rPr dirty="0" sz="1150" spc="-10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"Climate</a:t>
            </a:r>
            <a:r>
              <a:rPr dirty="0" sz="1150" spc="-3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Change</a:t>
            </a:r>
            <a:r>
              <a:rPr dirty="0" sz="1150" spc="5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Prediction</a:t>
            </a:r>
            <a:r>
              <a:rPr dirty="0" sz="1150" spc="2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and</a:t>
            </a:r>
            <a:r>
              <a:rPr dirty="0" sz="1150" spc="-6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Analysis</a:t>
            </a:r>
            <a:r>
              <a:rPr dirty="0" sz="1150" spc="-5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43434"/>
                </a:solidFill>
                <a:latin typeface="Arial"/>
                <a:cs typeface="Arial"/>
              </a:rPr>
              <a:t>Using</a:t>
            </a:r>
            <a:endParaRPr sz="1150">
              <a:latin typeface="Arial"/>
              <a:cs typeface="Arial"/>
            </a:endParaRPr>
          </a:p>
          <a:p>
            <a:pPr marL="17145" marR="5080" indent="-635">
              <a:lnSpc>
                <a:spcPct val="101099"/>
              </a:lnSpc>
            </a:pP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Machine</a:t>
            </a:r>
            <a:r>
              <a:rPr dirty="0" sz="1150" spc="-6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Learning"</a:t>
            </a:r>
            <a:r>
              <a:rPr dirty="0" sz="1150">
                <a:solidFill>
                  <a:srgbClr val="5B5B5B"/>
                </a:solidFill>
                <a:latin typeface="Arial"/>
                <a:cs typeface="Arial"/>
              </a:rPr>
              <a:t>.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Submitted</a:t>
            </a:r>
            <a:r>
              <a:rPr dirty="0" sz="1150" spc="5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 spc="50">
                <a:solidFill>
                  <a:srgbClr val="212121"/>
                </a:solidFill>
                <a:latin typeface="Arial"/>
                <a:cs typeface="Arial"/>
              </a:rPr>
              <a:t>by</a:t>
            </a:r>
            <a:r>
              <a:rPr dirty="0" sz="1150" spc="-10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Nikhil</a:t>
            </a:r>
            <a:r>
              <a:rPr dirty="0" sz="1150" spc="-10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Gowda</a:t>
            </a:r>
            <a:r>
              <a:rPr dirty="0" sz="1150" spc="3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HL(AMB2154</a:t>
            </a:r>
            <a:r>
              <a:rPr dirty="0" sz="1150">
                <a:solidFill>
                  <a:srgbClr val="5B5B5B"/>
                </a:solidFill>
                <a:latin typeface="Arial"/>
                <a:cs typeface="Arial"/>
              </a:rPr>
              <a:t>),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Nithin</a:t>
            </a:r>
            <a:r>
              <a:rPr dirty="0" sz="1150" spc="-11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212121"/>
                </a:solidFill>
                <a:latin typeface="Arial"/>
                <a:cs typeface="Arial"/>
              </a:rPr>
              <a:t>D(AMB2159)</a:t>
            </a:r>
            <a:r>
              <a:rPr dirty="0" sz="1150" spc="-10">
                <a:solidFill>
                  <a:srgbClr val="5B5B5B"/>
                </a:solidFill>
                <a:latin typeface="Arial"/>
                <a:cs typeface="Arial"/>
              </a:rPr>
              <a:t>,</a:t>
            </a:r>
            <a:r>
              <a:rPr dirty="0" sz="1150" spc="-10">
                <a:solidFill>
                  <a:srgbClr val="212121"/>
                </a:solidFill>
                <a:latin typeface="Arial"/>
                <a:cs typeface="Arial"/>
              </a:rPr>
              <a:t>Prajwal.R(AMB2175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students</a:t>
            </a:r>
            <a:r>
              <a:rPr dirty="0" sz="1150" spc="-1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of</a:t>
            </a:r>
            <a:r>
              <a:rPr dirty="0" sz="1150" spc="36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IVS.Sc.</a:t>
            </a:r>
            <a:r>
              <a:rPr dirty="0" sz="1150" spc="2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(Hons.)</a:t>
            </a:r>
            <a:r>
              <a:rPr dirty="0" sz="1150" spc="6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Agriculture,</a:t>
            </a:r>
            <a:r>
              <a:rPr dirty="0" sz="1150" spc="5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College of</a:t>
            </a:r>
            <a:r>
              <a:rPr dirty="0" sz="1150" spc="-2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Agriculture,</a:t>
            </a:r>
            <a:r>
              <a:rPr dirty="0" sz="1150" spc="10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GKVK</a:t>
            </a:r>
            <a:r>
              <a:rPr dirty="0" sz="1150">
                <a:solidFill>
                  <a:srgbClr val="6D6D6D"/>
                </a:solidFill>
                <a:latin typeface="Arial"/>
                <a:cs typeface="Arial"/>
              </a:rPr>
              <a:t>,</a:t>
            </a:r>
            <a:r>
              <a:rPr dirty="0" sz="1150" spc="-5">
                <a:solidFill>
                  <a:srgbClr val="6D6D6D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University</a:t>
            </a:r>
            <a:r>
              <a:rPr dirty="0" sz="1150" spc="7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 spc="-25">
                <a:solidFill>
                  <a:srgbClr val="343434"/>
                </a:solidFill>
                <a:latin typeface="Arial"/>
                <a:cs typeface="Arial"/>
              </a:rPr>
              <a:t>of</a:t>
            </a:r>
            <a:endParaRPr sz="1150">
              <a:latin typeface="Arial"/>
              <a:cs typeface="Arial"/>
            </a:endParaRPr>
          </a:p>
          <a:p>
            <a:pPr marL="15875" marR="893444">
              <a:lnSpc>
                <a:spcPct val="97600"/>
              </a:lnSpc>
            </a:pP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Agricultural</a:t>
            </a:r>
            <a:r>
              <a:rPr dirty="0" sz="1150" spc="7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Sciences,</a:t>
            </a:r>
            <a:r>
              <a:rPr dirty="0" sz="1150" spc="6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Bangalore-560065</a:t>
            </a:r>
            <a:r>
              <a:rPr dirty="0" sz="1150">
                <a:solidFill>
                  <a:srgbClr val="5B5B5B"/>
                </a:solidFill>
                <a:latin typeface="Arial"/>
                <a:cs typeface="Arial"/>
              </a:rPr>
              <a:t>,</a:t>
            </a:r>
            <a:r>
              <a:rPr dirty="0" sz="1150" spc="-40">
                <a:solidFill>
                  <a:srgbClr val="5B5B5B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is</a:t>
            </a:r>
            <a:r>
              <a:rPr dirty="0" sz="1150" spc="9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a</a:t>
            </a:r>
            <a:r>
              <a:rPr dirty="0" sz="1150" spc="6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bonafide</a:t>
            </a:r>
            <a:r>
              <a:rPr dirty="0" sz="1150" spc="4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record</a:t>
            </a:r>
            <a:r>
              <a:rPr dirty="0" sz="1150" spc="2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of</a:t>
            </a:r>
            <a:r>
              <a:rPr dirty="0" sz="1150" spc="7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the</a:t>
            </a:r>
            <a:r>
              <a:rPr dirty="0" sz="1150" spc="-4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project</a:t>
            </a:r>
            <a:r>
              <a:rPr dirty="0" sz="1150" spc="1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 spc="-20">
                <a:solidFill>
                  <a:srgbClr val="343434"/>
                </a:solidFill>
                <a:latin typeface="Arial"/>
                <a:cs typeface="Arial"/>
              </a:rPr>
              <a:t>work</a:t>
            </a:r>
            <a:r>
              <a:rPr dirty="0" sz="1150" spc="50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carried</a:t>
            </a:r>
            <a:r>
              <a:rPr dirty="0" sz="1150" spc="-4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out</a:t>
            </a:r>
            <a:r>
              <a:rPr dirty="0" sz="1150" spc="-1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 spc="50">
                <a:solidFill>
                  <a:srgbClr val="343434"/>
                </a:solidFill>
                <a:latin typeface="Arial"/>
                <a:cs typeface="Arial"/>
              </a:rPr>
              <a:t>by</a:t>
            </a:r>
            <a:r>
              <a:rPr dirty="0" sz="1150" spc="-4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the</a:t>
            </a:r>
            <a:r>
              <a:rPr dirty="0" sz="1150" spc="-3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student</a:t>
            </a:r>
            <a:r>
              <a:rPr dirty="0" sz="1150" spc="5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under</a:t>
            </a:r>
            <a:r>
              <a:rPr dirty="0" sz="1150" spc="8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our</a:t>
            </a:r>
            <a:r>
              <a:rPr dirty="0" sz="1150" spc="6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guidance</a:t>
            </a:r>
            <a:r>
              <a:rPr dirty="0" sz="1150" spc="2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and</a:t>
            </a:r>
            <a:r>
              <a:rPr dirty="0" sz="1150" spc="-1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supervision</a:t>
            </a:r>
            <a:r>
              <a:rPr dirty="0" sz="1150" spc="6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during</a:t>
            </a:r>
            <a:r>
              <a:rPr dirty="0" sz="1150" spc="7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the</a:t>
            </a:r>
            <a:r>
              <a:rPr dirty="0" sz="1150" spc="1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academic</a:t>
            </a:r>
            <a:r>
              <a:rPr dirty="0" sz="1150" spc="10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 spc="-20">
                <a:solidFill>
                  <a:srgbClr val="343434"/>
                </a:solidFill>
                <a:latin typeface="Arial"/>
                <a:cs typeface="Arial"/>
              </a:rPr>
              <a:t>year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2025-2026</a:t>
            </a:r>
            <a:r>
              <a:rPr dirty="0" sz="1150">
                <a:solidFill>
                  <a:srgbClr val="6D6D6D"/>
                </a:solidFill>
                <a:latin typeface="Arial"/>
                <a:cs typeface="Arial"/>
              </a:rPr>
              <a:t>,</a:t>
            </a:r>
            <a:r>
              <a:rPr dirty="0" sz="1150" spc="-40">
                <a:solidFill>
                  <a:srgbClr val="6D6D6D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in</a:t>
            </a:r>
            <a:r>
              <a:rPr dirty="0" sz="1150" spc="45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fulfilment</a:t>
            </a:r>
            <a:r>
              <a:rPr dirty="0" sz="1150" spc="7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of</a:t>
            </a:r>
            <a:r>
              <a:rPr dirty="0" sz="1150" spc="1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the</a:t>
            </a:r>
            <a:r>
              <a:rPr dirty="0" sz="1150" spc="-4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requirements</a:t>
            </a:r>
            <a:r>
              <a:rPr dirty="0" sz="1150" spc="8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for</a:t>
            </a:r>
            <a:r>
              <a:rPr dirty="0" sz="1150" spc="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the</a:t>
            </a:r>
            <a:r>
              <a:rPr dirty="0" sz="1150" spc="-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course</a:t>
            </a:r>
            <a:r>
              <a:rPr dirty="0" sz="1150" spc="1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EAl421</a:t>
            </a:r>
            <a:r>
              <a:rPr dirty="0" sz="1150" spc="3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-</a:t>
            </a:r>
            <a:r>
              <a:rPr dirty="0" sz="1150" spc="4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Application</a:t>
            </a:r>
            <a:r>
              <a:rPr dirty="0" sz="1150" spc="7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 spc="-25">
                <a:solidFill>
                  <a:srgbClr val="343434"/>
                </a:solidFill>
                <a:latin typeface="Arial"/>
                <a:cs typeface="Arial"/>
              </a:rPr>
              <a:t>of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Artificial</a:t>
            </a:r>
            <a:r>
              <a:rPr dirty="0" sz="1150" spc="-5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Intelligence</a:t>
            </a:r>
            <a:r>
              <a:rPr dirty="0" sz="1150" spc="18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and</a:t>
            </a:r>
            <a:r>
              <a:rPr dirty="0" sz="1150" spc="-8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Machine</a:t>
            </a:r>
            <a:r>
              <a:rPr dirty="0" sz="1150" spc="4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080808"/>
                </a:solidFill>
                <a:latin typeface="Arial"/>
                <a:cs typeface="Arial"/>
              </a:rPr>
              <a:t>L</a:t>
            </a:r>
            <a:r>
              <a:rPr dirty="0" sz="1150" spc="-10">
                <a:solidFill>
                  <a:srgbClr val="343434"/>
                </a:solidFill>
                <a:latin typeface="Arial"/>
                <a:cs typeface="Arial"/>
              </a:rPr>
              <a:t>earning</a:t>
            </a:r>
            <a:r>
              <a:rPr dirty="0" sz="1150" spc="-10">
                <a:solidFill>
                  <a:srgbClr val="5B5B5B"/>
                </a:solidFill>
                <a:latin typeface="Arial"/>
                <a:cs typeface="Arial"/>
              </a:rPr>
              <a:t>.</a:t>
            </a:r>
            <a:endParaRPr sz="1150">
              <a:latin typeface="Arial"/>
              <a:cs typeface="Arial"/>
            </a:endParaRPr>
          </a:p>
          <a:p>
            <a:pPr marL="17145" marR="1224915" indent="-5080">
              <a:lnSpc>
                <a:spcPts val="1300"/>
              </a:lnSpc>
              <a:spcBef>
                <a:spcPts val="1235"/>
              </a:spcBef>
            </a:pP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The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project</a:t>
            </a:r>
            <a:r>
              <a:rPr dirty="0" sz="1150" spc="7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work</a:t>
            </a:r>
            <a:r>
              <a:rPr dirty="0" sz="1150" spc="7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is</a:t>
            </a:r>
            <a:r>
              <a:rPr dirty="0" sz="1150" spc="5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original</a:t>
            </a:r>
            <a:r>
              <a:rPr dirty="0" sz="1150" spc="6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and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has</a:t>
            </a:r>
            <a:r>
              <a:rPr dirty="0" sz="1150" spc="-7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not</a:t>
            </a:r>
            <a:r>
              <a:rPr dirty="0" sz="1150" spc="4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been</a:t>
            </a:r>
            <a:r>
              <a:rPr dirty="0" sz="1150" spc="1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submitted</a:t>
            </a:r>
            <a:r>
              <a:rPr dirty="0" sz="1150" spc="5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earlier</a:t>
            </a:r>
            <a:r>
              <a:rPr dirty="0" sz="1150" spc="5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for</a:t>
            </a:r>
            <a:r>
              <a:rPr dirty="0" sz="1150" spc="1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the</a:t>
            </a:r>
            <a:r>
              <a:rPr dirty="0" sz="1150" spc="-3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award</a:t>
            </a:r>
            <a:r>
              <a:rPr dirty="0" sz="1150" spc="4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of</a:t>
            </a:r>
            <a:r>
              <a:rPr dirty="0" sz="1150" spc="1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 spc="-25">
                <a:solidFill>
                  <a:srgbClr val="343434"/>
                </a:solidFill>
                <a:latin typeface="Arial"/>
                <a:cs typeface="Arial"/>
              </a:rPr>
              <a:t>any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degree</a:t>
            </a:r>
            <a:r>
              <a:rPr dirty="0" sz="1150">
                <a:solidFill>
                  <a:srgbClr val="5B5B5B"/>
                </a:solidFill>
                <a:latin typeface="Arial"/>
                <a:cs typeface="Arial"/>
              </a:rPr>
              <a:t>,</a:t>
            </a:r>
            <a:r>
              <a:rPr dirty="0" sz="1150" spc="35">
                <a:solidFill>
                  <a:srgbClr val="5B5B5B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diploma</a:t>
            </a:r>
            <a:r>
              <a:rPr dirty="0" sz="1150" spc="8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or</a:t>
            </a:r>
            <a:r>
              <a:rPr dirty="0" sz="1150" spc="-3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for</a:t>
            </a:r>
            <a:r>
              <a:rPr dirty="0" sz="1150" spc="-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any</a:t>
            </a:r>
            <a:r>
              <a:rPr dirty="0" sz="1150" spc="3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other</a:t>
            </a:r>
            <a:r>
              <a:rPr dirty="0" sz="1150" spc="3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similar</a:t>
            </a:r>
            <a:r>
              <a:rPr dirty="0" sz="1150" spc="6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title</a:t>
            </a:r>
            <a:r>
              <a:rPr dirty="0" sz="1150" spc="7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to</a:t>
            </a:r>
            <a:r>
              <a:rPr dirty="0" sz="1150" spc="-4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any</a:t>
            </a:r>
            <a:r>
              <a:rPr dirty="0" sz="1150" spc="-2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university</a:t>
            </a:r>
            <a:r>
              <a:rPr dirty="0" sz="1150" spc="8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or</a:t>
            </a:r>
            <a:r>
              <a:rPr dirty="0" sz="1150" spc="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212121"/>
                </a:solidFill>
                <a:latin typeface="Arial"/>
                <a:cs typeface="Arial"/>
              </a:rPr>
              <a:t>institution.</a:t>
            </a:r>
            <a:endParaRPr sz="11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3209" y="3647541"/>
            <a:ext cx="1844675" cy="595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080808"/>
                </a:solidFill>
                <a:latin typeface="Arial"/>
                <a:cs typeface="Arial"/>
              </a:rPr>
              <a:t>Course</a:t>
            </a:r>
            <a:r>
              <a:rPr dirty="0" sz="1050" spc="-15" b="1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080808"/>
                </a:solidFill>
                <a:latin typeface="Arial"/>
                <a:cs typeface="Arial"/>
              </a:rPr>
              <a:t>Teacher</a:t>
            </a:r>
            <a:r>
              <a:rPr dirty="0" sz="1050" spc="-5" b="1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1050" b="1" i="1">
                <a:solidFill>
                  <a:srgbClr val="343434"/>
                </a:solidFill>
                <a:latin typeface="Arial"/>
                <a:cs typeface="Arial"/>
              </a:rPr>
              <a:t>I</a:t>
            </a:r>
            <a:r>
              <a:rPr dirty="0" sz="1050" spc="130" b="1" i="1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080808"/>
                </a:solidFill>
                <a:latin typeface="Arial"/>
                <a:cs typeface="Arial"/>
              </a:rPr>
              <a:t>Guide</a:t>
            </a:r>
            <a:endParaRPr sz="1050">
              <a:latin typeface="Arial"/>
              <a:cs typeface="Arial"/>
            </a:endParaRPr>
          </a:p>
          <a:p>
            <a:pPr marL="12700" marR="5080" indent="2540">
              <a:lnSpc>
                <a:spcPts val="1200"/>
              </a:lnSpc>
              <a:spcBef>
                <a:spcPts val="850"/>
              </a:spcBef>
            </a:pPr>
            <a:r>
              <a:rPr dirty="0" sz="1050">
                <a:solidFill>
                  <a:srgbClr val="343434"/>
                </a:solidFill>
                <a:latin typeface="Arial"/>
                <a:cs typeface="Arial"/>
              </a:rPr>
              <a:t>Dept.</a:t>
            </a:r>
            <a:r>
              <a:rPr dirty="0" sz="1050" spc="-12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43434"/>
                </a:solidFill>
                <a:latin typeface="Arial"/>
                <a:cs typeface="Arial"/>
              </a:rPr>
              <a:t>of</a:t>
            </a:r>
            <a:r>
              <a:rPr dirty="0" sz="1050" spc="8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43434"/>
                </a:solidFill>
                <a:latin typeface="Arial"/>
                <a:cs typeface="Arial"/>
              </a:rPr>
              <a:t>Agricultural</a:t>
            </a:r>
            <a:r>
              <a:rPr dirty="0" sz="1050" spc="7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43434"/>
                </a:solidFill>
                <a:latin typeface="Arial"/>
                <a:cs typeface="Arial"/>
              </a:rPr>
              <a:t>Statistics, </a:t>
            </a:r>
            <a:r>
              <a:rPr dirty="0" sz="1050">
                <a:solidFill>
                  <a:srgbClr val="343434"/>
                </a:solidFill>
                <a:latin typeface="Arial"/>
                <a:cs typeface="Arial"/>
              </a:rPr>
              <a:t>GOA,</a:t>
            </a:r>
            <a:r>
              <a:rPr dirty="0" sz="1050" spc="-2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43434"/>
                </a:solidFill>
                <a:latin typeface="Arial"/>
                <a:cs typeface="Arial"/>
              </a:rPr>
              <a:t>GKVK,</a:t>
            </a:r>
            <a:r>
              <a:rPr dirty="0" sz="1050" spc="3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12121"/>
                </a:solidFill>
                <a:latin typeface="Arial"/>
                <a:cs typeface="Arial"/>
              </a:rPr>
              <a:t>Bangalore-</a:t>
            </a:r>
            <a:r>
              <a:rPr dirty="0" sz="1050" spc="-25">
                <a:solidFill>
                  <a:srgbClr val="212121"/>
                </a:solidFill>
                <a:latin typeface="Arial"/>
                <a:cs typeface="Arial"/>
              </a:rPr>
              <a:t>65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69193" y="3647541"/>
            <a:ext cx="1847850" cy="595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080808"/>
                </a:solidFill>
                <a:latin typeface="Arial"/>
                <a:cs typeface="Arial"/>
              </a:rPr>
              <a:t>Head</a:t>
            </a:r>
            <a:r>
              <a:rPr dirty="0" sz="1050" spc="70" b="1">
                <a:solidFill>
                  <a:srgbClr val="080808"/>
                </a:solidFill>
                <a:latin typeface="Arial"/>
                <a:cs typeface="Arial"/>
              </a:rPr>
              <a:t> </a:t>
            </a:r>
            <a:r>
              <a:rPr dirty="0" sz="1050" b="1">
                <a:solidFill>
                  <a:srgbClr val="212121"/>
                </a:solidFill>
                <a:latin typeface="Arial"/>
                <a:cs typeface="Arial"/>
              </a:rPr>
              <a:t>of</a:t>
            </a:r>
            <a:r>
              <a:rPr dirty="0" sz="1050" spc="-10" b="1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050" spc="-10" b="1">
                <a:solidFill>
                  <a:srgbClr val="080808"/>
                </a:solidFill>
                <a:latin typeface="Arial"/>
                <a:cs typeface="Arial"/>
              </a:rPr>
              <a:t>Department</a:t>
            </a:r>
            <a:endParaRPr sz="1050">
              <a:latin typeface="Arial"/>
              <a:cs typeface="Arial"/>
            </a:endParaRPr>
          </a:p>
          <a:p>
            <a:pPr marL="15875" marR="5080" indent="-3810">
              <a:lnSpc>
                <a:spcPts val="1200"/>
              </a:lnSpc>
              <a:spcBef>
                <a:spcPts val="850"/>
              </a:spcBef>
            </a:pPr>
            <a:r>
              <a:rPr dirty="0" sz="1050">
                <a:solidFill>
                  <a:srgbClr val="343434"/>
                </a:solidFill>
                <a:latin typeface="Arial"/>
                <a:cs typeface="Arial"/>
              </a:rPr>
              <a:t>Dept.</a:t>
            </a:r>
            <a:r>
              <a:rPr dirty="0" sz="1050" spc="1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43434"/>
                </a:solidFill>
                <a:latin typeface="Arial"/>
                <a:cs typeface="Arial"/>
              </a:rPr>
              <a:t>of</a:t>
            </a:r>
            <a:r>
              <a:rPr dirty="0" sz="1050" spc="4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43434"/>
                </a:solidFill>
                <a:latin typeface="Arial"/>
                <a:cs typeface="Arial"/>
              </a:rPr>
              <a:t>Agricultural</a:t>
            </a:r>
            <a:r>
              <a:rPr dirty="0" sz="1050" spc="2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343434"/>
                </a:solidFill>
                <a:latin typeface="Arial"/>
                <a:cs typeface="Arial"/>
              </a:rPr>
              <a:t>Statistics, </a:t>
            </a:r>
            <a:r>
              <a:rPr dirty="0" sz="1050">
                <a:solidFill>
                  <a:srgbClr val="343434"/>
                </a:solidFill>
                <a:latin typeface="Arial"/>
                <a:cs typeface="Arial"/>
              </a:rPr>
              <a:t>GOA,</a:t>
            </a:r>
            <a:r>
              <a:rPr dirty="0" sz="1050" spc="3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343434"/>
                </a:solidFill>
                <a:latin typeface="Arial"/>
                <a:cs typeface="Arial"/>
              </a:rPr>
              <a:t>GKVK,</a:t>
            </a:r>
            <a:r>
              <a:rPr dirty="0" sz="1050" spc="-2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12121"/>
                </a:solidFill>
                <a:latin typeface="Arial"/>
                <a:cs typeface="Arial"/>
              </a:rPr>
              <a:t>Bangalore-</a:t>
            </a:r>
            <a:r>
              <a:rPr dirty="0" sz="1050" spc="-25">
                <a:solidFill>
                  <a:srgbClr val="212121"/>
                </a:solidFill>
                <a:latin typeface="Arial"/>
                <a:cs typeface="Arial"/>
              </a:rPr>
              <a:t>65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0629" y="1285501"/>
            <a:ext cx="5982970" cy="4438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128270">
              <a:lnSpc>
                <a:spcPct val="100000"/>
              </a:lnSpc>
              <a:spcBef>
                <a:spcPts val="105"/>
              </a:spcBef>
            </a:pPr>
            <a:r>
              <a:rPr dirty="0" sz="1700" spc="-10" b="1">
                <a:solidFill>
                  <a:srgbClr val="243657"/>
                </a:solidFill>
                <a:latin typeface="Arial"/>
                <a:cs typeface="Arial"/>
              </a:rPr>
              <a:t>ACKNOWLEDGEMENT</a:t>
            </a:r>
            <a:endParaRPr sz="1700">
              <a:latin typeface="Arial"/>
              <a:cs typeface="Arial"/>
            </a:endParaRPr>
          </a:p>
          <a:p>
            <a:pPr marL="15875" marR="108585" indent="-2540">
              <a:lnSpc>
                <a:spcPts val="1350"/>
              </a:lnSpc>
              <a:spcBef>
                <a:spcPts val="1030"/>
              </a:spcBef>
            </a:pPr>
            <a:r>
              <a:rPr dirty="0" sz="1150" spc="65">
                <a:solidFill>
                  <a:srgbClr val="333333"/>
                </a:solidFill>
                <a:latin typeface="Arial"/>
                <a:cs typeface="Arial"/>
              </a:rPr>
              <a:t>We</a:t>
            </a:r>
            <a:r>
              <a:rPr dirty="0" sz="1150" spc="35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would</a:t>
            </a:r>
            <a:r>
              <a:rPr dirty="0" sz="1150" spc="3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like</a:t>
            </a:r>
            <a:r>
              <a:rPr dirty="0" sz="1150" spc="-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dirty="0" sz="1150" spc="-6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express</a:t>
            </a:r>
            <a:r>
              <a:rPr dirty="0" sz="1150" spc="6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our</a:t>
            </a:r>
            <a:r>
              <a:rPr dirty="0" sz="1150" spc="5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sincere gratitude</a:t>
            </a:r>
            <a:r>
              <a:rPr dirty="0" sz="1150" spc="4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to</a:t>
            </a:r>
            <a:r>
              <a:rPr dirty="0" sz="1150" spc="-3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the course</a:t>
            </a:r>
            <a:r>
              <a:rPr dirty="0" sz="1150" spc="4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teacher</a:t>
            </a:r>
            <a:r>
              <a:rPr dirty="0" sz="1150" spc="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of</a:t>
            </a:r>
            <a:r>
              <a:rPr dirty="0" sz="1150" spc="12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EAl421</a:t>
            </a:r>
            <a:r>
              <a:rPr dirty="0" sz="1150" spc="2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 spc="-50">
                <a:solidFill>
                  <a:srgbClr val="0E0E0E"/>
                </a:solidFill>
                <a:latin typeface="Arial"/>
                <a:cs typeface="Arial"/>
              </a:rPr>
              <a:t>-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Application</a:t>
            </a:r>
            <a:r>
              <a:rPr dirty="0" sz="1150" spc="9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of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Artificial</a:t>
            </a:r>
            <a:r>
              <a:rPr dirty="0" sz="1150" spc="2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0E0E0E"/>
                </a:solidFill>
                <a:latin typeface="Arial"/>
                <a:cs typeface="Arial"/>
              </a:rPr>
              <a:t>Intelligence</a:t>
            </a:r>
            <a:r>
              <a:rPr dirty="0" sz="1150" spc="16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and</a:t>
            </a:r>
            <a:r>
              <a:rPr dirty="0" sz="1150" spc="-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Machine</a:t>
            </a:r>
            <a:r>
              <a:rPr dirty="0" sz="1150" spc="3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Learning</a:t>
            </a:r>
            <a:r>
              <a:rPr dirty="0" sz="1150">
                <a:solidFill>
                  <a:srgbClr val="626262"/>
                </a:solidFill>
                <a:latin typeface="Arial"/>
                <a:cs typeface="Arial"/>
              </a:rPr>
              <a:t>,</a:t>
            </a:r>
            <a:r>
              <a:rPr dirty="0" sz="1150" spc="1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College</a:t>
            </a:r>
            <a:r>
              <a:rPr dirty="0" sz="1150" spc="8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of</a:t>
            </a:r>
            <a:r>
              <a:rPr dirty="0" sz="1150" spc="14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Agricultu</a:t>
            </a:r>
            <a:r>
              <a:rPr dirty="0" sz="1150">
                <a:solidFill>
                  <a:srgbClr val="0E0E0E"/>
                </a:solidFill>
                <a:latin typeface="Arial"/>
                <a:cs typeface="Arial"/>
              </a:rPr>
              <a:t>r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e</a:t>
            </a:r>
            <a:r>
              <a:rPr dirty="0" sz="1150">
                <a:solidFill>
                  <a:srgbClr val="626262"/>
                </a:solidFill>
                <a:latin typeface="Arial"/>
                <a:cs typeface="Arial"/>
              </a:rPr>
              <a:t>, </a:t>
            </a:r>
            <a:r>
              <a:rPr dirty="0" sz="1150" spc="-10">
                <a:solidFill>
                  <a:srgbClr val="212121"/>
                </a:solidFill>
                <a:latin typeface="Arial"/>
                <a:cs typeface="Arial"/>
              </a:rPr>
              <a:t>GKVK</a:t>
            </a:r>
            <a:r>
              <a:rPr dirty="0" sz="1150" spc="-10">
                <a:solidFill>
                  <a:srgbClr val="626262"/>
                </a:solidFill>
                <a:latin typeface="Arial"/>
                <a:cs typeface="Arial"/>
              </a:rPr>
              <a:t>,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University</a:t>
            </a:r>
            <a:r>
              <a:rPr dirty="0" sz="1150" spc="10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of</a:t>
            </a:r>
            <a:r>
              <a:rPr dirty="0" sz="1150" spc="6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Agricultural</a:t>
            </a:r>
            <a:r>
              <a:rPr dirty="0" sz="1150" spc="10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Sciences</a:t>
            </a:r>
            <a:r>
              <a:rPr dirty="0" sz="1150">
                <a:solidFill>
                  <a:srgbClr val="626262"/>
                </a:solidFill>
                <a:latin typeface="Arial"/>
                <a:cs typeface="Arial"/>
              </a:rPr>
              <a:t>,</a:t>
            </a:r>
            <a:r>
              <a:rPr dirty="0" sz="1150" spc="-25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Bangalore,</a:t>
            </a:r>
            <a:r>
              <a:rPr dirty="0" sz="1150" spc="8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for</a:t>
            </a:r>
            <a:r>
              <a:rPr dirty="0" sz="1150" spc="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the</a:t>
            </a:r>
            <a:r>
              <a:rPr dirty="0" sz="1150" spc="1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constant</a:t>
            </a:r>
            <a:r>
              <a:rPr dirty="0" sz="1150" spc="4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guidance</a:t>
            </a:r>
            <a:r>
              <a:rPr dirty="0" sz="1150">
                <a:solidFill>
                  <a:srgbClr val="626262"/>
                </a:solidFill>
                <a:latin typeface="Arial"/>
                <a:cs typeface="Arial"/>
              </a:rPr>
              <a:t>,</a:t>
            </a:r>
            <a:r>
              <a:rPr dirty="0" sz="1150" spc="-3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support</a:t>
            </a:r>
            <a:r>
              <a:rPr dirty="0" sz="1150">
                <a:solidFill>
                  <a:srgbClr val="626262"/>
                </a:solidFill>
                <a:latin typeface="Arial"/>
                <a:cs typeface="Arial"/>
              </a:rPr>
              <a:t>,</a:t>
            </a:r>
            <a:r>
              <a:rPr dirty="0" sz="1150" spc="-35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150" spc="-25">
                <a:solidFill>
                  <a:srgbClr val="333333"/>
                </a:solidFill>
                <a:latin typeface="Arial"/>
                <a:cs typeface="Arial"/>
              </a:rPr>
              <a:t>and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encouragement</a:t>
            </a:r>
            <a:r>
              <a:rPr dirty="0" sz="1150" spc="8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throughout</a:t>
            </a:r>
            <a:r>
              <a:rPr dirty="0" sz="1150" spc="3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dirty="0" sz="1150" spc="-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course</a:t>
            </a:r>
            <a:r>
              <a:rPr dirty="0" sz="1150" spc="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of</a:t>
            </a:r>
            <a:r>
              <a:rPr dirty="0" sz="1150" spc="6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this</a:t>
            </a:r>
            <a:r>
              <a:rPr dirty="0" sz="1150" spc="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33333"/>
                </a:solidFill>
                <a:latin typeface="Arial"/>
                <a:cs typeface="Arial"/>
              </a:rPr>
              <a:t>project.</a:t>
            </a:r>
            <a:endParaRPr sz="1150">
              <a:latin typeface="Arial"/>
              <a:cs typeface="Arial"/>
            </a:endParaRPr>
          </a:p>
          <a:p>
            <a:pPr algn="just" marL="12700" marR="363855" indent="1270">
              <a:lnSpc>
                <a:spcPct val="95900"/>
              </a:lnSpc>
              <a:spcBef>
                <a:spcPts val="555"/>
              </a:spcBef>
            </a:pPr>
            <a:r>
              <a:rPr dirty="0" sz="1150" spc="25">
                <a:solidFill>
                  <a:srgbClr val="333333"/>
                </a:solidFill>
                <a:latin typeface="Arial"/>
                <a:cs typeface="Arial"/>
              </a:rPr>
              <a:t>We</a:t>
            </a:r>
            <a:r>
              <a:rPr dirty="0" sz="1150" spc="-8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are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deeply</a:t>
            </a:r>
            <a:r>
              <a:rPr dirty="0" sz="1150" spc="2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thankful</a:t>
            </a:r>
            <a:r>
              <a:rPr dirty="0" sz="1150" spc="7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dirty="0" sz="1150" spc="4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the</a:t>
            </a:r>
            <a:r>
              <a:rPr dirty="0" sz="1150" spc="-4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Head</a:t>
            </a:r>
            <a:r>
              <a:rPr dirty="0" sz="1150" spc="2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of</a:t>
            </a:r>
            <a:r>
              <a:rPr dirty="0" sz="1150" spc="8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the</a:t>
            </a:r>
            <a:r>
              <a:rPr dirty="0" sz="1150" spc="1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Department</a:t>
            </a:r>
            <a:r>
              <a:rPr dirty="0" sz="1150" spc="15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and</a:t>
            </a:r>
            <a:r>
              <a:rPr dirty="0" sz="1150" spc="-2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all</a:t>
            </a:r>
            <a:r>
              <a:rPr dirty="0" sz="1150" spc="-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the</a:t>
            </a:r>
            <a:r>
              <a:rPr dirty="0" sz="1150" spc="-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faculty</a:t>
            </a:r>
            <a:r>
              <a:rPr dirty="0" sz="1150" spc="6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members</a:t>
            </a:r>
            <a:r>
              <a:rPr dirty="0" sz="1150" spc="9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 spc="-25">
                <a:solidFill>
                  <a:srgbClr val="333333"/>
                </a:solidFill>
                <a:latin typeface="Arial"/>
                <a:cs typeface="Arial"/>
              </a:rPr>
              <a:t>of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the</a:t>
            </a:r>
            <a:r>
              <a:rPr dirty="0" sz="1150" spc="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Department</a:t>
            </a:r>
            <a:r>
              <a:rPr dirty="0" sz="1150" spc="15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of</a:t>
            </a:r>
            <a:r>
              <a:rPr dirty="0" sz="1150" spc="-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Agricultural</a:t>
            </a:r>
            <a:r>
              <a:rPr dirty="0" sz="1150" spc="9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Statistics</a:t>
            </a:r>
            <a:r>
              <a:rPr dirty="0" sz="1150" spc="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dirty="0" sz="1150" spc="-5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Computer</a:t>
            </a:r>
            <a:r>
              <a:rPr dirty="0" sz="1150" spc="9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Applications</a:t>
            </a:r>
            <a:r>
              <a:rPr dirty="0" sz="1150" spc="9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for</a:t>
            </a:r>
            <a:r>
              <a:rPr dirty="0" sz="1150" spc="-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providing</a:t>
            </a:r>
            <a:r>
              <a:rPr dirty="0" sz="1150" spc="4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 spc="-25">
                <a:solidFill>
                  <a:srgbClr val="333333"/>
                </a:solidFill>
                <a:latin typeface="Arial"/>
                <a:cs typeface="Arial"/>
              </a:rPr>
              <a:t>the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necessary</a:t>
            </a:r>
            <a:r>
              <a:rPr dirty="0" sz="1150" spc="11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facilities</a:t>
            </a:r>
            <a:r>
              <a:rPr dirty="0" sz="1150" spc="7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dirty="0" sz="1150" spc="-7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academic</a:t>
            </a:r>
            <a:r>
              <a:rPr dirty="0" sz="1150" spc="7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environment</a:t>
            </a:r>
            <a:r>
              <a:rPr dirty="0" sz="1150" spc="204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that</a:t>
            </a:r>
            <a:r>
              <a:rPr dirty="0" sz="1150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made</a:t>
            </a:r>
            <a:r>
              <a:rPr dirty="0" sz="1150" spc="1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this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project</a:t>
            </a:r>
            <a:r>
              <a:rPr dirty="0" sz="1150" spc="1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33333"/>
                </a:solidFill>
                <a:latin typeface="Arial"/>
                <a:cs typeface="Arial"/>
              </a:rPr>
              <a:t>possible.</a:t>
            </a:r>
            <a:endParaRPr sz="1150">
              <a:latin typeface="Arial"/>
              <a:cs typeface="Arial"/>
            </a:endParaRPr>
          </a:p>
          <a:p>
            <a:pPr marL="15875" marR="382905" indent="-2540">
              <a:lnSpc>
                <a:spcPct val="97600"/>
              </a:lnSpc>
              <a:spcBef>
                <a:spcPts val="625"/>
              </a:spcBef>
            </a:pPr>
            <a:r>
              <a:rPr dirty="0" sz="1150" spc="65">
                <a:solidFill>
                  <a:srgbClr val="333333"/>
                </a:solidFill>
                <a:latin typeface="Arial"/>
                <a:cs typeface="Arial"/>
              </a:rPr>
              <a:t>We</a:t>
            </a:r>
            <a:r>
              <a:rPr dirty="0" sz="1150" spc="28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also</a:t>
            </a:r>
            <a:r>
              <a:rPr dirty="0" sz="1150" spc="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extend</a:t>
            </a:r>
            <a:r>
              <a:rPr dirty="0" sz="1150" spc="2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our</a:t>
            </a:r>
            <a:r>
              <a:rPr dirty="0" sz="1150" spc="-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appreciation</a:t>
            </a:r>
            <a:r>
              <a:rPr dirty="0" sz="1150" spc="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dirty="0" sz="1150" spc="4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 spc="50">
                <a:solidFill>
                  <a:srgbClr val="212121"/>
                </a:solidFill>
                <a:latin typeface="Arial"/>
                <a:cs typeface="Arial"/>
              </a:rPr>
              <a:t>my</a:t>
            </a:r>
            <a:r>
              <a:rPr dirty="0" sz="1150" spc="-1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classmates</a:t>
            </a:r>
            <a:r>
              <a:rPr dirty="0" sz="1150" spc="8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dirty="0" sz="1150" spc="-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fellow</a:t>
            </a:r>
            <a:r>
              <a:rPr dirty="0" sz="1150" spc="4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students</a:t>
            </a:r>
            <a:r>
              <a:rPr dirty="0" sz="1150" spc="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for</a:t>
            </a:r>
            <a:r>
              <a:rPr dirty="0" sz="1150" spc="-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212121"/>
                </a:solidFill>
                <a:latin typeface="Arial"/>
                <a:cs typeface="Arial"/>
              </a:rPr>
              <a:t>their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cooperation</a:t>
            </a:r>
            <a:r>
              <a:rPr dirty="0" sz="1150" spc="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dirty="0" sz="1150" spc="-2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exchange</a:t>
            </a:r>
            <a:r>
              <a:rPr dirty="0" sz="1150" spc="6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of</a:t>
            </a:r>
            <a:r>
              <a:rPr dirty="0" sz="115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ideas</a:t>
            </a:r>
            <a:r>
              <a:rPr dirty="0" sz="1150" spc="7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during</a:t>
            </a:r>
            <a:r>
              <a:rPr dirty="0" sz="1150" spc="8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the</a:t>
            </a:r>
            <a:r>
              <a:rPr dirty="0" sz="1150" spc="-2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project</a:t>
            </a:r>
            <a:r>
              <a:rPr dirty="0" sz="1150" spc="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period.</a:t>
            </a:r>
            <a:r>
              <a:rPr dirty="0" sz="1150" spc="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The</a:t>
            </a:r>
            <a:r>
              <a:rPr dirty="0" sz="1150" spc="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learning</a:t>
            </a:r>
            <a:r>
              <a:rPr dirty="0" sz="1150" spc="8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from</a:t>
            </a:r>
            <a:r>
              <a:rPr dirty="0" sz="1150" spc="2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 spc="-20">
                <a:solidFill>
                  <a:srgbClr val="333333"/>
                </a:solidFill>
                <a:latin typeface="Arial"/>
                <a:cs typeface="Arial"/>
              </a:rPr>
              <a:t>each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discussion</a:t>
            </a:r>
            <a:r>
              <a:rPr dirty="0" sz="1150" spc="8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session</a:t>
            </a:r>
            <a:r>
              <a:rPr dirty="0" sz="1150" spc="-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 spc="55">
                <a:solidFill>
                  <a:srgbClr val="333333"/>
                </a:solidFill>
                <a:latin typeface="Arial"/>
                <a:cs typeface="Arial"/>
              </a:rPr>
              <a:t>has</a:t>
            </a:r>
            <a:r>
              <a:rPr dirty="0" sz="1150" spc="-10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been</a:t>
            </a:r>
            <a:r>
              <a:rPr dirty="0" sz="1150" spc="-6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212121"/>
                </a:solidFill>
                <a:latin typeface="Arial"/>
                <a:cs typeface="Arial"/>
              </a:rPr>
              <a:t>invaluable.</a:t>
            </a:r>
            <a:endParaRPr sz="1150">
              <a:latin typeface="Arial"/>
              <a:cs typeface="Arial"/>
            </a:endParaRPr>
          </a:p>
          <a:p>
            <a:pPr algn="just" marL="12700" marR="370205" indent="3175">
              <a:lnSpc>
                <a:spcPct val="99400"/>
              </a:lnSpc>
              <a:spcBef>
                <a:spcPts val="505"/>
              </a:spcBef>
            </a:pP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Finally</a:t>
            </a:r>
            <a:r>
              <a:rPr dirty="0" sz="1150">
                <a:solidFill>
                  <a:srgbClr val="626262"/>
                </a:solidFill>
                <a:latin typeface="Arial"/>
                <a:cs typeface="Arial"/>
              </a:rPr>
              <a:t>,</a:t>
            </a:r>
            <a:r>
              <a:rPr dirty="0" sz="1150" spc="2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we</a:t>
            </a:r>
            <a:r>
              <a:rPr dirty="0" sz="1150" spc="-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express</a:t>
            </a:r>
            <a:r>
              <a:rPr dirty="0" sz="1150" spc="8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our</a:t>
            </a:r>
            <a:r>
              <a:rPr dirty="0" sz="115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heartfelt</a:t>
            </a:r>
            <a:r>
              <a:rPr dirty="0" sz="1150" spc="10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gratitude</a:t>
            </a:r>
            <a:r>
              <a:rPr dirty="0" sz="1150" spc="13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dirty="0" sz="1150" spc="-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our</a:t>
            </a:r>
            <a:r>
              <a:rPr dirty="0" sz="1150" spc="4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parents</a:t>
            </a:r>
            <a:r>
              <a:rPr dirty="0" sz="1150" spc="2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dirty="0" sz="1150" spc="-4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family</a:t>
            </a:r>
            <a:r>
              <a:rPr dirty="0" sz="1150" spc="7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members</a:t>
            </a:r>
            <a:r>
              <a:rPr dirty="0" sz="1150" spc="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33333"/>
                </a:solidFill>
                <a:latin typeface="Arial"/>
                <a:cs typeface="Arial"/>
              </a:rPr>
              <a:t>whose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unwavering</a:t>
            </a:r>
            <a:r>
              <a:rPr dirty="0" sz="1150" spc="14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support</a:t>
            </a:r>
            <a:r>
              <a:rPr dirty="0" sz="1150" spc="5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and</a:t>
            </a:r>
            <a:r>
              <a:rPr dirty="0" sz="115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encouragement</a:t>
            </a:r>
            <a:r>
              <a:rPr dirty="0" sz="1150" spc="11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kept</a:t>
            </a:r>
            <a:r>
              <a:rPr dirty="0" sz="1150" spc="-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us</a:t>
            </a:r>
            <a:r>
              <a:rPr dirty="0" sz="1150" spc="38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motivated</a:t>
            </a:r>
            <a:r>
              <a:rPr dirty="0" sz="1150" spc="4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throughout</a:t>
            </a:r>
            <a:r>
              <a:rPr dirty="0" sz="1150" spc="4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the</a:t>
            </a:r>
            <a:r>
              <a:rPr dirty="0" sz="1150" spc="-5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33333"/>
                </a:solidFill>
                <a:latin typeface="Arial"/>
                <a:cs typeface="Arial"/>
              </a:rPr>
              <a:t>academic </a:t>
            </a:r>
            <a:r>
              <a:rPr dirty="0" sz="1150" spc="-20">
                <a:solidFill>
                  <a:srgbClr val="333333"/>
                </a:solidFill>
                <a:latin typeface="Arial"/>
                <a:cs typeface="Arial"/>
              </a:rPr>
              <a:t>year</a:t>
            </a: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150">
              <a:latin typeface="Arial"/>
              <a:cs typeface="Arial"/>
            </a:endParaRPr>
          </a:p>
          <a:p>
            <a:pPr marL="4848860" marR="5080" indent="5715">
              <a:lnSpc>
                <a:spcPct val="137700"/>
              </a:lnSpc>
            </a:pP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Nikhil</a:t>
            </a:r>
            <a:r>
              <a:rPr dirty="0" sz="1150" spc="-25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Gowda</a:t>
            </a:r>
            <a:r>
              <a:rPr dirty="0" sz="1150" spc="5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 spc="35">
                <a:solidFill>
                  <a:srgbClr val="0E0E0E"/>
                </a:solidFill>
                <a:latin typeface="Arial"/>
                <a:cs typeface="Arial"/>
              </a:rPr>
              <a:t>HL </a:t>
            </a:r>
            <a:r>
              <a:rPr dirty="0" sz="1150" spc="-10">
                <a:solidFill>
                  <a:srgbClr val="212121"/>
                </a:solidFill>
                <a:latin typeface="Arial"/>
                <a:cs typeface="Arial"/>
              </a:rPr>
              <a:t>Nithin.D PRAJWAL.R</a:t>
            </a:r>
            <a:endParaRPr sz="1150">
              <a:latin typeface="Arial"/>
              <a:cs typeface="Arial"/>
            </a:endParaRPr>
          </a:p>
          <a:p>
            <a:pPr algn="r" marL="4020820" marR="163195" indent="18415">
              <a:lnSpc>
                <a:spcPct val="143000"/>
              </a:lnSpc>
            </a:pP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IV</a:t>
            </a:r>
            <a:r>
              <a:rPr dirty="0" sz="1150" spc="-14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212121"/>
                </a:solidFill>
                <a:latin typeface="Arial"/>
                <a:cs typeface="Arial"/>
              </a:rPr>
              <a:t>B.Sc.(Hons.)Agriculture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GOA</a:t>
            </a:r>
            <a:r>
              <a:rPr dirty="0" sz="1150">
                <a:solidFill>
                  <a:srgbClr val="626262"/>
                </a:solidFill>
                <a:latin typeface="Arial"/>
                <a:cs typeface="Arial"/>
              </a:rPr>
              <a:t>,</a:t>
            </a:r>
            <a:r>
              <a:rPr dirty="0" sz="1150" spc="-55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33333"/>
                </a:solidFill>
                <a:latin typeface="Arial"/>
                <a:cs typeface="Arial"/>
              </a:rPr>
              <a:t>GKVK</a:t>
            </a:r>
            <a:r>
              <a:rPr dirty="0" sz="1150">
                <a:solidFill>
                  <a:srgbClr val="626262"/>
                </a:solidFill>
                <a:latin typeface="Arial"/>
                <a:cs typeface="Arial"/>
              </a:rPr>
              <a:t>,</a:t>
            </a:r>
            <a:r>
              <a:rPr dirty="0" sz="1150" spc="45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212121"/>
                </a:solidFill>
                <a:latin typeface="Arial"/>
                <a:cs typeface="Arial"/>
              </a:rPr>
              <a:t>Bangalore-</a:t>
            </a:r>
            <a:r>
              <a:rPr dirty="0" sz="1150" spc="-25">
                <a:solidFill>
                  <a:srgbClr val="212121"/>
                </a:solidFill>
                <a:latin typeface="Arial"/>
                <a:cs typeface="Arial"/>
              </a:rPr>
              <a:t>65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71831" y="2025913"/>
            <a:ext cx="110680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263656"/>
                </a:solidFill>
                <a:latin typeface="Arial"/>
                <a:cs typeface="Arial"/>
              </a:rPr>
              <a:t>ABSTRACT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9400" y="3116418"/>
            <a:ext cx="6863080" cy="1405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4">
              <a:lnSpc>
                <a:spcPts val="1050"/>
              </a:lnSpc>
              <a:spcBef>
                <a:spcPts val="100"/>
              </a:spcBef>
            </a:pP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Climate</a:t>
            </a:r>
            <a:r>
              <a:rPr dirty="0" sz="950" spc="7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change</a:t>
            </a:r>
            <a:r>
              <a:rPr dirty="0" sz="950" spc="1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poses</a:t>
            </a:r>
            <a:r>
              <a:rPr dirty="0" sz="950" spc="6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dirty="0" sz="950" spc="114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critical</a:t>
            </a:r>
            <a:r>
              <a:rPr dirty="0" sz="950" spc="-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and imminent</a:t>
            </a:r>
            <a:r>
              <a:rPr dirty="0" sz="950" spc="114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threat</a:t>
            </a:r>
            <a:r>
              <a:rPr dirty="0" sz="950" spc="-2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to</a:t>
            </a:r>
            <a:r>
              <a:rPr dirty="0" sz="950" spc="16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ecosystems</a:t>
            </a:r>
            <a:r>
              <a:rPr dirty="0" sz="950">
                <a:solidFill>
                  <a:srgbClr val="777777"/>
                </a:solidFill>
                <a:latin typeface="Arial"/>
                <a:cs typeface="Arial"/>
              </a:rPr>
              <a:t>,</a:t>
            </a:r>
            <a:r>
              <a:rPr dirty="0" sz="950" spc="8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economies</a:t>
            </a:r>
            <a:r>
              <a:rPr dirty="0" sz="950">
                <a:solidFill>
                  <a:srgbClr val="777777"/>
                </a:solidFill>
                <a:latin typeface="Arial"/>
                <a:cs typeface="Arial"/>
              </a:rPr>
              <a:t>,</a:t>
            </a:r>
            <a:r>
              <a:rPr dirty="0" sz="950" spc="1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and human</a:t>
            </a:r>
            <a:r>
              <a:rPr dirty="0" sz="950" spc="11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societies</a:t>
            </a:r>
            <a:r>
              <a:rPr dirty="0" sz="950" spc="10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-50">
                <a:solidFill>
                  <a:srgbClr val="626262"/>
                </a:solidFill>
                <a:latin typeface="Arial"/>
                <a:cs typeface="Arial"/>
              </a:rPr>
              <a:t>.</a:t>
            </a:r>
            <a:endParaRPr sz="950">
              <a:latin typeface="Arial"/>
              <a:cs typeface="Arial"/>
            </a:endParaRPr>
          </a:p>
          <a:p>
            <a:pPr marL="20320">
              <a:lnSpc>
                <a:spcPts val="985"/>
              </a:lnSpc>
            </a:pP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Accurate</a:t>
            </a:r>
            <a:r>
              <a:rPr dirty="0" sz="950" spc="4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prediction</a:t>
            </a:r>
            <a:r>
              <a:rPr dirty="0" sz="950" spc="5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of</a:t>
            </a:r>
            <a:r>
              <a:rPr dirty="0" sz="950" spc="15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climate-related</a:t>
            </a:r>
            <a:r>
              <a:rPr dirty="0" sz="950" spc="-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variables</a:t>
            </a:r>
            <a:r>
              <a:rPr dirty="0" sz="950" spc="6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26262"/>
                </a:solidFill>
                <a:latin typeface="Arial"/>
                <a:cs typeface="Arial"/>
              </a:rPr>
              <a:t>(such</a:t>
            </a:r>
            <a:r>
              <a:rPr dirty="0" sz="950" spc="5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as</a:t>
            </a:r>
            <a:r>
              <a:rPr dirty="0" sz="950" spc="10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temperature,</a:t>
            </a:r>
            <a:r>
              <a:rPr dirty="0" sz="950" spc="15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precipitation,</a:t>
            </a:r>
            <a:r>
              <a:rPr dirty="0" sz="950" spc="3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sea</a:t>
            </a:r>
            <a:r>
              <a:rPr dirty="0" sz="950" spc="-3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level,</a:t>
            </a:r>
            <a:r>
              <a:rPr dirty="0" sz="950" spc="3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and</a:t>
            </a:r>
            <a:r>
              <a:rPr dirty="0" sz="950" spc="12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extreme </a:t>
            </a:r>
            <a:r>
              <a:rPr dirty="0" sz="950" spc="-10">
                <a:solidFill>
                  <a:srgbClr val="464646"/>
                </a:solidFill>
                <a:latin typeface="Arial"/>
                <a:cs typeface="Arial"/>
              </a:rPr>
              <a:t>events)</a:t>
            </a:r>
            <a:endParaRPr sz="950">
              <a:latin typeface="Arial"/>
              <a:cs typeface="Arial"/>
            </a:endParaRPr>
          </a:p>
          <a:p>
            <a:pPr marL="53340" marR="260985" indent="-4445">
              <a:lnSpc>
                <a:spcPts val="960"/>
              </a:lnSpc>
              <a:spcBef>
                <a:spcPts val="120"/>
              </a:spcBef>
            </a:pP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is</a:t>
            </a:r>
            <a:r>
              <a:rPr dirty="0" sz="950" spc="6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essential</a:t>
            </a:r>
            <a:r>
              <a:rPr dirty="0" sz="950" spc="-6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for</a:t>
            </a:r>
            <a:r>
              <a:rPr dirty="0" sz="950" spc="-3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effective</a:t>
            </a:r>
            <a:r>
              <a:rPr dirty="0" sz="950" spc="-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mitigation</a:t>
            </a:r>
            <a:r>
              <a:rPr dirty="0" sz="950" spc="5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and</a:t>
            </a:r>
            <a:r>
              <a:rPr dirty="0" sz="950" spc="-7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adaptation.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343434"/>
                </a:solidFill>
                <a:latin typeface="Arial"/>
                <a:cs typeface="Arial"/>
              </a:rPr>
              <a:t>Traditional</a:t>
            </a:r>
            <a:r>
              <a:rPr dirty="0" sz="950" spc="5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climate</a:t>
            </a:r>
            <a:r>
              <a:rPr dirty="0" sz="950" spc="1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models</a:t>
            </a:r>
            <a:r>
              <a:rPr dirty="0" sz="950" spc="-3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(GCMs/ </a:t>
            </a:r>
            <a:r>
              <a:rPr dirty="0" sz="950" spc="10">
                <a:solidFill>
                  <a:srgbClr val="343434"/>
                </a:solidFill>
                <a:latin typeface="Arial"/>
                <a:cs typeface="Arial"/>
              </a:rPr>
              <a:t>ESMs)</a:t>
            </a:r>
            <a:r>
              <a:rPr dirty="0" sz="950" spc="2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provide</a:t>
            </a:r>
            <a:r>
              <a:rPr dirty="0" sz="950" spc="3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broad</a:t>
            </a:r>
            <a:r>
              <a:rPr dirty="0" sz="950" spc="-10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343434"/>
                </a:solidFill>
                <a:latin typeface="Arial"/>
                <a:cs typeface="Arial"/>
              </a:rPr>
              <a:t>insights</a:t>
            </a:r>
            <a:r>
              <a:rPr dirty="0" sz="950" spc="-2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464646"/>
                </a:solidFill>
                <a:latin typeface="Arial"/>
                <a:cs typeface="Arial"/>
              </a:rPr>
              <a:t>but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often</a:t>
            </a:r>
            <a:r>
              <a:rPr dirty="0" sz="950" spc="2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43434"/>
                </a:solidFill>
                <a:latin typeface="Arial"/>
                <a:cs typeface="Arial"/>
              </a:rPr>
              <a:t>lack</a:t>
            </a:r>
            <a:r>
              <a:rPr dirty="0" sz="950" spc="3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the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spatial</a:t>
            </a:r>
            <a:r>
              <a:rPr dirty="0" sz="950" spc="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and</a:t>
            </a:r>
            <a:r>
              <a:rPr dirty="0" sz="950" spc="-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43434"/>
                </a:solidFill>
                <a:latin typeface="Arial"/>
                <a:cs typeface="Arial"/>
              </a:rPr>
              <a:t>temporal</a:t>
            </a:r>
            <a:r>
              <a:rPr dirty="0" sz="950" spc="8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resolution</a:t>
            </a:r>
            <a:r>
              <a:rPr dirty="0" sz="950" spc="5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needed</a:t>
            </a:r>
            <a:r>
              <a:rPr dirty="0" sz="950" spc="-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for</a:t>
            </a:r>
            <a:r>
              <a:rPr dirty="0" sz="950" spc="5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local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forecasting</a:t>
            </a:r>
            <a:r>
              <a:rPr dirty="0" sz="950" spc="6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.</a:t>
            </a:r>
            <a:r>
              <a:rPr dirty="0" sz="950" spc="10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In</a:t>
            </a:r>
            <a:r>
              <a:rPr dirty="0" sz="950" spc="12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recent</a:t>
            </a:r>
            <a:r>
              <a:rPr dirty="0" sz="950" spc="14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years</a:t>
            </a:r>
            <a:r>
              <a:rPr dirty="0" sz="950">
                <a:solidFill>
                  <a:srgbClr val="777777"/>
                </a:solidFill>
                <a:latin typeface="Arial"/>
                <a:cs typeface="Arial"/>
              </a:rPr>
              <a:t>,</a:t>
            </a:r>
            <a:r>
              <a:rPr dirty="0" sz="950" spc="25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43434"/>
                </a:solidFill>
                <a:latin typeface="Arial"/>
                <a:cs typeface="Arial"/>
              </a:rPr>
              <a:t>Machine</a:t>
            </a:r>
            <a:r>
              <a:rPr dirty="0" sz="950" spc="3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1F1F1F"/>
                </a:solidFill>
                <a:latin typeface="Arial"/>
                <a:cs typeface="Arial"/>
              </a:rPr>
              <a:t>Learning</a:t>
            </a:r>
            <a:r>
              <a:rPr dirty="0" sz="950" spc="9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464646"/>
                </a:solidFill>
                <a:latin typeface="Arial"/>
                <a:cs typeface="Arial"/>
              </a:rPr>
              <a:t>(ML)</a:t>
            </a:r>
            <a:endParaRPr sz="950">
              <a:latin typeface="Arial"/>
              <a:cs typeface="Arial"/>
            </a:endParaRPr>
          </a:p>
          <a:p>
            <a:pPr marL="18415" marR="5080" indent="-6350">
              <a:lnSpc>
                <a:spcPts val="960"/>
              </a:lnSpc>
              <a:spcBef>
                <a:spcPts val="5"/>
              </a:spcBef>
            </a:pP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has</a:t>
            </a:r>
            <a:r>
              <a:rPr dirty="0" sz="950" spc="4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emerged</a:t>
            </a:r>
            <a:r>
              <a:rPr dirty="0" sz="950" spc="-4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as</a:t>
            </a:r>
            <a:r>
              <a:rPr dirty="0" sz="950" spc="2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a powerful</a:t>
            </a:r>
            <a:r>
              <a:rPr dirty="0" sz="950" spc="-1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tool</a:t>
            </a:r>
            <a:r>
              <a:rPr dirty="0" sz="950" spc="-4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in</a:t>
            </a:r>
            <a:r>
              <a:rPr dirty="0" sz="950" spc="2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climate</a:t>
            </a:r>
            <a:r>
              <a:rPr dirty="0" sz="950" spc="5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science,</a:t>
            </a:r>
            <a:r>
              <a:rPr dirty="0" sz="950" spc="2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capable</a:t>
            </a:r>
            <a:r>
              <a:rPr dirty="0" sz="950" spc="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of</a:t>
            </a:r>
            <a:r>
              <a:rPr dirty="0" sz="950" spc="3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analyzing</a:t>
            </a:r>
            <a:r>
              <a:rPr dirty="0" sz="950" spc="-1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343434"/>
                </a:solidFill>
                <a:latin typeface="Arial"/>
                <a:cs typeface="Arial"/>
              </a:rPr>
              <a:t>large</a:t>
            </a:r>
            <a:r>
              <a:rPr dirty="0" sz="950" spc="-3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and</a:t>
            </a:r>
            <a:r>
              <a:rPr dirty="0" sz="950" spc="-8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diverse</a:t>
            </a:r>
            <a:r>
              <a:rPr dirty="0" sz="950" spc="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datasets</a:t>
            </a:r>
            <a:r>
              <a:rPr dirty="0" sz="950" spc="-3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and</a:t>
            </a:r>
            <a:r>
              <a:rPr dirty="0" sz="950" spc="-2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capturing</a:t>
            </a:r>
            <a:r>
              <a:rPr dirty="0" sz="950" spc="2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64646"/>
                </a:solidFill>
                <a:latin typeface="Arial"/>
                <a:cs typeface="Arial"/>
              </a:rPr>
              <a:t>complex</a:t>
            </a:r>
            <a:r>
              <a:rPr dirty="0" sz="950" spc="-10">
                <a:solidFill>
                  <a:srgbClr val="777777"/>
                </a:solidFill>
                <a:latin typeface="Arial"/>
                <a:cs typeface="Arial"/>
              </a:rPr>
              <a:t>,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non-linear</a:t>
            </a:r>
            <a:r>
              <a:rPr dirty="0" sz="950" spc="14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patterns.</a:t>
            </a:r>
            <a:r>
              <a:rPr dirty="0" sz="950" spc="-1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In</a:t>
            </a:r>
            <a:r>
              <a:rPr dirty="0" sz="950" spc="12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this</a:t>
            </a:r>
            <a:r>
              <a:rPr dirty="0" sz="950" spc="-2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study,</a:t>
            </a:r>
            <a:r>
              <a:rPr dirty="0" sz="950" spc="6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50">
                <a:solidFill>
                  <a:srgbClr val="464646"/>
                </a:solidFill>
                <a:latin typeface="Arial"/>
                <a:cs typeface="Arial"/>
              </a:rPr>
              <a:t>we</a:t>
            </a:r>
            <a:r>
              <a:rPr dirty="0" sz="950" spc="5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leverage</a:t>
            </a:r>
            <a:r>
              <a:rPr dirty="0" sz="950" spc="3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ML</a:t>
            </a:r>
            <a:r>
              <a:rPr dirty="0" sz="950" spc="16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techniques</a:t>
            </a:r>
            <a:r>
              <a:rPr dirty="0" sz="950" spc="16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26262"/>
                </a:solidFill>
                <a:latin typeface="Arial"/>
                <a:cs typeface="Arial"/>
              </a:rPr>
              <a:t>(e.g.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Linear</a:t>
            </a:r>
            <a:r>
              <a:rPr dirty="0" sz="950" spc="9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43434"/>
                </a:solidFill>
                <a:latin typeface="Arial"/>
                <a:cs typeface="Arial"/>
              </a:rPr>
              <a:t>Regress</a:t>
            </a:r>
            <a:r>
              <a:rPr dirty="0" sz="950">
                <a:solidFill>
                  <a:srgbClr val="626262"/>
                </a:solidFill>
                <a:latin typeface="Arial"/>
                <a:cs typeface="Arial"/>
              </a:rPr>
              <a:t>i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on</a:t>
            </a:r>
            <a:r>
              <a:rPr dirty="0" sz="950">
                <a:solidFill>
                  <a:srgbClr val="777777"/>
                </a:solidFill>
                <a:latin typeface="Arial"/>
                <a:cs typeface="Arial"/>
              </a:rPr>
              <a:t>,</a:t>
            </a:r>
            <a:r>
              <a:rPr dirty="0" sz="950" spc="50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43434"/>
                </a:solidFill>
                <a:latin typeface="Arial"/>
                <a:cs typeface="Arial"/>
              </a:rPr>
              <a:t>Random</a:t>
            </a:r>
            <a:r>
              <a:rPr dirty="0" sz="950" spc="5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43434"/>
                </a:solidFill>
                <a:latin typeface="Arial"/>
                <a:cs typeface="Arial"/>
              </a:rPr>
              <a:t>Forest</a:t>
            </a:r>
            <a:r>
              <a:rPr dirty="0" sz="950">
                <a:solidFill>
                  <a:srgbClr val="626262"/>
                </a:solidFill>
                <a:latin typeface="Arial"/>
                <a:cs typeface="Arial"/>
              </a:rPr>
              <a:t>,</a:t>
            </a:r>
            <a:r>
              <a:rPr dirty="0" sz="950" spc="9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Gradient</a:t>
            </a:r>
            <a:r>
              <a:rPr dirty="0" sz="950" spc="22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343434"/>
                </a:solidFill>
                <a:latin typeface="Arial"/>
                <a:cs typeface="Arial"/>
              </a:rPr>
              <a:t>Boost</a:t>
            </a:r>
            <a:r>
              <a:rPr dirty="0" sz="950" spc="-10">
                <a:solidFill>
                  <a:srgbClr val="626262"/>
                </a:solidFill>
                <a:latin typeface="Arial"/>
                <a:cs typeface="Arial"/>
              </a:rPr>
              <a:t>i</a:t>
            </a:r>
            <a:r>
              <a:rPr dirty="0" sz="950" spc="-10">
                <a:solidFill>
                  <a:srgbClr val="343434"/>
                </a:solidFill>
                <a:latin typeface="Arial"/>
                <a:cs typeface="Arial"/>
              </a:rPr>
              <a:t>ng</a:t>
            </a:r>
            <a:r>
              <a:rPr dirty="0" sz="950" spc="-10">
                <a:solidFill>
                  <a:srgbClr val="626262"/>
                </a:solidFill>
                <a:latin typeface="Arial"/>
                <a:cs typeface="Arial"/>
              </a:rPr>
              <a:t>)</a:t>
            </a:r>
            <a:r>
              <a:rPr dirty="0" sz="950" spc="500">
                <a:solidFill>
                  <a:srgbClr val="626262"/>
                </a:solidFill>
                <a:latin typeface="Arial"/>
                <a:cs typeface="Arial"/>
              </a:rPr>
              <a:t> 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to</a:t>
            </a:r>
            <a:r>
              <a:rPr dirty="0" sz="950" spc="2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model</a:t>
            </a:r>
            <a:r>
              <a:rPr dirty="0" sz="950" spc="-4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and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343434"/>
                </a:solidFill>
                <a:latin typeface="Arial"/>
                <a:cs typeface="Arial"/>
              </a:rPr>
              <a:t>predict</a:t>
            </a:r>
            <a:r>
              <a:rPr dirty="0" sz="950" spc="-2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climate</a:t>
            </a:r>
            <a:r>
              <a:rPr dirty="0" sz="950" spc="-2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343434"/>
                </a:solidFill>
                <a:latin typeface="Arial"/>
                <a:cs typeface="Arial"/>
              </a:rPr>
              <a:t>indicators</a:t>
            </a:r>
            <a:r>
              <a:rPr dirty="0" sz="950" spc="-4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using</a:t>
            </a:r>
            <a:r>
              <a:rPr dirty="0" sz="950" spc="2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synthetic</a:t>
            </a:r>
            <a:r>
              <a:rPr dirty="0" sz="950" spc="2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climate data.</a:t>
            </a:r>
            <a:r>
              <a:rPr dirty="0" sz="950" spc="-4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65">
                <a:solidFill>
                  <a:srgbClr val="464646"/>
                </a:solidFill>
                <a:latin typeface="Arial"/>
                <a:cs typeface="Arial"/>
              </a:rPr>
              <a:t>We</a:t>
            </a:r>
            <a:r>
              <a:rPr dirty="0" sz="950" spc="-4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detail</a:t>
            </a:r>
            <a:r>
              <a:rPr dirty="0" sz="950" spc="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our</a:t>
            </a:r>
            <a:r>
              <a:rPr dirty="0" sz="950" spc="3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data</a:t>
            </a:r>
            <a:r>
              <a:rPr dirty="0" sz="950" spc="3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collection</a:t>
            </a:r>
            <a:r>
              <a:rPr dirty="0" sz="950" spc="2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and</a:t>
            </a:r>
            <a:r>
              <a:rPr dirty="0" sz="950" spc="-11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preprocessing,</a:t>
            </a:r>
            <a:r>
              <a:rPr dirty="0" sz="950" spc="-10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64646"/>
                </a:solidFill>
                <a:latin typeface="Arial"/>
                <a:cs typeface="Arial"/>
              </a:rPr>
              <a:t>present</a:t>
            </a:r>
            <a:endParaRPr sz="950">
              <a:latin typeface="Arial"/>
              <a:cs typeface="Arial"/>
            </a:endParaRPr>
          </a:p>
          <a:p>
            <a:pPr marL="48895">
              <a:lnSpc>
                <a:spcPts val="925"/>
              </a:lnSpc>
            </a:pP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model-building</a:t>
            </a:r>
            <a:r>
              <a:rPr dirty="0" sz="950" spc="-14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processes</a:t>
            </a:r>
            <a:r>
              <a:rPr dirty="0" sz="950" spc="8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with</a:t>
            </a:r>
            <a:r>
              <a:rPr dirty="0" sz="950" spc="3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Python</a:t>
            </a:r>
            <a:r>
              <a:rPr dirty="0" sz="950" spc="-3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code</a:t>
            </a:r>
            <a:r>
              <a:rPr dirty="0" sz="950" spc="10">
                <a:solidFill>
                  <a:srgbClr val="777777"/>
                </a:solidFill>
                <a:latin typeface="Arial"/>
                <a:cs typeface="Arial"/>
              </a:rPr>
              <a:t>,</a:t>
            </a:r>
            <a:r>
              <a:rPr dirty="0" sz="950" spc="55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and</a:t>
            </a:r>
            <a:r>
              <a:rPr dirty="0" sz="950" spc="-2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report results</a:t>
            </a:r>
            <a:r>
              <a:rPr dirty="0" sz="950" spc="-2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including</a:t>
            </a:r>
            <a:r>
              <a:rPr dirty="0" sz="950" spc="4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mean</a:t>
            </a:r>
            <a:r>
              <a:rPr dirty="0" sz="950" spc="-2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squared</a:t>
            </a:r>
            <a:r>
              <a:rPr dirty="0" sz="950" spc="-8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errors and</a:t>
            </a:r>
            <a:r>
              <a:rPr dirty="0" sz="950" spc="-4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65">
                <a:solidFill>
                  <a:srgbClr val="343434"/>
                </a:solidFill>
                <a:latin typeface="Arial"/>
                <a:cs typeface="Arial"/>
              </a:rPr>
              <a:t>R</a:t>
            </a:r>
            <a:r>
              <a:rPr dirty="0" sz="950" spc="7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squared</a:t>
            </a:r>
            <a:r>
              <a:rPr dirty="0" sz="950" spc="-1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64646"/>
                </a:solidFill>
                <a:latin typeface="Arial"/>
                <a:cs typeface="Arial"/>
              </a:rPr>
              <a:t>scores.</a:t>
            </a:r>
            <a:endParaRPr sz="950">
              <a:latin typeface="Arial"/>
              <a:cs typeface="Arial"/>
            </a:endParaRPr>
          </a:p>
          <a:p>
            <a:pPr marL="15875" marR="101600" indent="34925">
              <a:lnSpc>
                <a:spcPct val="84400"/>
              </a:lnSpc>
              <a:spcBef>
                <a:spcPts val="85"/>
              </a:spcBef>
            </a:pP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Our</a:t>
            </a:r>
            <a:r>
              <a:rPr dirty="0" sz="950" spc="7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findings</a:t>
            </a:r>
            <a:r>
              <a:rPr dirty="0" sz="950" spc="5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43434"/>
                </a:solidFill>
                <a:latin typeface="Arial"/>
                <a:cs typeface="Arial"/>
              </a:rPr>
              <a:t>demonstrate</a:t>
            </a:r>
            <a:r>
              <a:rPr dirty="0" sz="950" spc="16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that</a:t>
            </a:r>
            <a:r>
              <a:rPr dirty="0" sz="950" spc="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ML</a:t>
            </a:r>
            <a:r>
              <a:rPr dirty="0" sz="950" spc="2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models</a:t>
            </a:r>
            <a:r>
              <a:rPr dirty="0" sz="950" spc="5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can</a:t>
            </a:r>
            <a:r>
              <a:rPr dirty="0" sz="950" spc="-1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improve predictive</a:t>
            </a:r>
            <a:r>
              <a:rPr dirty="0" sz="950" spc="-1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accuracy</a:t>
            </a:r>
            <a:r>
              <a:rPr dirty="0" sz="950" spc="12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over</a:t>
            </a:r>
            <a:r>
              <a:rPr dirty="0" sz="950" spc="3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simple</a:t>
            </a:r>
            <a:r>
              <a:rPr dirty="0" sz="950" spc="4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approaches,</a:t>
            </a:r>
            <a:r>
              <a:rPr dirty="0" sz="950" spc="16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aligning</a:t>
            </a:r>
            <a:r>
              <a:rPr dirty="0" sz="950" spc="13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with</a:t>
            </a:r>
            <a:r>
              <a:rPr dirty="0" sz="950" spc="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64646"/>
                </a:solidFill>
                <a:latin typeface="Arial"/>
                <a:cs typeface="Arial"/>
              </a:rPr>
              <a:t>literature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reports</a:t>
            </a:r>
            <a:r>
              <a:rPr dirty="0" sz="950" spc="-6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of</a:t>
            </a:r>
            <a:r>
              <a:rPr dirty="0" sz="950" spc="3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343434"/>
                </a:solidFill>
                <a:latin typeface="Arial"/>
                <a:cs typeface="Arial"/>
              </a:rPr>
              <a:t>high</a:t>
            </a:r>
            <a:r>
              <a:rPr dirty="0" sz="950" spc="-6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accuracies</a:t>
            </a:r>
            <a:r>
              <a:rPr dirty="0" sz="950" spc="10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26262"/>
                </a:solidFill>
                <a:latin typeface="Arial"/>
                <a:cs typeface="Arial"/>
              </a:rPr>
              <a:t>(e.g.</a:t>
            </a:r>
            <a:r>
              <a:rPr dirty="0" sz="950" spc="-45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up</a:t>
            </a:r>
            <a:r>
              <a:rPr dirty="0" sz="950" spc="6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to</a:t>
            </a:r>
            <a:r>
              <a:rPr dirty="0" sz="950" spc="-3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60">
                <a:solidFill>
                  <a:srgbClr val="464646"/>
                </a:solidFill>
                <a:latin typeface="Arial"/>
                <a:cs typeface="Arial"/>
              </a:rPr>
              <a:t>92%</a:t>
            </a:r>
            <a:r>
              <a:rPr dirty="0" sz="950" spc="-9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in</a:t>
            </a:r>
            <a:r>
              <a:rPr dirty="0" sz="950" spc="4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related</a:t>
            </a:r>
            <a:r>
              <a:rPr dirty="0" sz="950" spc="-4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50">
                <a:solidFill>
                  <a:srgbClr val="464646"/>
                </a:solidFill>
                <a:latin typeface="Arial"/>
                <a:cs typeface="Arial"/>
              </a:rPr>
              <a:t>studies).</a:t>
            </a:r>
            <a:r>
              <a:rPr dirty="0" sz="950" spc="-4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1F1F1F"/>
                </a:solidFill>
                <a:latin typeface="Arial"/>
                <a:cs typeface="Arial"/>
              </a:rPr>
              <a:t>This</a:t>
            </a:r>
            <a:r>
              <a:rPr dirty="0" sz="950" spc="-15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self-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contained</a:t>
            </a:r>
            <a:r>
              <a:rPr dirty="0" sz="950" spc="-4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analysis</a:t>
            </a:r>
            <a:r>
              <a:rPr dirty="0" sz="950" spc="-2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provides</a:t>
            </a:r>
            <a:r>
              <a:rPr dirty="0" sz="950" spc="2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64646"/>
                </a:solidFill>
                <a:latin typeface="Arial"/>
                <a:cs typeface="Arial"/>
              </a:rPr>
              <a:t>a</a:t>
            </a:r>
            <a:r>
              <a:rPr dirty="0" sz="950" spc="60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64646"/>
                </a:solidFill>
                <a:latin typeface="Arial"/>
                <a:cs typeface="Arial"/>
              </a:rPr>
              <a:t>comprehensive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example</a:t>
            </a:r>
            <a:r>
              <a:rPr dirty="0" sz="950" spc="-3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of</a:t>
            </a:r>
            <a:r>
              <a:rPr dirty="0" sz="950" spc="8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data-driven</a:t>
            </a:r>
            <a:r>
              <a:rPr dirty="0" sz="950" spc="12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64646"/>
                </a:solidFill>
                <a:latin typeface="Arial"/>
                <a:cs typeface="Arial"/>
              </a:rPr>
              <a:t>climate</a:t>
            </a:r>
            <a:r>
              <a:rPr dirty="0" sz="950" spc="25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64646"/>
                </a:solidFill>
                <a:latin typeface="Arial"/>
                <a:cs typeface="Arial"/>
              </a:rPr>
              <a:t>forecasting.</a:t>
            </a:r>
            <a:endParaRPr sz="9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55931" y="4906853"/>
            <a:ext cx="143510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464646"/>
                </a:solidFill>
                <a:latin typeface="Arial"/>
                <a:cs typeface="Arial"/>
              </a:rPr>
              <a:t>Tt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04312" y="1655167"/>
          <a:ext cx="5902325" cy="36201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6125"/>
                <a:gridCol w="1742439"/>
                <a:gridCol w="2018664"/>
                <a:gridCol w="1314450"/>
              </a:tblGrid>
              <a:tr h="287020">
                <a:tc>
                  <a:txBody>
                    <a:bodyPr/>
                    <a:lstStyle/>
                    <a:p>
                      <a:pPr algn="r" marR="27813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050" spc="-25" b="1">
                          <a:latin typeface="Arial"/>
                          <a:cs typeface="Arial"/>
                        </a:rPr>
                        <a:t>SNo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67945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050" spc="-10" b="1">
                          <a:latin typeface="Arial"/>
                          <a:cs typeface="Arial"/>
                        </a:rPr>
                        <a:t>Topic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67945"/>
                </a:tc>
                <a:tc>
                  <a:txBody>
                    <a:bodyPr/>
                    <a:lstStyle/>
                    <a:p>
                      <a:pPr marL="466725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dirty="0" sz="1050" b="1">
                          <a:solidFill>
                            <a:srgbClr val="0C111A"/>
                          </a:solidFill>
                          <a:latin typeface="Arial"/>
                          <a:cs typeface="Arial"/>
                        </a:rPr>
                        <a:t>Page</a:t>
                      </a:r>
                      <a:r>
                        <a:rPr dirty="0" sz="1050" spc="15" b="1">
                          <a:solidFill>
                            <a:srgbClr val="0C111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40" b="1">
                          <a:latin typeface="Arial"/>
                          <a:cs typeface="Arial"/>
                        </a:rPr>
                        <a:t>No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62229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81305">
                <a:tc>
                  <a:txBody>
                    <a:bodyPr/>
                    <a:lstStyle/>
                    <a:p>
                      <a:pPr algn="ctr" marR="4699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100" spc="1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4318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 spc="-1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Introduction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8415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dirty="0" sz="1100" spc="-5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5879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277495">
                <a:tc>
                  <a:txBody>
                    <a:bodyPr/>
                    <a:lstStyle/>
                    <a:p>
                      <a:pPr algn="ctr" marR="55244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100" spc="-5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4318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90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Problem</a:t>
                      </a:r>
                      <a:r>
                        <a:rPr dirty="0" sz="1050" spc="6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Statement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651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dirty="0" sz="1100" spc="-5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5244"/>
                </a:tc>
              </a:tr>
              <a:tr h="271145">
                <a:tc>
                  <a:txBody>
                    <a:bodyPr/>
                    <a:lstStyle/>
                    <a:p>
                      <a:pPr algn="ctr" marR="6223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050" spc="-5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46355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9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050" spc="-1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Motivation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dirty="0" sz="1100" spc="-5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2704"/>
                </a:tc>
              </a:tr>
              <a:tr h="278130">
                <a:tc>
                  <a:txBody>
                    <a:bodyPr/>
                    <a:lstStyle/>
                    <a:p>
                      <a:pPr algn="ctr" marR="5397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 spc="-5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4953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1050" spc="-1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Objectives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5588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100" spc="-5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49530"/>
                </a:tc>
              </a:tr>
              <a:tr h="277495">
                <a:tc>
                  <a:txBody>
                    <a:bodyPr/>
                    <a:lstStyle/>
                    <a:p>
                      <a:pPr algn="ctr" marR="6223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050" spc="-5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5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46355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90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05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Literature</a:t>
                      </a:r>
                      <a:r>
                        <a:rPr dirty="0" sz="1050" spc="2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Review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4635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70485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dirty="0" sz="110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5</a:t>
                      </a:r>
                      <a:r>
                        <a:rPr dirty="0" sz="1100">
                          <a:solidFill>
                            <a:srgbClr val="0C111A"/>
                          </a:solidFill>
                          <a:latin typeface="Arial"/>
                          <a:cs typeface="Arial"/>
                        </a:rPr>
                        <a:t>-</a:t>
                      </a:r>
                      <a:r>
                        <a:rPr dirty="0" sz="1100" spc="-5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2704"/>
                </a:tc>
              </a:tr>
              <a:tr h="274955">
                <a:tc>
                  <a:txBody>
                    <a:bodyPr/>
                    <a:lstStyle/>
                    <a:p>
                      <a:pPr algn="ctr" marR="5969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050" spc="-5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6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43815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9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05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Dataset</a:t>
                      </a:r>
                      <a:r>
                        <a:rPr dirty="0" sz="1050" spc="25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Overview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4381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100" spc="-5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49530"/>
                </a:tc>
              </a:tr>
              <a:tr h="274955">
                <a:tc>
                  <a:txBody>
                    <a:bodyPr/>
                    <a:lstStyle/>
                    <a:p>
                      <a:pPr algn="ctr" marR="5016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050" spc="-5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7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43815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90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050" spc="-1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Methodology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4381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255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10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8-</a:t>
                      </a:r>
                      <a:r>
                        <a:rPr dirty="0" sz="1100" spc="5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49530"/>
                </a:tc>
              </a:tr>
              <a:tr h="277495">
                <a:tc>
                  <a:txBody>
                    <a:bodyPr/>
                    <a:lstStyle/>
                    <a:p>
                      <a:pPr algn="ctr" marR="5588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05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8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43815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25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05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Tools</a:t>
                      </a:r>
                      <a:r>
                        <a:rPr dirty="0" sz="1050" spc="4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050" spc="2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1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Technology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4381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0419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10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10-</a:t>
                      </a:r>
                      <a:r>
                        <a:rPr dirty="0" sz="1100" spc="-25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11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49530"/>
                </a:tc>
              </a:tr>
              <a:tr h="274955">
                <a:tc>
                  <a:txBody>
                    <a:bodyPr/>
                    <a:lstStyle/>
                    <a:p>
                      <a:pPr algn="ctr" marR="5778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050" spc="-5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9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46355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27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050" spc="-1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Results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4635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504190">
                        <a:lnSpc>
                          <a:spcPct val="100000"/>
                        </a:lnSpc>
                        <a:spcBef>
                          <a:spcPts val="414"/>
                        </a:spcBef>
                      </a:pPr>
                      <a:r>
                        <a:rPr dirty="0" sz="110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12-</a:t>
                      </a:r>
                      <a:r>
                        <a:rPr dirty="0" sz="1100" spc="-25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15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2704"/>
                </a:tc>
              </a:tr>
              <a:tr h="271145">
                <a:tc>
                  <a:txBody>
                    <a:bodyPr/>
                    <a:lstStyle/>
                    <a:p>
                      <a:pPr algn="r" marR="3098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-25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10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05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Discussion</a:t>
                      </a:r>
                      <a:r>
                        <a:rPr dirty="0" sz="1050" spc="4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050" spc="-1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 Analysis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406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652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100" spc="-25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16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46355"/>
                </a:tc>
              </a:tr>
              <a:tr h="278130">
                <a:tc>
                  <a:txBody>
                    <a:bodyPr/>
                    <a:lstStyle/>
                    <a:p>
                      <a:pPr algn="r" marR="30670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100" spc="3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11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4318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08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dirty="0" sz="105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Conclusion</a:t>
                      </a:r>
                      <a:r>
                        <a:rPr dirty="0" sz="1050" spc="65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050" spc="-4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Future</a:t>
                      </a:r>
                      <a:r>
                        <a:rPr dirty="0" sz="1050" spc="-5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050" spc="-2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Work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4953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9060">
                        <a:lnSpc>
                          <a:spcPct val="100000"/>
                        </a:lnSpc>
                        <a:spcBef>
                          <a:spcPts val="439"/>
                        </a:spcBef>
                      </a:pPr>
                      <a:r>
                        <a:rPr dirty="0" sz="1100" spc="-25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17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5879"/>
                </a:tc>
              </a:tr>
              <a:tr h="295910">
                <a:tc>
                  <a:txBody>
                    <a:bodyPr/>
                    <a:lstStyle/>
                    <a:p>
                      <a:pPr algn="r" marR="30988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100" spc="-25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12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40005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127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050" spc="-10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References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B="0" marT="4635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572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100" spc="-25">
                          <a:solidFill>
                            <a:srgbClr val="383838"/>
                          </a:solidFill>
                          <a:latin typeface="Arial"/>
                          <a:cs typeface="Arial"/>
                        </a:rPr>
                        <a:t>18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52069"/>
                </a:tc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6214308" y="2773424"/>
            <a:ext cx="415925" cy="0"/>
          </a:xfrm>
          <a:custGeom>
            <a:avLst/>
            <a:gdLst/>
            <a:ahLst/>
            <a:cxnLst/>
            <a:rect l="l" t="t" r="r" b="b"/>
            <a:pathLst>
              <a:path w="415925" h="0">
                <a:moveTo>
                  <a:pt x="0" y="0"/>
                </a:moveTo>
                <a:lnTo>
                  <a:pt x="415918" y="0"/>
                </a:lnTo>
              </a:path>
            </a:pathLst>
          </a:custGeom>
          <a:ln w="122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704913" y="1286519"/>
            <a:ext cx="215392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263654"/>
                </a:solidFill>
                <a:latin typeface="Arial"/>
                <a:cs typeface="Arial"/>
              </a:rPr>
              <a:t>TABLE</a:t>
            </a:r>
            <a:r>
              <a:rPr dirty="0" sz="1500" spc="65" b="1">
                <a:solidFill>
                  <a:srgbClr val="263654"/>
                </a:solidFill>
                <a:latin typeface="Arial"/>
                <a:cs typeface="Arial"/>
              </a:rPr>
              <a:t> </a:t>
            </a:r>
            <a:r>
              <a:rPr dirty="0" sz="1500" spc="90" b="1">
                <a:solidFill>
                  <a:srgbClr val="263654"/>
                </a:solidFill>
                <a:latin typeface="Arial"/>
                <a:cs typeface="Arial"/>
              </a:rPr>
              <a:t>OF</a:t>
            </a:r>
            <a:r>
              <a:rPr dirty="0" sz="1500" spc="35" b="1">
                <a:solidFill>
                  <a:srgbClr val="263654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263654"/>
                </a:solidFill>
                <a:latin typeface="Arial"/>
                <a:cs typeface="Arial"/>
              </a:rPr>
              <a:t>CONTENTS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26365" y="1457619"/>
            <a:ext cx="138176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283656"/>
                </a:solidFill>
                <a:latin typeface="Arial"/>
                <a:cs typeface="Arial"/>
              </a:rPr>
              <a:t>1</a:t>
            </a:r>
            <a:r>
              <a:rPr dirty="0" sz="1500" b="1">
                <a:solidFill>
                  <a:srgbClr val="444444"/>
                </a:solidFill>
                <a:latin typeface="Arial"/>
                <a:cs typeface="Arial"/>
              </a:rPr>
              <a:t>.</a:t>
            </a:r>
            <a:r>
              <a:rPr dirty="0" sz="1500" spc="-30" b="1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283656"/>
                </a:solidFill>
                <a:latin typeface="Arial"/>
                <a:cs typeface="Arial"/>
              </a:rPr>
              <a:t>Introduction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1221" y="2212036"/>
            <a:ext cx="4835525" cy="2523490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48260" marR="236854" indent="-33020">
              <a:lnSpc>
                <a:spcPct val="86500"/>
              </a:lnSpc>
              <a:spcBef>
                <a:spcPts val="254"/>
              </a:spcBef>
            </a:pP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Climate</a:t>
            </a:r>
            <a:r>
              <a:rPr dirty="0" sz="950" spc="5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change</a:t>
            </a:r>
            <a:r>
              <a:rPr dirty="0" sz="950" spc="2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prediction</a:t>
            </a:r>
            <a:r>
              <a:rPr dirty="0" sz="950" spc="5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and</a:t>
            </a:r>
            <a:r>
              <a:rPr dirty="0" sz="950" spc="5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analysis</a:t>
            </a:r>
            <a:r>
              <a:rPr dirty="0" sz="950" spc="3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have</a:t>
            </a:r>
            <a:r>
              <a:rPr dirty="0" sz="950" spc="-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become</a:t>
            </a:r>
            <a:r>
              <a:rPr dirty="0" sz="950" spc="2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increasingly</a:t>
            </a:r>
            <a:r>
              <a:rPr dirty="0" sz="950" spc="12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important</a:t>
            </a:r>
            <a:r>
              <a:rPr dirty="0" sz="950" spc="8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as</a:t>
            </a:r>
            <a:r>
              <a:rPr dirty="0" sz="950" spc="15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444444"/>
                </a:solidFill>
                <a:latin typeface="Arial"/>
                <a:cs typeface="Arial"/>
              </a:rPr>
              <a:t>the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impacts</a:t>
            </a:r>
            <a:r>
              <a:rPr dirty="0" sz="950" spc="1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of</a:t>
            </a:r>
            <a:r>
              <a:rPr dirty="0" sz="950" spc="-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global</a:t>
            </a:r>
            <a:r>
              <a:rPr dirty="0" sz="950" spc="-5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warming</a:t>
            </a:r>
            <a:r>
              <a:rPr dirty="0" sz="950" spc="3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intensify</a:t>
            </a:r>
            <a:r>
              <a:rPr dirty="0" sz="950" spc="7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across</a:t>
            </a:r>
            <a:r>
              <a:rPr dirty="0" sz="950" spc="-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ecosystems</a:t>
            </a:r>
            <a:r>
              <a:rPr dirty="0" sz="950" spc="10">
                <a:solidFill>
                  <a:srgbClr val="6D6D6D"/>
                </a:solidFill>
                <a:latin typeface="Arial"/>
                <a:cs typeface="Arial"/>
              </a:rPr>
              <a:t>,</a:t>
            </a:r>
            <a:r>
              <a:rPr dirty="0" sz="950" spc="-35">
                <a:solidFill>
                  <a:srgbClr val="6D6D6D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economies</a:t>
            </a:r>
            <a:r>
              <a:rPr dirty="0" sz="950" spc="10">
                <a:solidFill>
                  <a:srgbClr val="6D6D6D"/>
                </a:solidFill>
                <a:latin typeface="Arial"/>
                <a:cs typeface="Arial"/>
              </a:rPr>
              <a:t>,</a:t>
            </a:r>
            <a:r>
              <a:rPr dirty="0" sz="950" spc="-90">
                <a:solidFill>
                  <a:srgbClr val="6D6D6D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and</a:t>
            </a:r>
            <a:r>
              <a:rPr dirty="0" sz="950" spc="4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44444"/>
                </a:solidFill>
                <a:latin typeface="Arial"/>
                <a:cs typeface="Arial"/>
              </a:rPr>
              <a:t>human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societies.</a:t>
            </a:r>
            <a:r>
              <a:rPr dirty="0" sz="950" spc="4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Traditional</a:t>
            </a:r>
            <a:r>
              <a:rPr dirty="0" sz="950" spc="-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climate</a:t>
            </a:r>
            <a:r>
              <a:rPr dirty="0" sz="950" spc="-1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models</a:t>
            </a:r>
            <a:r>
              <a:rPr dirty="0" sz="950" spc="10">
                <a:solidFill>
                  <a:srgbClr val="6D6D6D"/>
                </a:solidFill>
                <a:latin typeface="Arial"/>
                <a:cs typeface="Arial"/>
              </a:rPr>
              <a:t>,</a:t>
            </a:r>
            <a:r>
              <a:rPr dirty="0" sz="950">
                <a:solidFill>
                  <a:srgbClr val="6D6D6D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while highly</a:t>
            </a:r>
            <a:r>
              <a:rPr dirty="0" sz="950" spc="2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sophisticated</a:t>
            </a:r>
            <a:r>
              <a:rPr dirty="0" sz="950" spc="10">
                <a:solidFill>
                  <a:srgbClr val="6D6D6D"/>
                </a:solidFill>
                <a:latin typeface="Arial"/>
                <a:cs typeface="Arial"/>
              </a:rPr>
              <a:t>,</a:t>
            </a:r>
            <a:r>
              <a:rPr dirty="0" sz="950" spc="-35">
                <a:solidFill>
                  <a:srgbClr val="6D6D6D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often</a:t>
            </a:r>
            <a:r>
              <a:rPr dirty="0" sz="950" spc="-6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struggle</a:t>
            </a:r>
            <a:r>
              <a:rPr dirty="0" sz="950" spc="4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444444"/>
                </a:solidFill>
                <a:latin typeface="Arial"/>
                <a:cs typeface="Arial"/>
              </a:rPr>
              <a:t>with</a:t>
            </a:r>
            <a:endParaRPr sz="950">
              <a:latin typeface="Arial"/>
              <a:cs typeface="Arial"/>
            </a:endParaRPr>
          </a:p>
          <a:p>
            <a:pPr marL="13335" marR="5080" indent="36195">
              <a:lnSpc>
                <a:spcPct val="84400"/>
              </a:lnSpc>
              <a:spcBef>
                <a:spcPts val="50"/>
              </a:spcBef>
            </a:pP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the</a:t>
            </a:r>
            <a:r>
              <a:rPr dirty="0" sz="950" spc="-1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complexity</a:t>
            </a:r>
            <a:r>
              <a:rPr dirty="0" sz="950" spc="13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and</a:t>
            </a:r>
            <a:r>
              <a:rPr dirty="0" sz="950" spc="4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scale</a:t>
            </a:r>
            <a:r>
              <a:rPr dirty="0" sz="950" spc="11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of</a:t>
            </a:r>
            <a:r>
              <a:rPr dirty="0" sz="950" spc="3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environmental</a:t>
            </a:r>
            <a:r>
              <a:rPr dirty="0" sz="950" spc="8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data.</a:t>
            </a:r>
            <a:r>
              <a:rPr dirty="0" sz="950" spc="2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In</a:t>
            </a:r>
            <a:r>
              <a:rPr dirty="0" sz="950" spc="8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recent</a:t>
            </a:r>
            <a:r>
              <a:rPr dirty="0" sz="950" spc="6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years</a:t>
            </a:r>
            <a:r>
              <a:rPr dirty="0" sz="950">
                <a:solidFill>
                  <a:srgbClr val="6D6D6D"/>
                </a:solidFill>
                <a:latin typeface="Arial"/>
                <a:cs typeface="Arial"/>
              </a:rPr>
              <a:t>,</a:t>
            </a:r>
            <a:r>
              <a:rPr dirty="0" sz="950" spc="-35">
                <a:solidFill>
                  <a:srgbClr val="6D6D6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machine</a:t>
            </a:r>
            <a:r>
              <a:rPr dirty="0" sz="950" spc="9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learning</a:t>
            </a:r>
            <a:r>
              <a:rPr dirty="0" sz="950" spc="6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444444"/>
                </a:solidFill>
                <a:latin typeface="Arial"/>
                <a:cs typeface="Arial"/>
              </a:rPr>
              <a:t>(ML)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has</a:t>
            </a:r>
            <a:r>
              <a:rPr dirty="0" sz="950" spc="-10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emerged</a:t>
            </a:r>
            <a:r>
              <a:rPr dirty="0" sz="950" spc="-3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as</a:t>
            </a:r>
            <a:r>
              <a:rPr dirty="0" sz="950" spc="2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a</a:t>
            </a:r>
            <a:r>
              <a:rPr dirty="0" sz="950" spc="1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powerful</a:t>
            </a:r>
            <a:r>
              <a:rPr dirty="0" sz="950" spc="-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tool</a:t>
            </a:r>
            <a:r>
              <a:rPr dirty="0" sz="950" spc="-4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to</a:t>
            </a:r>
            <a:r>
              <a:rPr dirty="0" sz="950" spc="2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enhance</a:t>
            </a:r>
            <a:r>
              <a:rPr dirty="0" sz="950" spc="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climate</a:t>
            </a:r>
            <a:r>
              <a:rPr dirty="0" sz="950" spc="2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science</a:t>
            </a:r>
            <a:r>
              <a:rPr dirty="0" sz="950" spc="4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by</a:t>
            </a:r>
            <a:r>
              <a:rPr dirty="0" sz="950" spc="5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identifying</a:t>
            </a:r>
            <a:r>
              <a:rPr dirty="0" sz="950" spc="-2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44444"/>
                </a:solidFill>
                <a:latin typeface="Arial"/>
                <a:cs typeface="Arial"/>
              </a:rPr>
              <a:t>patterns</a:t>
            </a:r>
            <a:r>
              <a:rPr dirty="0" sz="950" spc="-10">
                <a:solidFill>
                  <a:srgbClr val="6D6D6D"/>
                </a:solidFill>
                <a:latin typeface="Arial"/>
                <a:cs typeface="Arial"/>
              </a:rPr>
              <a:t>,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trends</a:t>
            </a:r>
            <a:r>
              <a:rPr dirty="0" sz="950">
                <a:solidFill>
                  <a:srgbClr val="6D6D6D"/>
                </a:solidFill>
                <a:latin typeface="Arial"/>
                <a:cs typeface="Arial"/>
              </a:rPr>
              <a:t>,</a:t>
            </a:r>
            <a:r>
              <a:rPr dirty="0" sz="950" spc="65">
                <a:solidFill>
                  <a:srgbClr val="6D6D6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and</a:t>
            </a:r>
            <a:r>
              <a:rPr dirty="0" sz="950" spc="-1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relat</a:t>
            </a:r>
            <a:r>
              <a:rPr dirty="0" sz="950">
                <a:solidFill>
                  <a:srgbClr val="6D6D6D"/>
                </a:solidFill>
                <a:latin typeface="Arial"/>
                <a:cs typeface="Arial"/>
              </a:rPr>
              <a:t>i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onships</a:t>
            </a:r>
            <a:r>
              <a:rPr dirty="0" sz="950" spc="16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within</a:t>
            </a:r>
            <a:r>
              <a:rPr dirty="0" sz="950" spc="2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vast</a:t>
            </a:r>
            <a:r>
              <a:rPr dirty="0" sz="950" spc="-1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datasets.</a:t>
            </a:r>
            <a:r>
              <a:rPr dirty="0" sz="950" spc="114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50">
                <a:solidFill>
                  <a:srgbClr val="444444"/>
                </a:solidFill>
                <a:latin typeface="Arial"/>
                <a:cs typeface="Arial"/>
              </a:rPr>
              <a:t>By</a:t>
            </a:r>
            <a:r>
              <a:rPr dirty="0" sz="950" spc="-8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leveraging</a:t>
            </a:r>
            <a:r>
              <a:rPr dirty="0" sz="950" spc="7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historical</a:t>
            </a:r>
            <a:r>
              <a:rPr dirty="0" sz="950" spc="2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climate</a:t>
            </a:r>
            <a:r>
              <a:rPr dirty="0" sz="950" spc="6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44444"/>
                </a:solidFill>
                <a:latin typeface="Arial"/>
                <a:cs typeface="Arial"/>
              </a:rPr>
              <a:t>records</a:t>
            </a:r>
            <a:r>
              <a:rPr dirty="0" sz="950" spc="-10">
                <a:solidFill>
                  <a:srgbClr val="6D6D6D"/>
                </a:solidFill>
                <a:latin typeface="Arial"/>
                <a:cs typeface="Arial"/>
              </a:rPr>
              <a:t>,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satellite</a:t>
            </a:r>
            <a:r>
              <a:rPr dirty="0" sz="950" spc="-2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imagery</a:t>
            </a:r>
            <a:r>
              <a:rPr dirty="0" sz="950" spc="10">
                <a:solidFill>
                  <a:srgbClr val="6D6D6D"/>
                </a:solidFill>
                <a:latin typeface="Arial"/>
                <a:cs typeface="Arial"/>
              </a:rPr>
              <a:t>,</a:t>
            </a:r>
            <a:r>
              <a:rPr dirty="0" sz="950" spc="-45">
                <a:solidFill>
                  <a:srgbClr val="6D6D6D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and</a:t>
            </a:r>
            <a:r>
              <a:rPr dirty="0" sz="950" spc="-4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real-time</a:t>
            </a:r>
            <a:r>
              <a:rPr dirty="0" sz="950" spc="-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environmental</a:t>
            </a:r>
            <a:r>
              <a:rPr dirty="0" sz="950" spc="10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data</a:t>
            </a:r>
            <a:r>
              <a:rPr dirty="0" sz="950" spc="10">
                <a:solidFill>
                  <a:srgbClr val="6D6D6D"/>
                </a:solidFill>
                <a:latin typeface="Arial"/>
                <a:cs typeface="Arial"/>
              </a:rPr>
              <a:t>,</a:t>
            </a:r>
            <a:r>
              <a:rPr dirty="0" sz="950" spc="-25">
                <a:solidFill>
                  <a:srgbClr val="6D6D6D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ML</a:t>
            </a:r>
            <a:r>
              <a:rPr dirty="0" sz="950" spc="6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models</a:t>
            </a:r>
            <a:r>
              <a:rPr dirty="0" sz="950" spc="1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can</a:t>
            </a:r>
            <a:r>
              <a:rPr dirty="0" sz="950" spc="-5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improve </a:t>
            </a:r>
            <a:r>
              <a:rPr dirty="0" sz="950" spc="-25">
                <a:solidFill>
                  <a:srgbClr val="444444"/>
                </a:solidFill>
                <a:latin typeface="Arial"/>
                <a:cs typeface="Arial"/>
              </a:rPr>
              <a:t>the</a:t>
            </a:r>
            <a:r>
              <a:rPr dirty="0" sz="950" spc="50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accuracy</a:t>
            </a:r>
            <a:r>
              <a:rPr dirty="0" sz="950" spc="3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and efficiency</a:t>
            </a:r>
            <a:r>
              <a:rPr dirty="0" sz="950" spc="2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of</a:t>
            </a:r>
            <a:r>
              <a:rPr dirty="0" sz="950" spc="2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climate</a:t>
            </a:r>
            <a:r>
              <a:rPr dirty="0" sz="950" spc="-3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predictions</a:t>
            </a:r>
            <a:r>
              <a:rPr dirty="0" sz="950" spc="10">
                <a:solidFill>
                  <a:srgbClr val="6D6D6D"/>
                </a:solidFill>
                <a:latin typeface="Arial"/>
                <a:cs typeface="Arial"/>
              </a:rPr>
              <a:t>,</a:t>
            </a:r>
            <a:r>
              <a:rPr dirty="0" sz="950" spc="-30">
                <a:solidFill>
                  <a:srgbClr val="6D6D6D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helping</a:t>
            </a:r>
            <a:r>
              <a:rPr dirty="0" sz="950" spc="-6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researchers</a:t>
            </a:r>
            <a:r>
              <a:rPr dirty="0" sz="950" spc="9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better</a:t>
            </a:r>
            <a:r>
              <a:rPr dirty="0" sz="950" spc="-5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44444"/>
                </a:solidFill>
                <a:latin typeface="Arial"/>
                <a:cs typeface="Arial"/>
              </a:rPr>
              <a:t>understand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temperature</a:t>
            </a:r>
            <a:r>
              <a:rPr dirty="0" sz="950" spc="17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changes</a:t>
            </a:r>
            <a:r>
              <a:rPr dirty="0" sz="950">
                <a:solidFill>
                  <a:srgbClr val="6D6D6D"/>
                </a:solidFill>
                <a:latin typeface="Arial"/>
                <a:cs typeface="Arial"/>
              </a:rPr>
              <a:t>,</a:t>
            </a:r>
            <a:r>
              <a:rPr dirty="0" sz="950" spc="65">
                <a:solidFill>
                  <a:srgbClr val="6D6D6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precipitation</a:t>
            </a:r>
            <a:r>
              <a:rPr dirty="0" sz="950" spc="4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patterns</a:t>
            </a:r>
            <a:r>
              <a:rPr dirty="0" sz="950">
                <a:solidFill>
                  <a:srgbClr val="6D6D6D"/>
                </a:solidFill>
                <a:latin typeface="Arial"/>
                <a:cs typeface="Arial"/>
              </a:rPr>
              <a:t>,</a:t>
            </a:r>
            <a:r>
              <a:rPr dirty="0" sz="950" spc="105">
                <a:solidFill>
                  <a:srgbClr val="6D6D6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and</a:t>
            </a:r>
            <a:r>
              <a:rPr dirty="0" sz="950" spc="-1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extreme</a:t>
            </a:r>
            <a:r>
              <a:rPr dirty="0" sz="950" spc="7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weather</a:t>
            </a:r>
            <a:r>
              <a:rPr dirty="0" sz="950" spc="10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44444"/>
                </a:solidFill>
                <a:latin typeface="Arial"/>
                <a:cs typeface="Arial"/>
              </a:rPr>
              <a:t>events.</a:t>
            </a:r>
            <a:endParaRPr sz="950">
              <a:latin typeface="Arial"/>
              <a:cs typeface="Arial"/>
            </a:endParaRPr>
          </a:p>
          <a:p>
            <a:pPr marL="16510" marR="139065" indent="-4445">
              <a:lnSpc>
                <a:spcPct val="86500"/>
              </a:lnSpc>
              <a:spcBef>
                <a:spcPts val="935"/>
              </a:spcBef>
            </a:pP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Machine</a:t>
            </a:r>
            <a:r>
              <a:rPr dirty="0" sz="950" spc="3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learning</a:t>
            </a:r>
            <a:r>
              <a:rPr dirty="0" sz="950" spc="13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techniques</a:t>
            </a:r>
            <a:r>
              <a:rPr dirty="0" sz="950" spc="8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such</a:t>
            </a:r>
            <a:r>
              <a:rPr dirty="0" sz="950" spc="-2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as</a:t>
            </a:r>
            <a:r>
              <a:rPr dirty="0" sz="950" spc="10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neural</a:t>
            </a:r>
            <a:r>
              <a:rPr dirty="0" sz="950" spc="3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networks</a:t>
            </a:r>
            <a:r>
              <a:rPr dirty="0" sz="950">
                <a:solidFill>
                  <a:srgbClr val="6D6D6D"/>
                </a:solidFill>
                <a:latin typeface="Arial"/>
                <a:cs typeface="Arial"/>
              </a:rPr>
              <a:t>,</a:t>
            </a:r>
            <a:r>
              <a:rPr dirty="0" sz="950" spc="80">
                <a:solidFill>
                  <a:srgbClr val="6D6D6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decis</a:t>
            </a:r>
            <a:r>
              <a:rPr dirty="0" sz="950">
                <a:solidFill>
                  <a:srgbClr val="6D6D6D"/>
                </a:solidFill>
                <a:latin typeface="Arial"/>
                <a:cs typeface="Arial"/>
              </a:rPr>
              <a:t>i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on</a:t>
            </a:r>
            <a:r>
              <a:rPr dirty="0" sz="950" spc="15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trees</a:t>
            </a:r>
            <a:r>
              <a:rPr dirty="0" sz="950">
                <a:solidFill>
                  <a:srgbClr val="6D6D6D"/>
                </a:solidFill>
                <a:latin typeface="Arial"/>
                <a:cs typeface="Arial"/>
              </a:rPr>
              <a:t>,</a:t>
            </a:r>
            <a:r>
              <a:rPr dirty="0" sz="950" spc="10">
                <a:solidFill>
                  <a:srgbClr val="6D6D6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and </a:t>
            </a:r>
            <a:r>
              <a:rPr dirty="0" sz="950" spc="-10">
                <a:solidFill>
                  <a:srgbClr val="444444"/>
                </a:solidFill>
                <a:latin typeface="Arial"/>
                <a:cs typeface="Arial"/>
              </a:rPr>
              <a:t>regression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models</a:t>
            </a:r>
            <a:r>
              <a:rPr dirty="0" sz="950" spc="6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enable</a:t>
            </a:r>
            <a:r>
              <a:rPr dirty="0" sz="950" spc="9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more</a:t>
            </a:r>
            <a:r>
              <a:rPr dirty="0" sz="950" spc="-2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precise</a:t>
            </a:r>
            <a:r>
              <a:rPr dirty="0" sz="950" spc="8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forecasting</a:t>
            </a:r>
            <a:r>
              <a:rPr dirty="0" sz="950" spc="2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by</a:t>
            </a:r>
            <a:r>
              <a:rPr dirty="0" sz="950" spc="14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adapting</a:t>
            </a:r>
            <a:r>
              <a:rPr dirty="0" sz="950" spc="4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to</a:t>
            </a:r>
            <a:r>
              <a:rPr dirty="0" sz="950" spc="6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nonlinear</a:t>
            </a:r>
            <a:r>
              <a:rPr dirty="0" sz="950" spc="6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and</a:t>
            </a:r>
            <a:r>
              <a:rPr dirty="0" sz="950" spc="-3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44444"/>
                </a:solidFill>
                <a:latin typeface="Arial"/>
                <a:cs typeface="Arial"/>
              </a:rPr>
              <a:t>dynamic</a:t>
            </a:r>
            <a:r>
              <a:rPr dirty="0" sz="950" spc="500">
                <a:solidFill>
                  <a:srgbClr val="444444"/>
                </a:solidFill>
                <a:latin typeface="Arial"/>
                <a:cs typeface="Arial"/>
              </a:rPr>
              <a:t> 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climate</a:t>
            </a:r>
            <a:r>
              <a:rPr dirty="0" sz="950" spc="5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systems.</a:t>
            </a:r>
            <a:r>
              <a:rPr dirty="0" sz="950" spc="8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These</a:t>
            </a:r>
            <a:r>
              <a:rPr dirty="0" sz="950" spc="5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approaches</a:t>
            </a:r>
            <a:r>
              <a:rPr dirty="0" sz="950" spc="11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can</a:t>
            </a:r>
            <a:r>
              <a:rPr dirty="0" sz="950" spc="3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also</a:t>
            </a:r>
            <a:r>
              <a:rPr dirty="0" sz="950" spc="-2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integrate</a:t>
            </a:r>
            <a:r>
              <a:rPr dirty="0" sz="950" spc="5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d</a:t>
            </a:r>
            <a:r>
              <a:rPr dirty="0" sz="950">
                <a:solidFill>
                  <a:srgbClr val="6D6D6D"/>
                </a:solidFill>
                <a:latin typeface="Arial"/>
                <a:cs typeface="Arial"/>
              </a:rPr>
              <a:t>i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verse</a:t>
            </a:r>
            <a:r>
              <a:rPr dirty="0" sz="950" spc="12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data</a:t>
            </a:r>
            <a:r>
              <a:rPr dirty="0" sz="950" spc="2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44444"/>
                </a:solidFill>
                <a:latin typeface="Arial"/>
                <a:cs typeface="Arial"/>
              </a:rPr>
              <a:t>sources</a:t>
            </a:r>
            <a:r>
              <a:rPr dirty="0" sz="950" spc="-10">
                <a:solidFill>
                  <a:srgbClr val="6D6D6D"/>
                </a:solidFill>
                <a:latin typeface="Arial"/>
                <a:cs typeface="Arial"/>
              </a:rPr>
              <a:t>,</a:t>
            </a:r>
            <a:r>
              <a:rPr dirty="0" sz="950" spc="500">
                <a:solidFill>
                  <a:srgbClr val="6D6D6D"/>
                </a:solidFill>
                <a:latin typeface="Arial"/>
                <a:cs typeface="Arial"/>
              </a:rPr>
              <a:t> 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including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atmospheric,</a:t>
            </a:r>
            <a:r>
              <a:rPr dirty="0" sz="950" spc="9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oceanic</a:t>
            </a:r>
            <a:r>
              <a:rPr dirty="0" sz="950">
                <a:solidFill>
                  <a:srgbClr val="6D6D6D"/>
                </a:solidFill>
                <a:latin typeface="Arial"/>
                <a:cs typeface="Arial"/>
              </a:rPr>
              <a:t>,</a:t>
            </a:r>
            <a:r>
              <a:rPr dirty="0" sz="950" spc="-10">
                <a:solidFill>
                  <a:srgbClr val="6D6D6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and</a:t>
            </a:r>
            <a:r>
              <a:rPr dirty="0" sz="950" spc="6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land-based</a:t>
            </a:r>
            <a:r>
              <a:rPr dirty="0" sz="950" spc="6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variables,</a:t>
            </a:r>
            <a:r>
              <a:rPr dirty="0" sz="950" spc="11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to</a:t>
            </a:r>
            <a:r>
              <a:rPr dirty="0" sz="950" spc="5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provide</a:t>
            </a:r>
            <a:r>
              <a:rPr dirty="0" sz="950" spc="9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44444"/>
                </a:solidFill>
                <a:latin typeface="Arial"/>
                <a:cs typeface="Arial"/>
              </a:rPr>
              <a:t>comprehensive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climate</a:t>
            </a:r>
            <a:r>
              <a:rPr dirty="0" sz="950" spc="-3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insights.</a:t>
            </a:r>
            <a:r>
              <a:rPr dirty="0" sz="950" spc="2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Furthermore</a:t>
            </a:r>
            <a:r>
              <a:rPr dirty="0" sz="950" spc="10">
                <a:solidFill>
                  <a:srgbClr val="6D6D6D"/>
                </a:solidFill>
                <a:latin typeface="Arial"/>
                <a:cs typeface="Arial"/>
              </a:rPr>
              <a:t>,</a:t>
            </a:r>
            <a:r>
              <a:rPr dirty="0" sz="950" spc="-40">
                <a:solidFill>
                  <a:srgbClr val="6D6D6D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ML-based</a:t>
            </a:r>
            <a:r>
              <a:rPr dirty="0" sz="950" spc="-1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models</a:t>
            </a:r>
            <a:r>
              <a:rPr dirty="0" sz="950" spc="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support</a:t>
            </a:r>
            <a:r>
              <a:rPr dirty="0" sz="950" spc="-2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scenario analysis</a:t>
            </a:r>
            <a:r>
              <a:rPr dirty="0" sz="950" spc="6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444444"/>
                </a:solidFill>
                <a:latin typeface="Arial"/>
                <a:cs typeface="Arial"/>
              </a:rPr>
              <a:t>and</a:t>
            </a:r>
            <a:endParaRPr sz="950">
              <a:latin typeface="Arial"/>
              <a:cs typeface="Arial"/>
            </a:endParaRPr>
          </a:p>
          <a:p>
            <a:pPr marL="17145" marR="142240" indent="33020">
              <a:lnSpc>
                <a:spcPct val="84400"/>
              </a:lnSpc>
              <a:spcBef>
                <a:spcPts val="50"/>
              </a:spcBef>
            </a:pP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risk</a:t>
            </a:r>
            <a:r>
              <a:rPr dirty="0" sz="950" spc="-2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assessment</a:t>
            </a:r>
            <a:r>
              <a:rPr dirty="0" sz="950">
                <a:solidFill>
                  <a:srgbClr val="6D6D6D"/>
                </a:solidFill>
                <a:latin typeface="Arial"/>
                <a:cs typeface="Arial"/>
              </a:rPr>
              <a:t>,</a:t>
            </a:r>
            <a:r>
              <a:rPr dirty="0" sz="950" spc="60">
                <a:solidFill>
                  <a:srgbClr val="6D6D6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allowing</a:t>
            </a:r>
            <a:r>
              <a:rPr dirty="0" sz="950" spc="5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policymakers</a:t>
            </a:r>
            <a:r>
              <a:rPr dirty="0" sz="950" spc="12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and</a:t>
            </a:r>
            <a:r>
              <a:rPr dirty="0" sz="950" spc="16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scientists</a:t>
            </a:r>
            <a:r>
              <a:rPr dirty="0" sz="950" spc="3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to</a:t>
            </a:r>
            <a:r>
              <a:rPr dirty="0" sz="950" spc="10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evaluate</a:t>
            </a:r>
            <a:r>
              <a:rPr dirty="0" sz="950" spc="-1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potential</a:t>
            </a:r>
            <a:r>
              <a:rPr dirty="0" sz="950" spc="14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44444"/>
                </a:solidFill>
                <a:latin typeface="Arial"/>
                <a:cs typeface="Arial"/>
              </a:rPr>
              <a:t>future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outcomes</a:t>
            </a:r>
            <a:r>
              <a:rPr dirty="0" sz="950" spc="11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and</a:t>
            </a:r>
            <a:r>
              <a:rPr dirty="0" sz="950" spc="-3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develop</a:t>
            </a:r>
            <a:r>
              <a:rPr dirty="0" sz="950" spc="3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mitigation</a:t>
            </a:r>
            <a:r>
              <a:rPr dirty="0" sz="950" spc="10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strategies.</a:t>
            </a:r>
            <a:r>
              <a:rPr dirty="0" sz="950" spc="12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As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climate</a:t>
            </a:r>
            <a:r>
              <a:rPr dirty="0" sz="950" spc="6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challenges</a:t>
            </a:r>
            <a:r>
              <a:rPr dirty="0" sz="950" spc="4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continue</a:t>
            </a:r>
            <a:r>
              <a:rPr dirty="0" sz="950" spc="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to</a:t>
            </a:r>
            <a:r>
              <a:rPr dirty="0" sz="950" spc="10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44444"/>
                </a:solidFill>
                <a:latin typeface="Arial"/>
                <a:cs typeface="Arial"/>
              </a:rPr>
              <a:t>grow</a:t>
            </a:r>
            <a:r>
              <a:rPr dirty="0" sz="950" spc="-10">
                <a:solidFill>
                  <a:srgbClr val="828282"/>
                </a:solidFill>
                <a:latin typeface="Arial"/>
                <a:cs typeface="Arial"/>
              </a:rPr>
              <a:t>,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the</a:t>
            </a:r>
            <a:r>
              <a:rPr dirty="0" sz="950" spc="-1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integration</a:t>
            </a:r>
            <a:r>
              <a:rPr dirty="0" sz="950" spc="8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of</a:t>
            </a:r>
            <a:r>
              <a:rPr dirty="0" sz="950" spc="9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machine</a:t>
            </a:r>
            <a:r>
              <a:rPr dirty="0" sz="950" spc="6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learning</a:t>
            </a:r>
            <a:r>
              <a:rPr dirty="0" sz="950" spc="9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into</a:t>
            </a:r>
            <a:r>
              <a:rPr dirty="0" sz="950" spc="1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climate</a:t>
            </a:r>
            <a:r>
              <a:rPr dirty="0" sz="950" spc="10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prediction</a:t>
            </a:r>
            <a:r>
              <a:rPr dirty="0" sz="950" spc="7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and</a:t>
            </a:r>
            <a:r>
              <a:rPr dirty="0" sz="950" spc="-1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analysis</a:t>
            </a:r>
            <a:r>
              <a:rPr dirty="0" sz="950" spc="3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offers</a:t>
            </a:r>
            <a:r>
              <a:rPr dirty="0" sz="950" spc="-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-50">
                <a:solidFill>
                  <a:srgbClr val="444444"/>
                </a:solidFill>
                <a:latin typeface="Arial"/>
                <a:cs typeface="Arial"/>
              </a:rPr>
              <a:t>a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promising</a:t>
            </a:r>
            <a:r>
              <a:rPr dirty="0" sz="950" spc="8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pathway</a:t>
            </a:r>
            <a:r>
              <a:rPr dirty="0" sz="950" spc="11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toward</a:t>
            </a:r>
            <a:r>
              <a:rPr dirty="0" sz="950" spc="4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more</a:t>
            </a:r>
            <a:r>
              <a:rPr dirty="0" sz="950" spc="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informed</a:t>
            </a:r>
            <a:r>
              <a:rPr dirty="0" sz="950" spc="8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decision-making</a:t>
            </a:r>
            <a:r>
              <a:rPr dirty="0" sz="950" spc="-2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and</a:t>
            </a:r>
            <a:r>
              <a:rPr dirty="0" sz="950" spc="16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44444"/>
                </a:solidFill>
                <a:latin typeface="Arial"/>
                <a:cs typeface="Arial"/>
              </a:rPr>
              <a:t>sustainable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environmental</a:t>
            </a:r>
            <a:r>
              <a:rPr dirty="0" sz="950" spc="6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44444"/>
                </a:solidFill>
                <a:latin typeface="Arial"/>
                <a:cs typeface="Arial"/>
              </a:rPr>
              <a:t>management.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5522" y="1286519"/>
            <a:ext cx="204597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283856"/>
                </a:solidFill>
                <a:latin typeface="Arial"/>
                <a:cs typeface="Arial"/>
              </a:rPr>
              <a:t>2</a:t>
            </a:r>
            <a:r>
              <a:rPr dirty="0" sz="1500" b="1">
                <a:solidFill>
                  <a:srgbClr val="313131"/>
                </a:solidFill>
                <a:latin typeface="Arial"/>
                <a:cs typeface="Arial"/>
              </a:rPr>
              <a:t>.</a:t>
            </a:r>
            <a:r>
              <a:rPr dirty="0" sz="1500" spc="30" b="1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283856"/>
                </a:solidFill>
                <a:latin typeface="Arial"/>
                <a:cs typeface="Arial"/>
              </a:rPr>
              <a:t>Problem</a:t>
            </a:r>
            <a:r>
              <a:rPr dirty="0" sz="1500" spc="229" b="1">
                <a:solidFill>
                  <a:srgbClr val="283856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283856"/>
                </a:solidFill>
                <a:latin typeface="Arial"/>
                <a:cs typeface="Arial"/>
              </a:rPr>
              <a:t>Statement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0062" y="2149910"/>
            <a:ext cx="6846570" cy="183896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algn="just" marL="13970" marR="447675" indent="-1905">
              <a:lnSpc>
                <a:spcPct val="85400"/>
              </a:lnSpc>
              <a:spcBef>
                <a:spcPts val="305"/>
              </a:spcBef>
            </a:pP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Climate</a:t>
            </a:r>
            <a:r>
              <a:rPr dirty="0" sz="1150" spc="5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change</a:t>
            </a:r>
            <a:r>
              <a:rPr dirty="0" sz="1150" spc="-1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is</a:t>
            </a:r>
            <a:r>
              <a:rPr dirty="0" sz="1150" spc="9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 spc="50">
                <a:solidFill>
                  <a:srgbClr val="313131"/>
                </a:solidFill>
                <a:latin typeface="Arial"/>
                <a:cs typeface="Arial"/>
              </a:rPr>
              <a:t>an</a:t>
            </a:r>
            <a:r>
              <a:rPr dirty="0" sz="1150" spc="-3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imminent</a:t>
            </a:r>
            <a:r>
              <a:rPr dirty="0" sz="1150" spc="7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and</a:t>
            </a:r>
            <a:r>
              <a:rPr dirty="0" sz="1150" spc="-7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pervasive</a:t>
            </a:r>
            <a:r>
              <a:rPr dirty="0" sz="1150" spc="7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threat</a:t>
            </a:r>
            <a:r>
              <a:rPr dirty="0" sz="1150" spc="8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with</a:t>
            </a:r>
            <a:r>
              <a:rPr dirty="0" sz="1150" spc="-8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complex</a:t>
            </a:r>
            <a:r>
              <a:rPr dirty="0" sz="1150" spc="4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dynamics.</a:t>
            </a:r>
            <a:r>
              <a:rPr dirty="0" sz="1150" spc="7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Current </a:t>
            </a:r>
            <a:r>
              <a:rPr dirty="0" sz="1150" spc="-10">
                <a:solidFill>
                  <a:srgbClr val="313131"/>
                </a:solidFill>
                <a:latin typeface="Arial"/>
                <a:cs typeface="Arial"/>
              </a:rPr>
              <a:t>predictive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models</a:t>
            </a:r>
            <a:r>
              <a:rPr dirty="0" sz="1150" spc="3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often</a:t>
            </a:r>
            <a:r>
              <a:rPr dirty="0" sz="1150" spc="1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fail</a:t>
            </a:r>
            <a:r>
              <a:rPr dirty="0" sz="1150" spc="-3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to</a:t>
            </a:r>
            <a:r>
              <a:rPr dirty="0" sz="1150" spc="4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capture</a:t>
            </a:r>
            <a:r>
              <a:rPr dirty="0" sz="1150" spc="6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localized</a:t>
            </a:r>
            <a:r>
              <a:rPr dirty="0" sz="1150">
                <a:solidFill>
                  <a:srgbClr val="595959"/>
                </a:solidFill>
                <a:latin typeface="Arial"/>
                <a:cs typeface="Arial"/>
              </a:rPr>
              <a:t>,</a:t>
            </a:r>
            <a:r>
              <a:rPr dirty="0" sz="1150" spc="-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high-resolution</a:t>
            </a:r>
            <a:r>
              <a:rPr dirty="0" sz="1150" spc="-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climate</a:t>
            </a:r>
            <a:r>
              <a:rPr dirty="0" sz="1150" spc="6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impacts</a:t>
            </a:r>
            <a:r>
              <a:rPr dirty="0" sz="1150" spc="5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due</a:t>
            </a:r>
            <a:r>
              <a:rPr dirty="0" sz="1150" spc="3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to</a:t>
            </a:r>
            <a:r>
              <a:rPr dirty="0" sz="1150" spc="3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computational</a:t>
            </a:r>
            <a:r>
              <a:rPr dirty="0" sz="1150" spc="16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 spc="-25">
                <a:solidFill>
                  <a:srgbClr val="313131"/>
                </a:solidFill>
                <a:latin typeface="Arial"/>
                <a:cs typeface="Arial"/>
              </a:rPr>
              <a:t>and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conceptual</a:t>
            </a:r>
            <a:r>
              <a:rPr dirty="0" sz="1150" spc="6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A1A1A"/>
                </a:solidFill>
                <a:latin typeface="Arial"/>
                <a:cs typeface="Arial"/>
              </a:rPr>
              <a:t>limitations.</a:t>
            </a:r>
            <a:r>
              <a:rPr dirty="0" sz="1150" spc="15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Meanwhile</a:t>
            </a:r>
            <a:r>
              <a:rPr dirty="0" sz="1150">
                <a:solidFill>
                  <a:srgbClr val="595959"/>
                </a:solidFill>
                <a:latin typeface="Arial"/>
                <a:cs typeface="Arial"/>
              </a:rPr>
              <a:t>,</a:t>
            </a:r>
            <a:r>
              <a:rPr dirty="0" sz="1150" spc="-1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new</a:t>
            </a:r>
            <a:r>
              <a:rPr dirty="0" sz="1150" spc="-3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observational</a:t>
            </a:r>
            <a:r>
              <a:rPr dirty="0" sz="1150" spc="9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data</a:t>
            </a:r>
            <a:r>
              <a:rPr dirty="0" sz="1150" spc="1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(satellites</a:t>
            </a:r>
            <a:r>
              <a:rPr dirty="0" sz="1150">
                <a:solidFill>
                  <a:srgbClr val="595959"/>
                </a:solidFill>
                <a:latin typeface="Arial"/>
                <a:cs typeface="Arial"/>
              </a:rPr>
              <a:t>,</a:t>
            </a:r>
            <a:r>
              <a:rPr dirty="0" sz="1150" spc="-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sensors</a:t>
            </a:r>
            <a:r>
              <a:rPr dirty="0" sz="1150">
                <a:solidFill>
                  <a:srgbClr val="595959"/>
                </a:solidFill>
                <a:latin typeface="Arial"/>
                <a:cs typeface="Arial"/>
              </a:rPr>
              <a:t>,</a:t>
            </a:r>
            <a:r>
              <a:rPr dirty="0" sz="115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etc</a:t>
            </a:r>
            <a:r>
              <a:rPr dirty="0" sz="1150">
                <a:solidFill>
                  <a:srgbClr val="595959"/>
                </a:solidFill>
                <a:latin typeface="Arial"/>
                <a:cs typeface="Arial"/>
              </a:rPr>
              <a:t>.)</a:t>
            </a:r>
            <a:r>
              <a:rPr dirty="0" sz="1150" spc="8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suggest</a:t>
            </a:r>
            <a:r>
              <a:rPr dirty="0" sz="1150" spc="4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13131"/>
                </a:solidFill>
                <a:latin typeface="Arial"/>
                <a:cs typeface="Arial"/>
              </a:rPr>
              <a:t>that</a:t>
            </a:r>
            <a:r>
              <a:rPr dirty="0" sz="1150" spc="-10">
                <a:solidFill>
                  <a:srgbClr val="595959"/>
                </a:solidFill>
                <a:latin typeface="Arial"/>
                <a:cs typeface="Arial"/>
              </a:rPr>
              <a:t>,</a:t>
            </a:r>
            <a:endParaRPr sz="1150">
              <a:latin typeface="Arial"/>
              <a:cs typeface="Arial"/>
            </a:endParaRPr>
          </a:p>
          <a:p>
            <a:pPr algn="just" marL="52705">
              <a:lnSpc>
                <a:spcPts val="1065"/>
              </a:lnSpc>
            </a:pP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if</a:t>
            </a:r>
            <a:r>
              <a:rPr dirty="0" sz="1150" spc="11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quality</a:t>
            </a:r>
            <a:r>
              <a:rPr dirty="0" sz="1150" spc="7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issues</a:t>
            </a:r>
            <a:r>
              <a:rPr dirty="0" sz="1150" spc="6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are</a:t>
            </a:r>
            <a:r>
              <a:rPr dirty="0" sz="1150" spc="-4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addressed</a:t>
            </a:r>
            <a:r>
              <a:rPr dirty="0" sz="1150">
                <a:solidFill>
                  <a:srgbClr val="595959"/>
                </a:solidFill>
                <a:latin typeface="Arial"/>
                <a:cs typeface="Arial"/>
              </a:rPr>
              <a:t>,</a:t>
            </a:r>
            <a:r>
              <a:rPr dirty="0" sz="1150" spc="-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prediction</a:t>
            </a:r>
            <a:r>
              <a:rPr dirty="0" sz="1150" spc="8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accuracy</a:t>
            </a:r>
            <a:r>
              <a:rPr dirty="0" sz="1150" spc="11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and</a:t>
            </a:r>
            <a:r>
              <a:rPr dirty="0" sz="1150" spc="-8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granularity</a:t>
            </a:r>
            <a:r>
              <a:rPr dirty="0" sz="1150" spc="15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can</a:t>
            </a:r>
            <a:r>
              <a:rPr dirty="0" sz="1150" spc="-1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improve.</a:t>
            </a:r>
            <a:r>
              <a:rPr dirty="0" sz="1150" spc="4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A1A1A"/>
                </a:solidFill>
                <a:latin typeface="Arial"/>
                <a:cs typeface="Arial"/>
              </a:rPr>
              <a:t>However,</a:t>
            </a:r>
            <a:r>
              <a:rPr dirty="0" sz="1150" spc="5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13131"/>
                </a:solidFill>
                <a:latin typeface="Arial"/>
                <a:cs typeface="Arial"/>
              </a:rPr>
              <a:t>integrating</a:t>
            </a:r>
            <a:endParaRPr sz="1150">
              <a:latin typeface="Arial"/>
              <a:cs typeface="Arial"/>
            </a:endParaRPr>
          </a:p>
          <a:p>
            <a:pPr algn="just" marL="52705" marR="5080" indent="5715">
              <a:lnSpc>
                <a:spcPts val="1150"/>
              </a:lnSpc>
              <a:spcBef>
                <a:spcPts val="140"/>
              </a:spcBef>
            </a:pPr>
            <a:r>
              <a:rPr dirty="0" sz="1100" spc="60" b="1">
                <a:solidFill>
                  <a:srgbClr val="1A1A1A"/>
                </a:solidFill>
                <a:latin typeface="Arial"/>
                <a:cs typeface="Arial"/>
              </a:rPr>
              <a:t>ML</a:t>
            </a:r>
            <a:r>
              <a:rPr dirty="0" sz="1100" spc="-20" b="1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with</a:t>
            </a:r>
            <a:r>
              <a:rPr dirty="0" sz="1150" spc="5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climate</a:t>
            </a:r>
            <a:r>
              <a:rPr dirty="0" sz="1150" spc="2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data</a:t>
            </a:r>
            <a:r>
              <a:rPr dirty="0" sz="1150" spc="-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presents</a:t>
            </a:r>
            <a:r>
              <a:rPr dirty="0" sz="1150" spc="3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challenges:</a:t>
            </a:r>
            <a:r>
              <a:rPr dirty="0" sz="1150" spc="10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models</a:t>
            </a:r>
            <a:r>
              <a:rPr dirty="0" sz="1150" spc="5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must</a:t>
            </a:r>
            <a:r>
              <a:rPr dirty="0" sz="1150" spc="-1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A1A1A"/>
                </a:solidFill>
                <a:latin typeface="Arial"/>
                <a:cs typeface="Arial"/>
              </a:rPr>
              <a:t>handle</a:t>
            </a:r>
            <a:r>
              <a:rPr dirty="0" sz="1150" spc="3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A1A1A"/>
                </a:solidFill>
                <a:latin typeface="Arial"/>
                <a:cs typeface="Arial"/>
              </a:rPr>
              <a:t>noisy</a:t>
            </a:r>
            <a:r>
              <a:rPr dirty="0" sz="1150">
                <a:solidFill>
                  <a:srgbClr val="595959"/>
                </a:solidFill>
                <a:latin typeface="Arial"/>
                <a:cs typeface="Arial"/>
              </a:rPr>
              <a:t>,</a:t>
            </a:r>
            <a:r>
              <a:rPr dirty="0" sz="1150" spc="-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1A1A1A"/>
                </a:solidFill>
                <a:latin typeface="Arial"/>
                <a:cs typeface="Arial"/>
              </a:rPr>
              <a:t>multi-</a:t>
            </a:r>
            <a:r>
              <a:rPr dirty="0" sz="1150">
                <a:solidFill>
                  <a:srgbClr val="1A1A1A"/>
                </a:solidFill>
                <a:latin typeface="Arial"/>
                <a:cs typeface="Arial"/>
              </a:rPr>
              <a:t>source</a:t>
            </a:r>
            <a:r>
              <a:rPr dirty="0" sz="1150" spc="16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datasets</a:t>
            </a:r>
            <a:r>
              <a:rPr dirty="0" sz="1150" spc="7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and</a:t>
            </a:r>
            <a:r>
              <a:rPr dirty="0" sz="1150" spc="-20">
                <a:solidFill>
                  <a:srgbClr val="313131"/>
                </a:solidFill>
                <a:latin typeface="Arial"/>
                <a:cs typeface="Arial"/>
              </a:rPr>
              <a:t> avoid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overfitting</a:t>
            </a:r>
            <a:r>
              <a:rPr dirty="0" sz="1150" spc="6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while</a:t>
            </a:r>
            <a:r>
              <a:rPr dirty="0" sz="1150" spc="3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balancing</a:t>
            </a:r>
            <a:r>
              <a:rPr dirty="0" sz="1150" spc="10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interpretability</a:t>
            </a:r>
            <a:r>
              <a:rPr dirty="0" sz="1150" spc="2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and</a:t>
            </a:r>
            <a:r>
              <a:rPr dirty="0" sz="1150" spc="-3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predictive</a:t>
            </a:r>
            <a:r>
              <a:rPr dirty="0" sz="1150" spc="11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power</a:t>
            </a:r>
            <a:r>
              <a:rPr dirty="0" sz="1150">
                <a:solidFill>
                  <a:srgbClr val="595959"/>
                </a:solidFill>
                <a:latin typeface="Arial"/>
                <a:cs typeface="Arial"/>
              </a:rPr>
              <a:t>.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n</a:t>
            </a:r>
            <a:r>
              <a:rPr dirty="0" sz="1150" spc="5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this</a:t>
            </a:r>
            <a:r>
              <a:rPr dirty="0" sz="1150" spc="2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study</a:t>
            </a:r>
            <a:r>
              <a:rPr dirty="0" sz="1150">
                <a:solidFill>
                  <a:srgbClr val="595959"/>
                </a:solidFill>
                <a:latin typeface="Arial"/>
                <a:cs typeface="Arial"/>
              </a:rPr>
              <a:t>,</a:t>
            </a:r>
            <a:r>
              <a:rPr dirty="0" sz="1150" spc="-5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the</a:t>
            </a:r>
            <a:r>
              <a:rPr dirty="0" sz="1150" spc="-1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goal</a:t>
            </a:r>
            <a:r>
              <a:rPr dirty="0" sz="1150" spc="5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is</a:t>
            </a:r>
            <a:r>
              <a:rPr dirty="0" sz="1150" spc="8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to predict</a:t>
            </a:r>
            <a:r>
              <a:rPr dirty="0" sz="1150" spc="1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13131"/>
                </a:solidFill>
                <a:latin typeface="Arial"/>
                <a:cs typeface="Arial"/>
              </a:rPr>
              <a:t>averag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temperature</a:t>
            </a:r>
            <a:r>
              <a:rPr dirty="0" sz="1150" spc="114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(output)</a:t>
            </a:r>
            <a:r>
              <a:rPr dirty="0" sz="1150" spc="5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A1A1A"/>
                </a:solidFill>
                <a:latin typeface="Arial"/>
                <a:cs typeface="Arial"/>
              </a:rPr>
              <a:t>from</a:t>
            </a:r>
            <a:r>
              <a:rPr dirty="0" sz="1150" spc="-1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features</a:t>
            </a:r>
            <a:r>
              <a:rPr dirty="0" sz="1150" spc="7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like</a:t>
            </a:r>
            <a:r>
              <a:rPr dirty="0" sz="1150" spc="-1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year</a:t>
            </a:r>
            <a:r>
              <a:rPr dirty="0" sz="1150" spc="7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and</a:t>
            </a:r>
            <a:r>
              <a:rPr dirty="0" sz="1150" spc="-3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CO</a:t>
            </a:r>
            <a:r>
              <a:rPr dirty="0" sz="1150">
                <a:solidFill>
                  <a:srgbClr val="595959"/>
                </a:solidFill>
                <a:latin typeface="Arial"/>
                <a:cs typeface="Arial"/>
              </a:rPr>
              <a:t>2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concentration</a:t>
            </a:r>
            <a:r>
              <a:rPr dirty="0" sz="1150" spc="12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(inputs).</a:t>
            </a:r>
            <a:r>
              <a:rPr dirty="0" sz="1150" spc="7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By</a:t>
            </a:r>
            <a:r>
              <a:rPr dirty="0" sz="1150" spc="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doing</a:t>
            </a:r>
            <a:r>
              <a:rPr dirty="0" sz="1150" spc="-4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so</a:t>
            </a:r>
            <a:r>
              <a:rPr dirty="0" sz="1150" spc="11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we</a:t>
            </a:r>
            <a:r>
              <a:rPr dirty="0" sz="1150" spc="-8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595959"/>
                </a:solidFill>
                <a:latin typeface="Arial"/>
                <a:cs typeface="Arial"/>
              </a:rPr>
              <a:t>i</a:t>
            </a:r>
            <a:r>
              <a:rPr dirty="0" sz="1150" spc="-10">
                <a:solidFill>
                  <a:srgbClr val="313131"/>
                </a:solidFill>
                <a:latin typeface="Arial"/>
                <a:cs typeface="Arial"/>
              </a:rPr>
              <a:t>nvestigate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how</a:t>
            </a:r>
            <a:r>
              <a:rPr dirty="0" sz="1150" spc="-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 spc="65">
                <a:solidFill>
                  <a:srgbClr val="313131"/>
                </a:solidFill>
                <a:latin typeface="Arial"/>
                <a:cs typeface="Arial"/>
              </a:rPr>
              <a:t>ML</a:t>
            </a:r>
            <a:r>
              <a:rPr dirty="0" sz="1150" spc="-6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can</a:t>
            </a:r>
            <a:r>
              <a:rPr dirty="0" sz="1150" spc="-3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enhance</a:t>
            </a:r>
            <a:r>
              <a:rPr dirty="0" sz="1150" spc="12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forecasting</a:t>
            </a:r>
            <a:r>
              <a:rPr dirty="0" sz="1150" spc="8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of</a:t>
            </a:r>
            <a:r>
              <a:rPr dirty="0" sz="1150" spc="-2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climate</a:t>
            </a:r>
            <a:r>
              <a:rPr dirty="0" sz="1150" spc="-1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1A1A1A"/>
                </a:solidFill>
                <a:latin typeface="Arial"/>
                <a:cs typeface="Arial"/>
              </a:rPr>
              <a:t>indicators.</a:t>
            </a:r>
            <a:endParaRPr sz="1150">
              <a:latin typeface="Arial"/>
              <a:cs typeface="Arial"/>
            </a:endParaRPr>
          </a:p>
          <a:p>
            <a:pPr marL="52705" marR="300990" indent="-36830">
              <a:lnSpc>
                <a:spcPct val="83700"/>
              </a:lnSpc>
              <a:spcBef>
                <a:spcPts val="1265"/>
              </a:spcBef>
            </a:pPr>
            <a:r>
              <a:rPr dirty="0" sz="1150">
                <a:solidFill>
                  <a:srgbClr val="1A1A1A"/>
                </a:solidFill>
                <a:latin typeface="Arial"/>
                <a:cs typeface="Arial"/>
              </a:rPr>
              <a:t>The</a:t>
            </a:r>
            <a:r>
              <a:rPr dirty="0" sz="1150" spc="-9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problem is</a:t>
            </a:r>
            <a:r>
              <a:rPr dirty="0" sz="1150" spc="4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formulated</a:t>
            </a:r>
            <a:r>
              <a:rPr dirty="0" sz="1150" spc="1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 spc="50">
                <a:solidFill>
                  <a:srgbClr val="313131"/>
                </a:solidFill>
                <a:latin typeface="Arial"/>
                <a:cs typeface="Arial"/>
              </a:rPr>
              <a:t>as</a:t>
            </a:r>
            <a:r>
              <a:rPr dirty="0" sz="1150" spc="-2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 spc="55">
                <a:solidFill>
                  <a:srgbClr val="313131"/>
                </a:solidFill>
                <a:latin typeface="Arial"/>
                <a:cs typeface="Arial"/>
              </a:rPr>
              <a:t>a</a:t>
            </a:r>
            <a:r>
              <a:rPr dirty="0" sz="1150" spc="-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A1A1A"/>
                </a:solidFill>
                <a:latin typeface="Arial"/>
                <a:cs typeface="Arial"/>
              </a:rPr>
              <a:t>regression</a:t>
            </a:r>
            <a:r>
              <a:rPr dirty="0" sz="1150" spc="8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A1A1A"/>
                </a:solidFill>
                <a:latin typeface="Arial"/>
                <a:cs typeface="Arial"/>
              </a:rPr>
              <a:t>task</a:t>
            </a:r>
            <a:r>
              <a:rPr dirty="0" sz="1150">
                <a:solidFill>
                  <a:srgbClr val="595959"/>
                </a:solidFill>
                <a:latin typeface="Arial"/>
                <a:cs typeface="Arial"/>
              </a:rPr>
              <a:t>:</a:t>
            </a:r>
            <a:r>
              <a:rPr dirty="0" sz="1150" spc="-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Input</a:t>
            </a:r>
            <a:r>
              <a:rPr dirty="0" sz="1150" spc="18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dirty="0" sz="1150" spc="165">
                <a:solidFill>
                  <a:srgbClr val="595959"/>
                </a:solidFill>
                <a:latin typeface="Arial"/>
                <a:cs typeface="Arial"/>
              </a:rPr>
              <a:t> 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Output</a:t>
            </a:r>
            <a:r>
              <a:rPr dirty="0" sz="1150" spc="5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A1A1A"/>
                </a:solidFill>
                <a:latin typeface="Arial"/>
                <a:cs typeface="Arial"/>
              </a:rPr>
              <a:t>relationship</a:t>
            </a:r>
            <a:r>
              <a:rPr dirty="0" sz="1150">
                <a:solidFill>
                  <a:srgbClr val="595959"/>
                </a:solidFill>
                <a:latin typeface="Arial"/>
                <a:cs typeface="Arial"/>
              </a:rPr>
              <a:t>:</a:t>
            </a:r>
            <a:r>
              <a:rPr dirty="0" sz="1150" spc="4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Year</a:t>
            </a:r>
            <a:r>
              <a:rPr dirty="0" sz="1150">
                <a:solidFill>
                  <a:srgbClr val="595959"/>
                </a:solidFill>
                <a:latin typeface="Arial"/>
                <a:cs typeface="Arial"/>
              </a:rPr>
              <a:t>,</a:t>
            </a:r>
            <a:r>
              <a:rPr dirty="0" sz="1150" spc="-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CO</a:t>
            </a:r>
            <a:r>
              <a:rPr dirty="0" sz="1150">
                <a:solidFill>
                  <a:srgbClr val="595959"/>
                </a:solidFill>
                <a:latin typeface="Arial"/>
                <a:cs typeface="Arial"/>
              </a:rPr>
              <a:t>2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(inputs)</a:t>
            </a:r>
            <a:r>
              <a:rPr dirty="0" sz="1150" spc="29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 spc="-50">
                <a:solidFill>
                  <a:srgbClr val="595959"/>
                </a:solidFill>
                <a:latin typeface="Arial"/>
                <a:cs typeface="Arial"/>
              </a:rPr>
              <a:t>-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Average</a:t>
            </a:r>
            <a:r>
              <a:rPr dirty="0" sz="1150" spc="4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Temperature</a:t>
            </a:r>
            <a:r>
              <a:rPr dirty="0" sz="1150" spc="12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(target)</a:t>
            </a:r>
            <a:r>
              <a:rPr dirty="0" sz="1150">
                <a:solidFill>
                  <a:srgbClr val="595959"/>
                </a:solidFill>
                <a:latin typeface="Arial"/>
                <a:cs typeface="Arial"/>
              </a:rPr>
              <a:t>.</a:t>
            </a:r>
            <a:r>
              <a:rPr dirty="0" sz="1150" spc="-6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Our</a:t>
            </a:r>
            <a:r>
              <a:rPr dirty="0" sz="1150" spc="3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work</a:t>
            </a:r>
            <a:r>
              <a:rPr dirty="0" sz="1150" spc="3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addresses</a:t>
            </a:r>
            <a:r>
              <a:rPr dirty="0" sz="1150" spc="6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A1A1A"/>
                </a:solidFill>
                <a:latin typeface="Arial"/>
                <a:cs typeface="Arial"/>
              </a:rPr>
              <a:t>key</a:t>
            </a:r>
            <a:r>
              <a:rPr dirty="0" sz="1150" spc="-5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challenges</a:t>
            </a:r>
            <a:r>
              <a:rPr dirty="0" sz="1150" spc="13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(data</a:t>
            </a:r>
            <a:r>
              <a:rPr dirty="0" sz="1150" spc="-4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A1A1A"/>
                </a:solidFill>
                <a:latin typeface="Arial"/>
                <a:cs typeface="Arial"/>
              </a:rPr>
              <a:t>quality,</a:t>
            </a:r>
            <a:r>
              <a:rPr dirty="0" sz="1150" spc="50">
                <a:solidFill>
                  <a:srgbClr val="1A1A1A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feature</a:t>
            </a:r>
            <a:r>
              <a:rPr dirty="0" sz="1150" spc="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13131"/>
                </a:solidFill>
                <a:latin typeface="Arial"/>
                <a:cs typeface="Arial"/>
              </a:rPr>
              <a:t>selection</a:t>
            </a:r>
            <a:r>
              <a:rPr dirty="0" sz="1150" spc="-10">
                <a:solidFill>
                  <a:srgbClr val="595959"/>
                </a:solidFill>
                <a:latin typeface="Arial"/>
                <a:cs typeface="Arial"/>
              </a:rPr>
              <a:t>,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model</a:t>
            </a:r>
            <a:r>
              <a:rPr dirty="0" sz="1150" spc="3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robustness)</a:t>
            </a:r>
            <a:r>
              <a:rPr dirty="0" sz="1150" spc="114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to</a:t>
            </a:r>
            <a:r>
              <a:rPr dirty="0" sz="1150" spc="-4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improve</a:t>
            </a:r>
            <a:r>
              <a:rPr dirty="0" sz="1150" spc="6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climate</a:t>
            </a:r>
            <a:r>
              <a:rPr dirty="0" sz="1150" spc="2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13131"/>
                </a:solidFill>
                <a:latin typeface="Arial"/>
                <a:cs typeface="Arial"/>
              </a:rPr>
              <a:t>prediction</a:t>
            </a:r>
            <a:r>
              <a:rPr dirty="0" sz="1150" spc="8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13131"/>
                </a:solidFill>
                <a:latin typeface="Arial"/>
                <a:cs typeface="Arial"/>
              </a:rPr>
              <a:t>reliability.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3037" y="1286519"/>
            <a:ext cx="122809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283854"/>
                </a:solidFill>
                <a:latin typeface="Arial"/>
                <a:cs typeface="Arial"/>
              </a:rPr>
              <a:t>3.</a:t>
            </a:r>
            <a:r>
              <a:rPr dirty="0" sz="1500" spc="50" b="1">
                <a:solidFill>
                  <a:srgbClr val="283854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283854"/>
                </a:solidFill>
                <a:latin typeface="Arial"/>
                <a:cs typeface="Arial"/>
              </a:rPr>
              <a:t>Motivation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7876" y="1790397"/>
            <a:ext cx="4608830" cy="26790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244">
              <a:lnSpc>
                <a:spcPts val="1075"/>
              </a:lnSpc>
              <a:spcBef>
                <a:spcPts val="100"/>
              </a:spcBef>
            </a:pP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Rising</a:t>
            </a:r>
            <a:r>
              <a:rPr dirty="0" sz="950" spc="-3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Global</a:t>
            </a:r>
            <a:r>
              <a:rPr dirty="0" sz="950" spc="114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44444"/>
                </a:solidFill>
                <a:latin typeface="Arial"/>
                <a:cs typeface="Arial"/>
              </a:rPr>
              <a:t>Temperatures</a:t>
            </a:r>
            <a:endParaRPr sz="950">
              <a:latin typeface="Arial"/>
              <a:cs typeface="Arial"/>
            </a:endParaRPr>
          </a:p>
          <a:p>
            <a:pPr marL="53340">
              <a:lnSpc>
                <a:spcPts val="1075"/>
              </a:lnSpc>
            </a:pP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Increasing</a:t>
            </a:r>
            <a:r>
              <a:rPr dirty="0" sz="950" spc="5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temperatures</a:t>
            </a:r>
            <a:r>
              <a:rPr dirty="0" sz="950" spc="9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highlight</a:t>
            </a:r>
            <a:r>
              <a:rPr dirty="0" sz="950" spc="16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the</a:t>
            </a:r>
            <a:r>
              <a:rPr dirty="0" sz="950" spc="-3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urgent</a:t>
            </a:r>
            <a:r>
              <a:rPr dirty="0" sz="950" spc="6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need</a:t>
            </a:r>
            <a:r>
              <a:rPr dirty="0" sz="950" spc="2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for</a:t>
            </a:r>
            <a:r>
              <a:rPr dirty="0" sz="950" spc="9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accurate</a:t>
            </a:r>
            <a:r>
              <a:rPr dirty="0" sz="950" spc="3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prediction</a:t>
            </a:r>
            <a:r>
              <a:rPr dirty="0" sz="950" spc="114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44444"/>
                </a:solidFill>
                <a:latin typeface="Arial"/>
                <a:cs typeface="Arial"/>
              </a:rPr>
              <a:t>systems.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950">
              <a:latin typeface="Arial"/>
              <a:cs typeface="Arial"/>
            </a:endParaRPr>
          </a:p>
          <a:p>
            <a:pPr marL="17780">
              <a:lnSpc>
                <a:spcPts val="1075"/>
              </a:lnSpc>
            </a:pP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Frequent</a:t>
            </a:r>
            <a:r>
              <a:rPr dirty="0" sz="950" spc="8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33333"/>
                </a:solidFill>
                <a:latin typeface="Arial"/>
                <a:cs typeface="Arial"/>
              </a:rPr>
              <a:t>Natural</a:t>
            </a:r>
            <a:r>
              <a:rPr dirty="0" sz="950" spc="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333333"/>
                </a:solidFill>
                <a:latin typeface="Arial"/>
                <a:cs typeface="Arial"/>
              </a:rPr>
              <a:t>Disasters</a:t>
            </a:r>
            <a:endParaRPr sz="950">
              <a:latin typeface="Arial"/>
              <a:cs typeface="Arial"/>
            </a:endParaRPr>
          </a:p>
          <a:p>
            <a:pPr marL="15240">
              <a:lnSpc>
                <a:spcPts val="1075"/>
              </a:lnSpc>
            </a:pP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Growing</a:t>
            </a:r>
            <a:r>
              <a:rPr dirty="0" sz="950" spc="-3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incidents</a:t>
            </a:r>
            <a:r>
              <a:rPr dirty="0" sz="950" spc="11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of</a:t>
            </a:r>
            <a:r>
              <a:rPr dirty="0" sz="950" spc="15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floods,</a:t>
            </a:r>
            <a:r>
              <a:rPr dirty="0" sz="950" spc="2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droughts,</a:t>
            </a:r>
            <a:r>
              <a:rPr dirty="0" sz="950" spc="4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and</a:t>
            </a:r>
            <a:r>
              <a:rPr dirty="0" sz="950" spc="4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cyclones</a:t>
            </a:r>
            <a:r>
              <a:rPr dirty="0" sz="950" spc="11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require</a:t>
            </a:r>
            <a:r>
              <a:rPr dirty="0" sz="950" spc="2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better</a:t>
            </a:r>
            <a:r>
              <a:rPr dirty="0" sz="950" spc="9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forecasting</a:t>
            </a:r>
            <a:r>
              <a:rPr dirty="0" sz="950" spc="11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44444"/>
                </a:solidFill>
                <a:latin typeface="Arial"/>
                <a:cs typeface="Arial"/>
              </a:rPr>
              <a:t>tools.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ts val="1050"/>
              </a:lnSpc>
              <a:spcBef>
                <a:spcPts val="785"/>
              </a:spcBef>
            </a:pPr>
            <a:r>
              <a:rPr dirty="0" sz="950">
                <a:solidFill>
                  <a:srgbClr val="333333"/>
                </a:solidFill>
                <a:latin typeface="Arial"/>
                <a:cs typeface="Arial"/>
              </a:rPr>
              <a:t>Data</a:t>
            </a:r>
            <a:r>
              <a:rPr dirty="0" sz="950" spc="1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Explosion</a:t>
            </a:r>
            <a:r>
              <a:rPr dirty="0" sz="950" spc="6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in</a:t>
            </a:r>
            <a:r>
              <a:rPr dirty="0" sz="950" spc="9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Climate</a:t>
            </a:r>
            <a:r>
              <a:rPr dirty="0" sz="950" spc="5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44444"/>
                </a:solidFill>
                <a:latin typeface="Arial"/>
                <a:cs typeface="Arial"/>
              </a:rPr>
              <a:t>Science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dirty="0" sz="950" spc="20">
                <a:solidFill>
                  <a:srgbClr val="444444"/>
                </a:solidFill>
                <a:latin typeface="Arial"/>
                <a:cs typeface="Arial"/>
              </a:rPr>
              <a:t>Massive</a:t>
            </a:r>
            <a:r>
              <a:rPr dirty="0" sz="950" spc="-2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climate</a:t>
            </a:r>
            <a:r>
              <a:rPr dirty="0" sz="950" spc="-4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datasets</a:t>
            </a:r>
            <a:r>
              <a:rPr dirty="0" sz="950" spc="-1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444444"/>
                </a:solidFill>
                <a:latin typeface="Arial"/>
                <a:cs typeface="Arial"/>
              </a:rPr>
              <a:t>need</a:t>
            </a:r>
            <a:r>
              <a:rPr dirty="0" sz="950" spc="-12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advanced</a:t>
            </a:r>
            <a:r>
              <a:rPr dirty="0" sz="950" spc="-3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444444"/>
                </a:solidFill>
                <a:latin typeface="Arial"/>
                <a:cs typeface="Arial"/>
              </a:rPr>
              <a:t>tools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444444"/>
                </a:solidFill>
                <a:latin typeface="Arial"/>
                <a:cs typeface="Arial"/>
              </a:rPr>
              <a:t>like</a:t>
            </a:r>
            <a:r>
              <a:rPr dirty="0" sz="950" spc="-3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machine</a:t>
            </a:r>
            <a:r>
              <a:rPr dirty="0" sz="950" spc="-2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44444"/>
                </a:solidFill>
                <a:latin typeface="Arial"/>
                <a:cs typeface="Arial"/>
              </a:rPr>
              <a:t>learning</a:t>
            </a:r>
            <a:r>
              <a:rPr dirty="0" sz="950" spc="1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20">
                <a:solidFill>
                  <a:srgbClr val="333333"/>
                </a:solidFill>
                <a:latin typeface="Arial"/>
                <a:cs typeface="Arial"/>
              </a:rPr>
              <a:t>for</a:t>
            </a:r>
            <a:r>
              <a:rPr dirty="0" sz="950" spc="-4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44444"/>
                </a:solidFill>
                <a:latin typeface="Arial"/>
                <a:cs typeface="Arial"/>
              </a:rPr>
              <a:t>analysis.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ts val="1050"/>
              </a:lnSpc>
              <a:spcBef>
                <a:spcPts val="830"/>
              </a:spcBef>
            </a:pPr>
            <a:r>
              <a:rPr dirty="0" sz="950">
                <a:solidFill>
                  <a:srgbClr val="333333"/>
                </a:solidFill>
                <a:latin typeface="Arial"/>
                <a:cs typeface="Arial"/>
              </a:rPr>
              <a:t>Limitations</a:t>
            </a:r>
            <a:r>
              <a:rPr dirty="0" sz="950" spc="12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of</a:t>
            </a:r>
            <a:r>
              <a:rPr dirty="0" sz="950" spc="7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33333"/>
                </a:solidFill>
                <a:latin typeface="Arial"/>
                <a:cs typeface="Arial"/>
              </a:rPr>
              <a:t>Traditional</a:t>
            </a:r>
            <a:r>
              <a:rPr dirty="0" sz="950" spc="2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Models</a:t>
            </a:r>
            <a:r>
              <a:rPr dirty="0" sz="950" spc="6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44444"/>
                </a:solidFill>
                <a:latin typeface="Arial"/>
                <a:cs typeface="Arial"/>
              </a:rPr>
              <a:t>Conventional</a:t>
            </a:r>
            <a:endParaRPr sz="950">
              <a:latin typeface="Arial"/>
              <a:cs typeface="Arial"/>
            </a:endParaRPr>
          </a:p>
          <a:p>
            <a:pPr marL="47625">
              <a:lnSpc>
                <a:spcPts val="1050"/>
              </a:lnSpc>
            </a:pP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climate</a:t>
            </a:r>
            <a:r>
              <a:rPr dirty="0" sz="950" spc="9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models</a:t>
            </a:r>
            <a:r>
              <a:rPr dirty="0" sz="950" spc="6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can</a:t>
            </a:r>
            <a:r>
              <a:rPr dirty="0" sz="950" spc="-1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50">
                <a:solidFill>
                  <a:srgbClr val="444444"/>
                </a:solidFill>
                <a:latin typeface="Arial"/>
                <a:cs typeface="Arial"/>
              </a:rPr>
              <a:t>be</a:t>
            </a:r>
            <a:r>
              <a:rPr dirty="0" sz="950" spc="-2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slow</a:t>
            </a:r>
            <a:r>
              <a:rPr dirty="0" sz="950" spc="7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and</a:t>
            </a:r>
            <a:r>
              <a:rPr dirty="0" sz="950" spc="-7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less</a:t>
            </a:r>
            <a:r>
              <a:rPr dirty="0" sz="950" spc="6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adaptive</a:t>
            </a:r>
            <a:r>
              <a:rPr dirty="0" sz="950" spc="6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compared</a:t>
            </a:r>
            <a:r>
              <a:rPr dirty="0" sz="950" spc="6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to</a:t>
            </a:r>
            <a:r>
              <a:rPr dirty="0" sz="950" spc="16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Al-based</a:t>
            </a:r>
            <a:r>
              <a:rPr dirty="0" sz="950" spc="2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44444"/>
                </a:solidFill>
                <a:latin typeface="Arial"/>
                <a:cs typeface="Arial"/>
              </a:rPr>
              <a:t>approaches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950">
              <a:latin typeface="Arial"/>
              <a:cs typeface="Arial"/>
            </a:endParaRPr>
          </a:p>
          <a:p>
            <a:pPr marL="15875">
              <a:lnSpc>
                <a:spcPts val="1075"/>
              </a:lnSpc>
            </a:pP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Agricultural</a:t>
            </a:r>
            <a:r>
              <a:rPr dirty="0" sz="950" spc="3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333333"/>
                </a:solidFill>
                <a:latin typeface="Arial"/>
                <a:cs typeface="Arial"/>
              </a:rPr>
              <a:t>Dependency</a:t>
            </a:r>
            <a:endParaRPr sz="950">
              <a:latin typeface="Arial"/>
              <a:cs typeface="Arial"/>
            </a:endParaRPr>
          </a:p>
          <a:p>
            <a:pPr marL="15875">
              <a:lnSpc>
                <a:spcPts val="1075"/>
              </a:lnSpc>
            </a:pP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Countries</a:t>
            </a:r>
            <a:r>
              <a:rPr dirty="0" sz="950" spc="15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like</a:t>
            </a:r>
            <a:r>
              <a:rPr dirty="0" sz="950" spc="2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33333"/>
                </a:solidFill>
                <a:latin typeface="Arial"/>
                <a:cs typeface="Arial"/>
              </a:rPr>
              <a:t>India</a:t>
            </a:r>
            <a:r>
              <a:rPr dirty="0" sz="950" spc="6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depend</a:t>
            </a:r>
            <a:r>
              <a:rPr dirty="0" sz="950" spc="1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heavily</a:t>
            </a:r>
            <a:r>
              <a:rPr dirty="0" sz="950" spc="16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on</a:t>
            </a:r>
            <a:r>
              <a:rPr dirty="0" sz="950" spc="5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climate-sensitive</a:t>
            </a:r>
            <a:r>
              <a:rPr dirty="0" sz="950" spc="-3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44444"/>
                </a:solidFill>
                <a:latin typeface="Arial"/>
                <a:cs typeface="Arial"/>
              </a:rPr>
              <a:t>agriculture.</a:t>
            </a:r>
            <a:endParaRPr sz="9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950">
              <a:latin typeface="Arial"/>
              <a:cs typeface="Arial"/>
            </a:endParaRPr>
          </a:p>
          <a:p>
            <a:pPr marL="18415">
              <a:lnSpc>
                <a:spcPts val="1050"/>
              </a:lnSpc>
            </a:pPr>
            <a:r>
              <a:rPr dirty="0" sz="950">
                <a:solidFill>
                  <a:srgbClr val="333333"/>
                </a:solidFill>
                <a:latin typeface="Arial"/>
                <a:cs typeface="Arial"/>
              </a:rPr>
              <a:t>Environmental</a:t>
            </a:r>
            <a:r>
              <a:rPr dirty="0" sz="950" spc="6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333333"/>
                </a:solidFill>
                <a:latin typeface="Arial"/>
                <a:cs typeface="Arial"/>
              </a:rPr>
              <a:t>Sustainability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ts val="1050"/>
              </a:lnSpc>
            </a:pP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Need</a:t>
            </a:r>
            <a:r>
              <a:rPr dirty="0" sz="950" spc="3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333333"/>
                </a:solidFill>
                <a:latin typeface="Arial"/>
                <a:cs typeface="Arial"/>
              </a:rPr>
              <a:t>to</a:t>
            </a:r>
            <a:r>
              <a:rPr dirty="0" sz="950" spc="-35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protect</a:t>
            </a:r>
            <a:r>
              <a:rPr dirty="0" sz="950" spc="114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ecosystems</a:t>
            </a:r>
            <a:r>
              <a:rPr dirty="0" sz="950" spc="6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and</a:t>
            </a:r>
            <a:r>
              <a:rPr dirty="0" sz="950" spc="135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biodiversity</a:t>
            </a:r>
            <a:r>
              <a:rPr dirty="0" sz="950" spc="114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from</a:t>
            </a:r>
            <a:r>
              <a:rPr dirty="0" sz="950" spc="-1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44444"/>
                </a:solidFill>
                <a:latin typeface="Arial"/>
                <a:cs typeface="Arial"/>
              </a:rPr>
              <a:t>climate</a:t>
            </a:r>
            <a:r>
              <a:rPr dirty="0" sz="950" spc="10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44444"/>
                </a:solidFill>
                <a:latin typeface="Arial"/>
                <a:cs typeface="Arial"/>
              </a:rPr>
              <a:t>impacts.</a:t>
            </a:r>
            <a:endParaRPr sz="950">
              <a:latin typeface="Arial"/>
              <a:cs typeface="Arial"/>
            </a:endParaRPr>
          </a:p>
          <a:p>
            <a:pPr marL="3254375">
              <a:lnSpc>
                <a:spcPct val="100000"/>
              </a:lnSpc>
              <a:spcBef>
                <a:spcPts val="445"/>
              </a:spcBef>
            </a:pPr>
            <a:r>
              <a:rPr dirty="0" sz="1050" spc="-25">
                <a:solidFill>
                  <a:srgbClr val="444444"/>
                </a:solidFill>
                <a:latin typeface="Arial"/>
                <a:cs typeface="Arial"/>
              </a:rPr>
              <a:t>it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6778" y="1280154"/>
            <a:ext cx="6605270" cy="3267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7165">
              <a:lnSpc>
                <a:spcPct val="100000"/>
              </a:lnSpc>
              <a:spcBef>
                <a:spcPts val="100"/>
              </a:spcBef>
            </a:pPr>
            <a:r>
              <a:rPr dirty="0" sz="1550">
                <a:solidFill>
                  <a:srgbClr val="283654"/>
                </a:solidFill>
                <a:latin typeface="Arial"/>
                <a:cs typeface="Arial"/>
              </a:rPr>
              <a:t>4.</a:t>
            </a:r>
            <a:r>
              <a:rPr dirty="0" sz="1550" spc="-10">
                <a:solidFill>
                  <a:srgbClr val="283654"/>
                </a:solidFill>
                <a:latin typeface="Arial"/>
                <a:cs typeface="Arial"/>
              </a:rPr>
              <a:t> </a:t>
            </a:r>
            <a:r>
              <a:rPr dirty="0" sz="1550" spc="45">
                <a:solidFill>
                  <a:srgbClr val="283654"/>
                </a:solidFill>
                <a:latin typeface="Arial"/>
                <a:cs typeface="Arial"/>
              </a:rPr>
              <a:t>Objectives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25"/>
              </a:spcBef>
            </a:pPr>
            <a:endParaRPr sz="1550">
              <a:latin typeface="Arial"/>
              <a:cs typeface="Arial"/>
            </a:endParaRPr>
          </a:p>
          <a:p>
            <a:pPr marL="16510" marR="238125" indent="-4445">
              <a:lnSpc>
                <a:spcPts val="1250"/>
              </a:lnSpc>
            </a:pPr>
            <a:r>
              <a:rPr dirty="0" sz="1250" spc="10">
                <a:solidFill>
                  <a:srgbClr val="0C0C0C"/>
                </a:solidFill>
                <a:latin typeface="Arial"/>
                <a:cs typeface="Arial"/>
              </a:rPr>
              <a:t>.The</a:t>
            </a:r>
            <a:r>
              <a:rPr dirty="0" sz="1250" spc="-3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60">
                <a:solidFill>
                  <a:srgbClr val="0C0C0C"/>
                </a:solidFill>
                <a:latin typeface="Arial"/>
                <a:cs typeface="Arial"/>
              </a:rPr>
              <a:t>aim</a:t>
            </a:r>
            <a:r>
              <a:rPr dirty="0" sz="1250" spc="1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10">
                <a:solidFill>
                  <a:srgbClr val="0C0C0C"/>
                </a:solidFill>
                <a:latin typeface="Arial"/>
                <a:cs typeface="Arial"/>
              </a:rPr>
              <a:t>of</a:t>
            </a:r>
            <a:r>
              <a:rPr dirty="0" sz="1250" spc="100">
                <a:solidFill>
                  <a:srgbClr val="0C0C0C"/>
                </a:solidFill>
                <a:latin typeface="Arial"/>
                <a:cs typeface="Arial"/>
              </a:rPr>
              <a:t> this</a:t>
            </a:r>
            <a:r>
              <a:rPr dirty="0" sz="1250" spc="-3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10">
                <a:solidFill>
                  <a:srgbClr val="0C0C0C"/>
                </a:solidFill>
                <a:latin typeface="Arial"/>
                <a:cs typeface="Arial"/>
              </a:rPr>
              <a:t>experiment</a:t>
            </a:r>
            <a:r>
              <a:rPr dirty="0" sz="1250" spc="13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10">
                <a:solidFill>
                  <a:srgbClr val="0C0C0C"/>
                </a:solidFill>
                <a:latin typeface="Arial"/>
                <a:cs typeface="Arial"/>
              </a:rPr>
              <a:t>is</a:t>
            </a:r>
            <a:r>
              <a:rPr dirty="0" sz="1250" spc="17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10">
                <a:solidFill>
                  <a:srgbClr val="0C0C0C"/>
                </a:solidFill>
                <a:latin typeface="Arial"/>
                <a:cs typeface="Arial"/>
              </a:rPr>
              <a:t>to</a:t>
            </a:r>
            <a:r>
              <a:rPr dirty="0" sz="1250" spc="17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45">
                <a:solidFill>
                  <a:srgbClr val="0C0C0C"/>
                </a:solidFill>
                <a:latin typeface="Arial"/>
                <a:cs typeface="Arial"/>
              </a:rPr>
              <a:t>develop</a:t>
            </a:r>
            <a:r>
              <a:rPr dirty="0" sz="1250" spc="3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50">
                <a:solidFill>
                  <a:srgbClr val="0C0C0C"/>
                </a:solidFill>
                <a:latin typeface="Arial"/>
                <a:cs typeface="Arial"/>
              </a:rPr>
              <a:t>and</a:t>
            </a:r>
            <a:r>
              <a:rPr dirty="0" sz="1250" spc="3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10">
                <a:solidFill>
                  <a:srgbClr val="0C0C0C"/>
                </a:solidFill>
                <a:latin typeface="Arial"/>
                <a:cs typeface="Arial"/>
              </a:rPr>
              <a:t>evaluate</a:t>
            </a:r>
            <a:r>
              <a:rPr dirty="0" sz="1250" spc="5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55">
                <a:solidFill>
                  <a:srgbClr val="0C0C0C"/>
                </a:solidFill>
                <a:latin typeface="Arial"/>
                <a:cs typeface="Arial"/>
              </a:rPr>
              <a:t>machine</a:t>
            </a:r>
            <a:r>
              <a:rPr dirty="0" sz="1250" spc="4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50">
                <a:solidFill>
                  <a:srgbClr val="0C0C0C"/>
                </a:solidFill>
                <a:latin typeface="Arial"/>
                <a:cs typeface="Arial"/>
              </a:rPr>
              <a:t>learning</a:t>
            </a:r>
            <a:r>
              <a:rPr dirty="0" sz="1250" spc="5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65">
                <a:solidFill>
                  <a:srgbClr val="0C0C0C"/>
                </a:solidFill>
                <a:latin typeface="Arial"/>
                <a:cs typeface="Arial"/>
              </a:rPr>
              <a:t>models </a:t>
            </a:r>
            <a:r>
              <a:rPr dirty="0" sz="1250" spc="-25">
                <a:solidFill>
                  <a:srgbClr val="0C0C0C"/>
                </a:solidFill>
                <a:latin typeface="Arial"/>
                <a:cs typeface="Arial"/>
              </a:rPr>
              <a:t>for </a:t>
            </a:r>
            <a:r>
              <a:rPr dirty="0" sz="1250" spc="65">
                <a:solidFill>
                  <a:srgbClr val="0C0C0C"/>
                </a:solidFill>
                <a:latin typeface="Arial"/>
                <a:cs typeface="Arial"/>
              </a:rPr>
              <a:t>predicting</a:t>
            </a:r>
            <a:r>
              <a:rPr dirty="0" sz="1250" spc="12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0C0C0C"/>
                </a:solidFill>
                <a:latin typeface="Arial"/>
                <a:cs typeface="Arial"/>
              </a:rPr>
              <a:t>climate-</a:t>
            </a:r>
            <a:r>
              <a:rPr dirty="0" sz="1250" spc="50">
                <a:solidFill>
                  <a:srgbClr val="0C0C0C"/>
                </a:solidFill>
                <a:latin typeface="Arial"/>
                <a:cs typeface="Arial"/>
              </a:rPr>
              <a:t>related</a:t>
            </a:r>
            <a:r>
              <a:rPr dirty="0" sz="1250" spc="-1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50">
                <a:solidFill>
                  <a:srgbClr val="0C0C0C"/>
                </a:solidFill>
                <a:latin typeface="Arial"/>
                <a:cs typeface="Arial"/>
              </a:rPr>
              <a:t>variables</a:t>
            </a:r>
            <a:r>
              <a:rPr dirty="0" sz="1250" spc="12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0C0C0C"/>
                </a:solidFill>
                <a:latin typeface="Arial"/>
                <a:cs typeface="Arial"/>
              </a:rPr>
              <a:t>based</a:t>
            </a:r>
            <a:r>
              <a:rPr dirty="0" sz="1250" spc="6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0C0C0C"/>
                </a:solidFill>
                <a:latin typeface="Arial"/>
                <a:cs typeface="Arial"/>
              </a:rPr>
              <a:t>on</a:t>
            </a:r>
            <a:r>
              <a:rPr dirty="0" sz="1250" spc="229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45">
                <a:solidFill>
                  <a:srgbClr val="0C0C0C"/>
                </a:solidFill>
                <a:latin typeface="Arial"/>
                <a:cs typeface="Arial"/>
              </a:rPr>
              <a:t>environmental</a:t>
            </a:r>
            <a:r>
              <a:rPr dirty="0" sz="1250" spc="18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0C0C0C"/>
                </a:solidFill>
                <a:latin typeface="Arial"/>
                <a:cs typeface="Arial"/>
              </a:rPr>
              <a:t>parameters.</a:t>
            </a:r>
            <a:endParaRPr sz="1250">
              <a:latin typeface="Arial"/>
              <a:cs typeface="Arial"/>
            </a:endParaRPr>
          </a:p>
          <a:p>
            <a:pPr marL="19685">
              <a:lnSpc>
                <a:spcPts val="1250"/>
              </a:lnSpc>
            </a:pPr>
            <a:r>
              <a:rPr dirty="0" sz="1250" spc="50">
                <a:solidFill>
                  <a:srgbClr val="0C0C0C"/>
                </a:solidFill>
                <a:latin typeface="Arial"/>
                <a:cs typeface="Arial"/>
              </a:rPr>
              <a:t>Specifically</a:t>
            </a:r>
            <a:r>
              <a:rPr dirty="0" sz="1250" spc="50">
                <a:solidFill>
                  <a:srgbClr val="34363A"/>
                </a:solidFill>
                <a:latin typeface="Arial"/>
                <a:cs typeface="Arial"/>
              </a:rPr>
              <a:t>:</a:t>
            </a:r>
            <a:r>
              <a:rPr dirty="0" sz="1250" spc="35">
                <a:solidFill>
                  <a:srgbClr val="34363A"/>
                </a:solidFill>
                <a:latin typeface="Arial"/>
                <a:cs typeface="Arial"/>
              </a:rPr>
              <a:t> </a:t>
            </a:r>
            <a:r>
              <a:rPr dirty="0" sz="1250" spc="-50">
                <a:solidFill>
                  <a:srgbClr val="0C0C0C"/>
                </a:solidFill>
                <a:latin typeface="Arial"/>
                <a:cs typeface="Arial"/>
              </a:rPr>
              <a:t>-</a:t>
            </a:r>
            <a:endParaRPr sz="1250">
              <a:latin typeface="Arial"/>
              <a:cs typeface="Arial"/>
            </a:endParaRPr>
          </a:p>
          <a:p>
            <a:pPr marL="15240" marR="488315" indent="1270">
              <a:lnSpc>
                <a:spcPct val="166800"/>
              </a:lnSpc>
              <a:spcBef>
                <a:spcPts val="95"/>
              </a:spcBef>
            </a:pPr>
            <a:r>
              <a:rPr dirty="0" sz="1250" spc="75">
                <a:solidFill>
                  <a:srgbClr val="0C0C0C"/>
                </a:solidFill>
                <a:latin typeface="Arial"/>
                <a:cs typeface="Arial"/>
              </a:rPr>
              <a:t>To</a:t>
            </a:r>
            <a:r>
              <a:rPr dirty="0" sz="1250" spc="-6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90">
                <a:solidFill>
                  <a:srgbClr val="0C0C0C"/>
                </a:solidFill>
                <a:latin typeface="Arial"/>
                <a:cs typeface="Arial"/>
              </a:rPr>
              <a:t>build</a:t>
            </a:r>
            <a:r>
              <a:rPr dirty="0" sz="1250" spc="-4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65">
                <a:solidFill>
                  <a:srgbClr val="0C0C0C"/>
                </a:solidFill>
                <a:latin typeface="Arial"/>
                <a:cs typeface="Arial"/>
              </a:rPr>
              <a:t>robust</a:t>
            </a:r>
            <a:r>
              <a:rPr dirty="0" sz="1250" spc="5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50">
                <a:solidFill>
                  <a:srgbClr val="0C0C0C"/>
                </a:solidFill>
                <a:latin typeface="Arial"/>
                <a:cs typeface="Arial"/>
              </a:rPr>
              <a:t>predictive</a:t>
            </a:r>
            <a:r>
              <a:rPr dirty="0" sz="1250" spc="6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65">
                <a:solidFill>
                  <a:srgbClr val="0C0C0C"/>
                </a:solidFill>
                <a:latin typeface="Arial"/>
                <a:cs typeface="Arial"/>
              </a:rPr>
              <a:t>models</a:t>
            </a:r>
            <a:r>
              <a:rPr dirty="0" sz="1250" spc="-3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0C0C0C"/>
                </a:solidFill>
                <a:latin typeface="Arial"/>
                <a:cs typeface="Arial"/>
              </a:rPr>
              <a:t>(Linear</a:t>
            </a:r>
            <a:r>
              <a:rPr dirty="0" sz="1250" spc="9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50">
                <a:solidFill>
                  <a:srgbClr val="0C0C0C"/>
                </a:solidFill>
                <a:latin typeface="Arial"/>
                <a:cs typeface="Arial"/>
              </a:rPr>
              <a:t>Regression</a:t>
            </a:r>
            <a:r>
              <a:rPr dirty="0" sz="1250" spc="50">
                <a:solidFill>
                  <a:srgbClr val="34363A"/>
                </a:solidFill>
                <a:latin typeface="Arial"/>
                <a:cs typeface="Arial"/>
              </a:rPr>
              <a:t>,</a:t>
            </a:r>
            <a:r>
              <a:rPr dirty="0" sz="1250" spc="-80">
                <a:solidFill>
                  <a:srgbClr val="34363A"/>
                </a:solidFill>
                <a:latin typeface="Arial"/>
                <a:cs typeface="Arial"/>
              </a:rPr>
              <a:t> </a:t>
            </a:r>
            <a:r>
              <a:rPr dirty="0" sz="1250" spc="60">
                <a:solidFill>
                  <a:srgbClr val="0C0C0C"/>
                </a:solidFill>
                <a:latin typeface="Arial"/>
                <a:cs typeface="Arial"/>
              </a:rPr>
              <a:t>Random</a:t>
            </a:r>
            <a:r>
              <a:rPr dirty="0" sz="1250" spc="-4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50">
                <a:solidFill>
                  <a:srgbClr val="0C0C0C"/>
                </a:solidFill>
                <a:latin typeface="Arial"/>
                <a:cs typeface="Arial"/>
              </a:rPr>
              <a:t>Forest,</a:t>
            </a:r>
            <a:r>
              <a:rPr dirty="0" sz="1250" spc="-2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0C0C0C"/>
                </a:solidFill>
                <a:latin typeface="Arial"/>
                <a:cs typeface="Arial"/>
              </a:rPr>
              <a:t>Gradient </a:t>
            </a:r>
            <a:r>
              <a:rPr dirty="0" sz="1250" spc="55">
                <a:solidFill>
                  <a:srgbClr val="0C0C0C"/>
                </a:solidFill>
                <a:latin typeface="Arial"/>
                <a:cs typeface="Arial"/>
              </a:rPr>
              <a:t>Boosting)</a:t>
            </a:r>
            <a:r>
              <a:rPr dirty="0" sz="1250" spc="9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65">
                <a:solidFill>
                  <a:srgbClr val="0C0C0C"/>
                </a:solidFill>
                <a:latin typeface="Arial"/>
                <a:cs typeface="Arial"/>
              </a:rPr>
              <a:t>that</a:t>
            </a:r>
            <a:r>
              <a:rPr dirty="0" sz="1250" spc="2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50">
                <a:solidFill>
                  <a:srgbClr val="0C0C0C"/>
                </a:solidFill>
                <a:latin typeface="Arial"/>
                <a:cs typeface="Arial"/>
              </a:rPr>
              <a:t>forecast </a:t>
            </a:r>
            <a:r>
              <a:rPr dirty="0" sz="1250" spc="10">
                <a:solidFill>
                  <a:srgbClr val="0C0C0C"/>
                </a:solidFill>
                <a:latin typeface="Arial"/>
                <a:cs typeface="Arial"/>
              </a:rPr>
              <a:t>average</a:t>
            </a:r>
            <a:r>
              <a:rPr dirty="0" sz="1250" spc="-6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10">
                <a:solidFill>
                  <a:srgbClr val="0C0C0C"/>
                </a:solidFill>
                <a:latin typeface="Arial"/>
                <a:cs typeface="Arial"/>
              </a:rPr>
              <a:t>temperature</a:t>
            </a:r>
            <a:r>
              <a:rPr dirty="0" sz="1250" spc="14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80">
                <a:solidFill>
                  <a:srgbClr val="0C0C0C"/>
                </a:solidFill>
                <a:latin typeface="Arial"/>
                <a:cs typeface="Arial"/>
              </a:rPr>
              <a:t>using</a:t>
            </a:r>
            <a:r>
              <a:rPr dirty="0" sz="1250" spc="-2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75">
                <a:solidFill>
                  <a:srgbClr val="1F1F1F"/>
                </a:solidFill>
                <a:latin typeface="Arial"/>
                <a:cs typeface="Arial"/>
              </a:rPr>
              <a:t>inputs</a:t>
            </a:r>
            <a:r>
              <a:rPr dirty="0" sz="1250" spc="15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50" spc="70">
                <a:solidFill>
                  <a:srgbClr val="0C0C0C"/>
                </a:solidFill>
                <a:latin typeface="Arial"/>
                <a:cs typeface="Arial"/>
              </a:rPr>
              <a:t>like</a:t>
            </a:r>
            <a:r>
              <a:rPr dirty="0" sz="1250" spc="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10">
                <a:solidFill>
                  <a:srgbClr val="0C0C0C"/>
                </a:solidFill>
                <a:latin typeface="Arial"/>
                <a:cs typeface="Arial"/>
              </a:rPr>
              <a:t>year</a:t>
            </a:r>
            <a:r>
              <a:rPr dirty="0" sz="1250" spc="2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10">
                <a:solidFill>
                  <a:srgbClr val="0C0C0C"/>
                </a:solidFill>
                <a:latin typeface="Arial"/>
                <a:cs typeface="Arial"/>
              </a:rPr>
              <a:t>and</a:t>
            </a:r>
            <a:r>
              <a:rPr dirty="0" sz="1250" spc="14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150" spc="35">
                <a:solidFill>
                  <a:srgbClr val="0C0C0C"/>
                </a:solidFill>
                <a:latin typeface="Arial"/>
                <a:cs typeface="Arial"/>
              </a:rPr>
              <a:t>CO</a:t>
            </a:r>
            <a:r>
              <a:rPr dirty="0" sz="1150" spc="35">
                <a:solidFill>
                  <a:srgbClr val="34363A"/>
                </a:solidFill>
                <a:latin typeface="Arial"/>
                <a:cs typeface="Arial"/>
              </a:rPr>
              <a:t>2</a:t>
            </a:r>
            <a:endParaRPr sz="1150">
              <a:latin typeface="Arial"/>
              <a:cs typeface="Arial"/>
            </a:endParaRPr>
          </a:p>
          <a:p>
            <a:pPr marL="63500">
              <a:lnSpc>
                <a:spcPts val="1250"/>
              </a:lnSpc>
            </a:pPr>
            <a:r>
              <a:rPr dirty="0" sz="1250" spc="45">
                <a:solidFill>
                  <a:srgbClr val="0C0C0C"/>
                </a:solidFill>
                <a:latin typeface="Arial"/>
                <a:cs typeface="Arial"/>
              </a:rPr>
              <a:t>concentration.</a:t>
            </a:r>
            <a:endParaRPr sz="1250">
              <a:latin typeface="Arial"/>
              <a:cs typeface="Arial"/>
            </a:endParaRPr>
          </a:p>
          <a:p>
            <a:pPr marL="17145">
              <a:lnSpc>
                <a:spcPts val="1400"/>
              </a:lnSpc>
              <a:spcBef>
                <a:spcPts val="1005"/>
              </a:spcBef>
            </a:pPr>
            <a:r>
              <a:rPr dirty="0" sz="1250" spc="85">
                <a:solidFill>
                  <a:srgbClr val="0C0C0C"/>
                </a:solidFill>
                <a:latin typeface="Arial"/>
                <a:cs typeface="Arial"/>
              </a:rPr>
              <a:t>To</a:t>
            </a:r>
            <a:r>
              <a:rPr dirty="0" sz="1250" spc="-6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20">
                <a:solidFill>
                  <a:srgbClr val="0C0C0C"/>
                </a:solidFill>
                <a:latin typeface="Arial"/>
                <a:cs typeface="Arial"/>
              </a:rPr>
              <a:t>integrate</a:t>
            </a:r>
            <a:r>
              <a:rPr dirty="0" sz="1250" spc="2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50">
                <a:solidFill>
                  <a:srgbClr val="0C0C0C"/>
                </a:solidFill>
                <a:latin typeface="Arial"/>
                <a:cs typeface="Arial"/>
              </a:rPr>
              <a:t>diverse</a:t>
            </a:r>
            <a:r>
              <a:rPr dirty="0" sz="1250" spc="3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55">
                <a:solidFill>
                  <a:srgbClr val="0C0C0C"/>
                </a:solidFill>
                <a:latin typeface="Arial"/>
                <a:cs typeface="Arial"/>
              </a:rPr>
              <a:t>climate</a:t>
            </a:r>
            <a:r>
              <a:rPr dirty="0" sz="1250" spc="4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55">
                <a:solidFill>
                  <a:srgbClr val="0C0C0C"/>
                </a:solidFill>
                <a:latin typeface="Arial"/>
                <a:cs typeface="Arial"/>
              </a:rPr>
              <a:t>data</a:t>
            </a:r>
            <a:r>
              <a:rPr dirty="0" sz="1250" spc="-7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65">
                <a:solidFill>
                  <a:srgbClr val="0C0C0C"/>
                </a:solidFill>
                <a:latin typeface="Arial"/>
                <a:cs typeface="Arial"/>
              </a:rPr>
              <a:t>sources</a:t>
            </a:r>
            <a:r>
              <a:rPr dirty="0" sz="125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50">
                <a:solidFill>
                  <a:srgbClr val="0C0C0C"/>
                </a:solidFill>
                <a:latin typeface="Arial"/>
                <a:cs typeface="Arial"/>
              </a:rPr>
              <a:t>(synthetic</a:t>
            </a:r>
            <a:r>
              <a:rPr dirty="0" sz="1250" spc="12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65">
                <a:solidFill>
                  <a:srgbClr val="0C0C0C"/>
                </a:solidFill>
                <a:latin typeface="Arial"/>
                <a:cs typeface="Arial"/>
              </a:rPr>
              <a:t>data</a:t>
            </a:r>
            <a:r>
              <a:rPr dirty="0" sz="1250" spc="-12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20">
                <a:solidFill>
                  <a:srgbClr val="0C0C0C"/>
                </a:solidFill>
                <a:latin typeface="Arial"/>
                <a:cs typeface="Arial"/>
              </a:rPr>
              <a:t>patterned</a:t>
            </a:r>
            <a:r>
              <a:rPr dirty="0" sz="1250" spc="5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50">
                <a:solidFill>
                  <a:srgbClr val="1F1F1F"/>
                </a:solidFill>
                <a:latin typeface="Arial"/>
                <a:cs typeface="Arial"/>
              </a:rPr>
              <a:t>after</a:t>
            </a:r>
            <a:r>
              <a:rPr dirty="0" sz="1250" spc="15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C0C0C"/>
                </a:solidFill>
                <a:latin typeface="Arial"/>
                <a:cs typeface="Arial"/>
              </a:rPr>
              <a:t>NASA/NOAA</a:t>
            </a:r>
            <a:endParaRPr sz="1200">
              <a:latin typeface="Arial"/>
              <a:cs typeface="Arial"/>
            </a:endParaRPr>
          </a:p>
          <a:p>
            <a:pPr marL="59055">
              <a:lnSpc>
                <a:spcPts val="1400"/>
              </a:lnSpc>
            </a:pPr>
            <a:r>
              <a:rPr dirty="0" sz="1250" spc="60">
                <a:solidFill>
                  <a:srgbClr val="1F1F1F"/>
                </a:solidFill>
                <a:latin typeface="Arial"/>
                <a:cs typeface="Arial"/>
              </a:rPr>
              <a:t>records)</a:t>
            </a:r>
            <a:r>
              <a:rPr dirty="0" sz="1250" spc="-4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250" spc="50">
                <a:solidFill>
                  <a:srgbClr val="0C0C0C"/>
                </a:solidFill>
                <a:latin typeface="Arial"/>
                <a:cs typeface="Arial"/>
              </a:rPr>
              <a:t>to</a:t>
            </a:r>
            <a:r>
              <a:rPr dirty="0" sz="1250" spc="7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60">
                <a:solidFill>
                  <a:srgbClr val="0C0C0C"/>
                </a:solidFill>
                <a:latin typeface="Arial"/>
                <a:cs typeface="Arial"/>
              </a:rPr>
              <a:t>enrich</a:t>
            </a:r>
            <a:r>
              <a:rPr dirty="0" sz="1250" spc="-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70">
                <a:solidFill>
                  <a:srgbClr val="0C0C0C"/>
                </a:solidFill>
                <a:latin typeface="Arial"/>
                <a:cs typeface="Arial"/>
              </a:rPr>
              <a:t>model</a:t>
            </a:r>
            <a:r>
              <a:rPr dirty="0" sz="1250" spc="-8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55">
                <a:solidFill>
                  <a:srgbClr val="0C0C0C"/>
                </a:solidFill>
                <a:latin typeface="Arial"/>
                <a:cs typeface="Arial"/>
              </a:rPr>
              <a:t>inputs.</a:t>
            </a:r>
            <a:endParaRPr sz="1250">
              <a:latin typeface="Arial"/>
              <a:cs typeface="Arial"/>
            </a:endParaRPr>
          </a:p>
          <a:p>
            <a:pPr marL="59690" indent="-43180">
              <a:lnSpc>
                <a:spcPct val="100000"/>
              </a:lnSpc>
              <a:spcBef>
                <a:spcPts val="1000"/>
              </a:spcBef>
            </a:pPr>
            <a:r>
              <a:rPr dirty="0" sz="1250" spc="105">
                <a:solidFill>
                  <a:srgbClr val="0C0C0C"/>
                </a:solidFill>
                <a:latin typeface="Arial"/>
                <a:cs typeface="Arial"/>
              </a:rPr>
              <a:t>To</a:t>
            </a:r>
            <a:r>
              <a:rPr dirty="0" sz="1250" spc="-9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60">
                <a:solidFill>
                  <a:srgbClr val="0C0C0C"/>
                </a:solidFill>
                <a:latin typeface="Arial"/>
                <a:cs typeface="Arial"/>
              </a:rPr>
              <a:t>apply</a:t>
            </a:r>
            <a:r>
              <a:rPr dirty="0" sz="1250" spc="1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60">
                <a:solidFill>
                  <a:srgbClr val="0C0C0C"/>
                </a:solidFill>
                <a:latin typeface="Arial"/>
                <a:cs typeface="Arial"/>
              </a:rPr>
              <a:t>thorough</a:t>
            </a:r>
            <a:r>
              <a:rPr dirty="0" sz="1250" spc="65">
                <a:solidFill>
                  <a:srgbClr val="0C0C0C"/>
                </a:solidFill>
                <a:latin typeface="Arial"/>
                <a:cs typeface="Arial"/>
              </a:rPr>
              <a:t> data</a:t>
            </a:r>
            <a:r>
              <a:rPr dirty="0" sz="1250" spc="-14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55">
                <a:solidFill>
                  <a:srgbClr val="0C0C0C"/>
                </a:solidFill>
                <a:latin typeface="Arial"/>
                <a:cs typeface="Arial"/>
              </a:rPr>
              <a:t>preprocessing</a:t>
            </a:r>
            <a:r>
              <a:rPr dirty="0" sz="1250" spc="11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10">
                <a:solidFill>
                  <a:srgbClr val="0C0C0C"/>
                </a:solidFill>
                <a:latin typeface="Arial"/>
                <a:cs typeface="Arial"/>
              </a:rPr>
              <a:t>(cleaning,</a:t>
            </a:r>
            <a:r>
              <a:rPr dirty="0" sz="1250" spc="3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55">
                <a:solidFill>
                  <a:srgbClr val="0C0C0C"/>
                </a:solidFill>
                <a:latin typeface="Arial"/>
                <a:cs typeface="Arial"/>
              </a:rPr>
              <a:t>normalization)</a:t>
            </a:r>
            <a:r>
              <a:rPr dirty="0" sz="1250" spc="-7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50">
                <a:solidFill>
                  <a:srgbClr val="0C0C0C"/>
                </a:solidFill>
                <a:latin typeface="Arial"/>
                <a:cs typeface="Arial"/>
              </a:rPr>
              <a:t>for</a:t>
            </a:r>
            <a:r>
              <a:rPr dirty="0" sz="1250" spc="14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60">
                <a:solidFill>
                  <a:srgbClr val="0C0C0C"/>
                </a:solidFill>
                <a:latin typeface="Arial"/>
                <a:cs typeface="Arial"/>
              </a:rPr>
              <a:t>high-</a:t>
            </a:r>
            <a:r>
              <a:rPr dirty="0" sz="1250" spc="55">
                <a:solidFill>
                  <a:srgbClr val="0C0C0C"/>
                </a:solidFill>
                <a:latin typeface="Arial"/>
                <a:cs typeface="Arial"/>
              </a:rPr>
              <a:t>quality</a:t>
            </a:r>
            <a:r>
              <a:rPr dirty="0" sz="1250" spc="10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55">
                <a:solidFill>
                  <a:srgbClr val="0C0C0C"/>
                </a:solidFill>
                <a:latin typeface="Arial"/>
                <a:cs typeface="Arial"/>
              </a:rPr>
              <a:t>input.</a:t>
            </a:r>
            <a:endParaRPr sz="1250">
              <a:latin typeface="Arial"/>
              <a:cs typeface="Arial"/>
            </a:endParaRPr>
          </a:p>
          <a:p>
            <a:pPr marL="62865" marR="57785" indent="-3810">
              <a:lnSpc>
                <a:spcPts val="1300"/>
              </a:lnSpc>
              <a:spcBef>
                <a:spcPts val="1260"/>
              </a:spcBef>
            </a:pPr>
            <a:r>
              <a:rPr dirty="0" sz="1250" spc="105">
                <a:solidFill>
                  <a:srgbClr val="0C0C0C"/>
                </a:solidFill>
                <a:latin typeface="Arial"/>
                <a:cs typeface="Arial"/>
              </a:rPr>
              <a:t>To</a:t>
            </a:r>
            <a:r>
              <a:rPr dirty="0" sz="1250" spc="-9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55">
                <a:solidFill>
                  <a:srgbClr val="0C0C0C"/>
                </a:solidFill>
                <a:latin typeface="Arial"/>
                <a:cs typeface="Arial"/>
              </a:rPr>
              <a:t>compare</a:t>
            </a:r>
            <a:r>
              <a:rPr dirty="0" sz="1250" spc="-2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70">
                <a:solidFill>
                  <a:srgbClr val="0C0C0C"/>
                </a:solidFill>
                <a:latin typeface="Arial"/>
                <a:cs typeface="Arial"/>
              </a:rPr>
              <a:t>model</a:t>
            </a:r>
            <a:r>
              <a:rPr dirty="0" sz="1250" spc="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20">
                <a:solidFill>
                  <a:srgbClr val="0C0C0C"/>
                </a:solidFill>
                <a:latin typeface="Arial"/>
                <a:cs typeface="Arial"/>
              </a:rPr>
              <a:t>performance</a:t>
            </a:r>
            <a:r>
              <a:rPr dirty="0" sz="1250" spc="11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80">
                <a:solidFill>
                  <a:srgbClr val="0C0C0C"/>
                </a:solidFill>
                <a:latin typeface="Arial"/>
                <a:cs typeface="Arial"/>
              </a:rPr>
              <a:t>using</a:t>
            </a:r>
            <a:r>
              <a:rPr dirty="0" sz="1250" spc="-4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70">
                <a:solidFill>
                  <a:srgbClr val="0C0C0C"/>
                </a:solidFill>
                <a:latin typeface="Arial"/>
                <a:cs typeface="Arial"/>
              </a:rPr>
              <a:t>metrics</a:t>
            </a:r>
            <a:r>
              <a:rPr dirty="0" sz="125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70">
                <a:solidFill>
                  <a:srgbClr val="0C0C0C"/>
                </a:solidFill>
                <a:latin typeface="Arial"/>
                <a:cs typeface="Arial"/>
              </a:rPr>
              <a:t>like</a:t>
            </a:r>
            <a:r>
              <a:rPr dirty="0" sz="1250" spc="-5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20">
                <a:solidFill>
                  <a:srgbClr val="0C0C0C"/>
                </a:solidFill>
                <a:latin typeface="Arial"/>
                <a:cs typeface="Arial"/>
              </a:rPr>
              <a:t>MSE,</a:t>
            </a:r>
            <a:r>
              <a:rPr dirty="0" sz="1250" spc="-7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70">
                <a:solidFill>
                  <a:srgbClr val="0C0C0C"/>
                </a:solidFill>
                <a:latin typeface="Arial"/>
                <a:cs typeface="Arial"/>
              </a:rPr>
              <a:t>$R"2$,</a:t>
            </a:r>
            <a:r>
              <a:rPr dirty="0" sz="1250" spc="-7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70">
                <a:solidFill>
                  <a:srgbClr val="0C0C0C"/>
                </a:solidFill>
                <a:latin typeface="Arial"/>
                <a:cs typeface="Arial"/>
              </a:rPr>
              <a:t>and</a:t>
            </a:r>
            <a:r>
              <a:rPr dirty="0" sz="1250" spc="-5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20">
                <a:solidFill>
                  <a:srgbClr val="0C0C0C"/>
                </a:solidFill>
                <a:latin typeface="Arial"/>
                <a:cs typeface="Arial"/>
              </a:rPr>
              <a:t>MAE,</a:t>
            </a:r>
            <a:r>
              <a:rPr dirty="0" sz="1250" spc="-2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45">
                <a:solidFill>
                  <a:srgbClr val="0C0C0C"/>
                </a:solidFill>
                <a:latin typeface="Arial"/>
                <a:cs typeface="Arial"/>
              </a:rPr>
              <a:t>identifying </a:t>
            </a:r>
            <a:r>
              <a:rPr dirty="0" sz="1250" spc="85">
                <a:solidFill>
                  <a:srgbClr val="0C0C0C"/>
                </a:solidFill>
                <a:latin typeface="Arial"/>
                <a:cs typeface="Arial"/>
              </a:rPr>
              <a:t>which</a:t>
            </a:r>
            <a:r>
              <a:rPr dirty="0" sz="1250" spc="-5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50">
                <a:solidFill>
                  <a:srgbClr val="0C0C0C"/>
                </a:solidFill>
                <a:latin typeface="Arial"/>
                <a:cs typeface="Arial"/>
              </a:rPr>
              <a:t>techniques</a:t>
            </a:r>
            <a:r>
              <a:rPr dirty="0" sz="1250" spc="1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60">
                <a:solidFill>
                  <a:srgbClr val="0C0C0C"/>
                </a:solidFill>
                <a:latin typeface="Arial"/>
                <a:cs typeface="Arial"/>
              </a:rPr>
              <a:t>best</a:t>
            </a:r>
            <a:r>
              <a:rPr dirty="0" sz="1250" spc="-6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55">
                <a:solidFill>
                  <a:srgbClr val="0C0C0C"/>
                </a:solidFill>
                <a:latin typeface="Arial"/>
                <a:cs typeface="Arial"/>
              </a:rPr>
              <a:t>capture</a:t>
            </a:r>
            <a:r>
              <a:rPr dirty="0" sz="1250" spc="-6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55">
                <a:solidFill>
                  <a:srgbClr val="0C0C0C"/>
                </a:solidFill>
                <a:latin typeface="Arial"/>
                <a:cs typeface="Arial"/>
              </a:rPr>
              <a:t>climate</a:t>
            </a:r>
            <a:r>
              <a:rPr dirty="0" sz="1250" spc="10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0C0C0C"/>
                </a:solidFill>
                <a:latin typeface="Arial"/>
                <a:cs typeface="Arial"/>
              </a:rPr>
              <a:t>trends.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7384" y="873792"/>
            <a:ext cx="1324610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b="1">
                <a:solidFill>
                  <a:srgbClr val="343434"/>
                </a:solidFill>
                <a:latin typeface="Arial"/>
                <a:cs typeface="Arial"/>
              </a:rPr>
              <a:t>LITERATURE</a:t>
            </a:r>
            <a:r>
              <a:rPr dirty="0" sz="950" spc="20" b="1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950" spc="-10" b="1">
                <a:solidFill>
                  <a:srgbClr val="343434"/>
                </a:solidFill>
                <a:latin typeface="Arial"/>
                <a:cs typeface="Arial"/>
              </a:rPr>
              <a:t>REVIEW</a:t>
            </a:r>
            <a:endParaRPr sz="9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0629" y="1618279"/>
            <a:ext cx="6690995" cy="1386840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12700" marR="5080" indent="4445">
              <a:lnSpc>
                <a:spcPct val="84800"/>
              </a:lnSpc>
              <a:spcBef>
                <a:spcPts val="310"/>
              </a:spcBef>
            </a:pPr>
            <a:r>
              <a:rPr dirty="0" sz="1150" spc="10">
                <a:solidFill>
                  <a:srgbClr val="343434"/>
                </a:solidFill>
                <a:latin typeface="Arial"/>
                <a:cs typeface="Arial"/>
              </a:rPr>
              <a:t>Modern</a:t>
            </a:r>
            <a:r>
              <a:rPr dirty="0" sz="1150" spc="-2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 spc="10">
                <a:solidFill>
                  <a:srgbClr val="343434"/>
                </a:solidFill>
                <a:latin typeface="Arial"/>
                <a:cs typeface="Arial"/>
              </a:rPr>
              <a:t>climate</a:t>
            </a:r>
            <a:r>
              <a:rPr dirty="0" sz="1150" spc="2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 spc="10">
                <a:solidFill>
                  <a:srgbClr val="343434"/>
                </a:solidFill>
                <a:latin typeface="Arial"/>
                <a:cs typeface="Arial"/>
              </a:rPr>
              <a:t>change</a:t>
            </a:r>
            <a:r>
              <a:rPr dirty="0" sz="1150" spc="-1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 spc="10">
                <a:solidFill>
                  <a:srgbClr val="343434"/>
                </a:solidFill>
                <a:latin typeface="Arial"/>
                <a:cs typeface="Arial"/>
              </a:rPr>
              <a:t>analysis</a:t>
            </a:r>
            <a:r>
              <a:rPr dirty="0" sz="1150" spc="-2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 spc="10">
                <a:solidFill>
                  <a:srgbClr val="343434"/>
                </a:solidFill>
                <a:latin typeface="Arial"/>
                <a:cs typeface="Arial"/>
              </a:rPr>
              <a:t>has</a:t>
            </a:r>
            <a:r>
              <a:rPr dirty="0" sz="1150" spc="-2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 spc="10">
                <a:solidFill>
                  <a:srgbClr val="343434"/>
                </a:solidFill>
                <a:latin typeface="Arial"/>
                <a:cs typeface="Arial"/>
              </a:rPr>
              <a:t>evolved</a:t>
            </a:r>
            <a:r>
              <a:rPr dirty="0" sz="1150" spc="-1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 spc="10">
                <a:solidFill>
                  <a:srgbClr val="1F1F1F"/>
                </a:solidFill>
                <a:latin typeface="Arial"/>
                <a:cs typeface="Arial"/>
              </a:rPr>
              <a:t>into</a:t>
            </a:r>
            <a:r>
              <a:rPr dirty="0" sz="1150" spc="-75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150" spc="10">
                <a:solidFill>
                  <a:srgbClr val="343434"/>
                </a:solidFill>
                <a:latin typeface="Arial"/>
                <a:cs typeface="Arial"/>
              </a:rPr>
              <a:t>a</a:t>
            </a:r>
            <a:r>
              <a:rPr dirty="0" sz="1150" spc="-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 spc="10">
                <a:solidFill>
                  <a:srgbClr val="1F1F1F"/>
                </a:solidFill>
                <a:latin typeface="Arial"/>
                <a:cs typeface="Arial"/>
              </a:rPr>
              <a:t>multidisciplinary</a:t>
            </a:r>
            <a:r>
              <a:rPr dirty="0" sz="1150" spc="-9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effort</a:t>
            </a:r>
            <a:r>
              <a:rPr dirty="0" sz="1150" spc="-3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 spc="10">
                <a:solidFill>
                  <a:srgbClr val="343434"/>
                </a:solidFill>
                <a:latin typeface="Arial"/>
                <a:cs typeface="Arial"/>
              </a:rPr>
              <a:t>where</a:t>
            </a:r>
            <a:r>
              <a:rPr dirty="0" sz="1150" spc="-1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 spc="10">
                <a:solidFill>
                  <a:srgbClr val="343434"/>
                </a:solidFill>
                <a:latin typeface="Arial"/>
                <a:cs typeface="Arial"/>
              </a:rPr>
              <a:t>machine</a:t>
            </a:r>
            <a:r>
              <a:rPr dirty="0" sz="1150" spc="-2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1F1F1F"/>
                </a:solidFill>
                <a:latin typeface="Arial"/>
                <a:cs typeface="Arial"/>
              </a:rPr>
              <a:t>learning </a:t>
            </a:r>
            <a:r>
              <a:rPr dirty="0" sz="1150">
                <a:solidFill>
                  <a:srgbClr val="1F1F1F"/>
                </a:solidFill>
                <a:latin typeface="Arial"/>
                <a:cs typeface="Arial"/>
              </a:rPr>
              <a:t>bridges</a:t>
            </a:r>
            <a:r>
              <a:rPr dirty="0" sz="1150" spc="25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the</a:t>
            </a:r>
            <a:r>
              <a:rPr dirty="0" sz="1150" spc="5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gap</a:t>
            </a:r>
            <a:r>
              <a:rPr dirty="0" sz="1150" spc="1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F1F1F"/>
                </a:solidFill>
                <a:latin typeface="Arial"/>
                <a:cs typeface="Arial"/>
              </a:rPr>
              <a:t>between</a:t>
            </a:r>
            <a:r>
              <a:rPr dirty="0" sz="1150" spc="65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F1F1F"/>
                </a:solidFill>
                <a:latin typeface="Arial"/>
                <a:cs typeface="Arial"/>
              </a:rPr>
              <a:t>historical</a:t>
            </a:r>
            <a:r>
              <a:rPr dirty="0" sz="1150" spc="4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F1F1F"/>
                </a:solidFill>
                <a:latin typeface="Arial"/>
                <a:cs typeface="Arial"/>
              </a:rPr>
              <a:t>data</a:t>
            </a:r>
            <a:r>
              <a:rPr dirty="0" sz="1150" spc="1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and</a:t>
            </a:r>
            <a:r>
              <a:rPr dirty="0" sz="1150" spc="-2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future</a:t>
            </a:r>
            <a:r>
              <a:rPr dirty="0" sz="1150" spc="5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uncertainty.</a:t>
            </a:r>
            <a:r>
              <a:rPr dirty="0" sz="1150" spc="12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Literature</a:t>
            </a:r>
            <a:r>
              <a:rPr dirty="0" sz="1150" spc="10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from</a:t>
            </a:r>
            <a:r>
              <a:rPr dirty="0" sz="1150" spc="6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2024-2026</a:t>
            </a:r>
            <a:r>
              <a:rPr dirty="0" sz="1150" spc="10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43434"/>
                </a:solidFill>
                <a:latin typeface="Arial"/>
                <a:cs typeface="Arial"/>
              </a:rPr>
              <a:t>emphasize </a:t>
            </a:r>
            <a:r>
              <a:rPr dirty="0" sz="1150">
                <a:solidFill>
                  <a:srgbClr val="1F1F1F"/>
                </a:solidFill>
                <a:latin typeface="Arial"/>
                <a:cs typeface="Arial"/>
              </a:rPr>
              <a:t>Furthermore,</a:t>
            </a:r>
            <a:r>
              <a:rPr dirty="0" sz="1150" spc="10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current</a:t>
            </a:r>
            <a:r>
              <a:rPr dirty="0" sz="1150" spc="5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F1F1F"/>
                </a:solidFill>
                <a:latin typeface="Arial"/>
                <a:cs typeface="Arial"/>
              </a:rPr>
              <a:t>research</a:t>
            </a:r>
            <a:r>
              <a:rPr dirty="0" sz="1150" spc="35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focuses</a:t>
            </a:r>
            <a:r>
              <a:rPr dirty="0" sz="1150" spc="4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heavily</a:t>
            </a:r>
            <a:r>
              <a:rPr dirty="0" sz="1150" spc="11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on</a:t>
            </a:r>
            <a:r>
              <a:rPr dirty="0" sz="1150" spc="-1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F1F1F"/>
                </a:solidFill>
                <a:latin typeface="Arial"/>
                <a:cs typeface="Arial"/>
              </a:rPr>
              <a:t>the</a:t>
            </a:r>
            <a:r>
              <a:rPr dirty="0" sz="1150" spc="-4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use</a:t>
            </a:r>
            <a:r>
              <a:rPr dirty="0" sz="1150" spc="2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of</a:t>
            </a:r>
            <a:r>
              <a:rPr dirty="0" sz="1150" spc="4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ensemble</a:t>
            </a:r>
            <a:r>
              <a:rPr dirty="0" sz="1150" spc="5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F1F1F"/>
                </a:solidFill>
                <a:latin typeface="Arial"/>
                <a:cs typeface="Arial"/>
              </a:rPr>
              <a:t>techniques</a:t>
            </a:r>
            <a:r>
              <a:rPr dirty="0" sz="1150" spc="65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F1F1F"/>
                </a:solidFill>
                <a:latin typeface="Arial"/>
                <a:cs typeface="Arial"/>
              </a:rPr>
              <a:t>like</a:t>
            </a:r>
            <a:r>
              <a:rPr dirty="0" sz="1150" spc="-5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1F1F1F"/>
                </a:solidFill>
                <a:latin typeface="Arial"/>
                <a:cs typeface="Arial"/>
              </a:rPr>
              <a:t>Random</a:t>
            </a:r>
            <a:r>
              <a:rPr dirty="0" sz="1150" spc="50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F1F1F"/>
                </a:solidFill>
                <a:latin typeface="Arial"/>
                <a:cs typeface="Arial"/>
              </a:rPr>
              <a:t>Forest</a:t>
            </a:r>
            <a:r>
              <a:rPr dirty="0" sz="1150" spc="25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and</a:t>
            </a:r>
            <a:r>
              <a:rPr dirty="0" sz="1150" spc="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XGBoost</a:t>
            </a:r>
            <a:r>
              <a:rPr dirty="0" sz="1150" spc="3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to</a:t>
            </a:r>
            <a:r>
              <a:rPr dirty="0" sz="1150" spc="10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classify</a:t>
            </a:r>
            <a:r>
              <a:rPr dirty="0" sz="1150" spc="8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extreme</a:t>
            </a:r>
            <a:r>
              <a:rPr dirty="0" sz="1150" spc="6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weather</a:t>
            </a:r>
            <a:r>
              <a:rPr dirty="0" sz="1150" spc="114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F1F1F"/>
                </a:solidFill>
                <a:latin typeface="Arial"/>
                <a:cs typeface="Arial"/>
              </a:rPr>
              <a:t>risks</a:t>
            </a:r>
            <a:r>
              <a:rPr dirty="0" sz="1150">
                <a:solidFill>
                  <a:srgbClr val="646464"/>
                </a:solidFill>
                <a:latin typeface="Arial"/>
                <a:cs typeface="Arial"/>
              </a:rPr>
              <a:t>,</a:t>
            </a:r>
            <a:r>
              <a:rPr dirty="0" sz="1150" spc="15">
                <a:solidFill>
                  <a:srgbClr val="64646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such</a:t>
            </a:r>
            <a:r>
              <a:rPr dirty="0" sz="1150" spc="-1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 spc="50">
                <a:solidFill>
                  <a:srgbClr val="343434"/>
                </a:solidFill>
                <a:latin typeface="Arial"/>
                <a:cs typeface="Arial"/>
              </a:rPr>
              <a:t>as</a:t>
            </a:r>
            <a:r>
              <a:rPr dirty="0" sz="1150" spc="-9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F1F1F"/>
                </a:solidFill>
                <a:latin typeface="Arial"/>
                <a:cs typeface="Arial"/>
              </a:rPr>
              <a:t>the</a:t>
            </a:r>
            <a:r>
              <a:rPr dirty="0" sz="1150" spc="-35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F1F1F"/>
                </a:solidFill>
                <a:latin typeface="Arial"/>
                <a:cs typeface="Arial"/>
              </a:rPr>
              <a:t>likelihood</a:t>
            </a:r>
            <a:r>
              <a:rPr dirty="0" sz="1150" spc="25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of</a:t>
            </a:r>
            <a:r>
              <a:rPr dirty="0" sz="1150" spc="1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F1F1F"/>
                </a:solidFill>
                <a:latin typeface="Arial"/>
                <a:cs typeface="Arial"/>
              </a:rPr>
              <a:t>localized</a:t>
            </a:r>
            <a:r>
              <a:rPr dirty="0" sz="1150" spc="-1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43434"/>
                </a:solidFill>
                <a:latin typeface="Arial"/>
                <a:cs typeface="Arial"/>
              </a:rPr>
              <a:t>flooding</a:t>
            </a:r>
            <a:endParaRPr sz="1150">
              <a:latin typeface="Arial"/>
              <a:cs typeface="Arial"/>
            </a:endParaRPr>
          </a:p>
          <a:p>
            <a:pPr marL="13335" marR="56515" indent="40005">
              <a:lnSpc>
                <a:spcPts val="1150"/>
              </a:lnSpc>
              <a:spcBef>
                <a:spcPts val="5"/>
              </a:spcBef>
            </a:pP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or</a:t>
            </a:r>
            <a:r>
              <a:rPr dirty="0" sz="1150" spc="5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F1F1F"/>
                </a:solidFill>
                <a:latin typeface="Arial"/>
                <a:cs typeface="Arial"/>
              </a:rPr>
              <a:t>heatwaves</a:t>
            </a:r>
            <a:r>
              <a:rPr dirty="0" sz="1150">
                <a:solidFill>
                  <a:srgbClr val="525252"/>
                </a:solidFill>
                <a:latin typeface="Arial"/>
                <a:cs typeface="Arial"/>
              </a:rPr>
              <a:t>.</a:t>
            </a:r>
            <a:r>
              <a:rPr dirty="0" sz="1150" spc="-3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F1F1F"/>
                </a:solidFill>
                <a:latin typeface="Arial"/>
                <a:cs typeface="Arial"/>
              </a:rPr>
              <a:t>Beyond</a:t>
            </a:r>
            <a:r>
              <a:rPr dirty="0" sz="1150" spc="2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simple</a:t>
            </a:r>
            <a:r>
              <a:rPr dirty="0" sz="1150" spc="3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temperature</a:t>
            </a:r>
            <a:r>
              <a:rPr dirty="0" sz="1150" spc="14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tracking,</a:t>
            </a:r>
            <a:r>
              <a:rPr dirty="0" sz="1150" spc="-2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the</a:t>
            </a:r>
            <a:r>
              <a:rPr dirty="0" sz="1150" spc="-1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F1F1F"/>
                </a:solidFill>
                <a:latin typeface="Arial"/>
                <a:cs typeface="Arial"/>
              </a:rPr>
              <a:t>literature</a:t>
            </a:r>
            <a:r>
              <a:rPr dirty="0" sz="1150" spc="10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highlights</a:t>
            </a:r>
            <a:r>
              <a:rPr dirty="0" sz="1150" spc="9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F1F1F"/>
                </a:solidFill>
                <a:latin typeface="Arial"/>
                <a:cs typeface="Arial"/>
              </a:rPr>
              <a:t>how</a:t>
            </a:r>
            <a:r>
              <a:rPr dirty="0" sz="1150" spc="25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ML</a:t>
            </a:r>
            <a:r>
              <a:rPr dirty="0" sz="1150" spc="-1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is</a:t>
            </a:r>
            <a:r>
              <a:rPr dirty="0" sz="1150" spc="2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being</a:t>
            </a:r>
            <a:r>
              <a:rPr dirty="0" sz="1150" spc="3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43434"/>
                </a:solidFill>
                <a:latin typeface="Arial"/>
                <a:cs typeface="Arial"/>
              </a:rPr>
              <a:t>applied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to</a:t>
            </a:r>
            <a:r>
              <a:rPr dirty="0" sz="1150" spc="2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optimize</a:t>
            </a:r>
            <a:r>
              <a:rPr dirty="0" sz="1150" spc="9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carbon</a:t>
            </a:r>
            <a:r>
              <a:rPr dirty="0" sz="1150" spc="3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sequestration</a:t>
            </a:r>
            <a:r>
              <a:rPr dirty="0" sz="1150" spc="15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strategies</a:t>
            </a:r>
            <a:r>
              <a:rPr dirty="0" sz="1150" spc="4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and</a:t>
            </a:r>
            <a:r>
              <a:rPr dirty="0" sz="1150" spc="-12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predict</a:t>
            </a:r>
            <a:r>
              <a:rPr dirty="0" sz="1150" spc="2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F1F1F"/>
                </a:solidFill>
                <a:latin typeface="Arial"/>
                <a:cs typeface="Arial"/>
              </a:rPr>
              <a:t>the</a:t>
            </a:r>
            <a:r>
              <a:rPr dirty="0" sz="1150" spc="25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shifting</a:t>
            </a:r>
            <a:r>
              <a:rPr dirty="0" sz="1150" spc="-1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patterns</a:t>
            </a:r>
            <a:r>
              <a:rPr dirty="0" sz="1150" spc="7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of</a:t>
            </a:r>
            <a:r>
              <a:rPr dirty="0" sz="1150" spc="3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pests</a:t>
            </a:r>
            <a:r>
              <a:rPr dirty="0" sz="1150" spc="6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and</a:t>
            </a:r>
            <a:r>
              <a:rPr dirty="0" sz="1150" spc="-10">
                <a:solidFill>
                  <a:srgbClr val="343434"/>
                </a:solidFill>
                <a:latin typeface="Arial"/>
                <a:cs typeface="Arial"/>
              </a:rPr>
              <a:t> diseases</a:t>
            </a:r>
            <a:endParaRPr sz="1150">
              <a:latin typeface="Arial"/>
              <a:cs typeface="Arial"/>
            </a:endParaRPr>
          </a:p>
          <a:p>
            <a:pPr marL="12700" marR="62865" indent="42545">
              <a:lnSpc>
                <a:spcPts val="1150"/>
              </a:lnSpc>
              <a:spcBef>
                <a:spcPts val="60"/>
              </a:spcBef>
            </a:pP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in</a:t>
            </a:r>
            <a:r>
              <a:rPr dirty="0" sz="1150" spc="9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F1F1F"/>
                </a:solidFill>
                <a:latin typeface="Arial"/>
                <a:cs typeface="Arial"/>
              </a:rPr>
              <a:t>response</a:t>
            </a:r>
            <a:r>
              <a:rPr dirty="0" sz="1150" spc="125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to</a:t>
            </a:r>
            <a:r>
              <a:rPr dirty="0" sz="1150" spc="-7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warming</a:t>
            </a:r>
            <a:r>
              <a:rPr dirty="0" sz="1150" spc="-3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climates.</a:t>
            </a:r>
            <a:r>
              <a:rPr dirty="0" sz="1150" spc="2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F1F1F"/>
                </a:solidFill>
                <a:latin typeface="Arial"/>
                <a:cs typeface="Arial"/>
              </a:rPr>
              <a:t>However</a:t>
            </a:r>
            <a:r>
              <a:rPr dirty="0" sz="1150">
                <a:solidFill>
                  <a:srgbClr val="646464"/>
                </a:solidFill>
                <a:latin typeface="Arial"/>
                <a:cs typeface="Arial"/>
              </a:rPr>
              <a:t>,</a:t>
            </a:r>
            <a:r>
              <a:rPr dirty="0" sz="1150" spc="-30">
                <a:solidFill>
                  <a:srgbClr val="64646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researchers</a:t>
            </a:r>
            <a:r>
              <a:rPr dirty="0" sz="1150" spc="13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consistently</a:t>
            </a:r>
            <a:r>
              <a:rPr dirty="0" sz="1150" spc="16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point</a:t>
            </a:r>
            <a:r>
              <a:rPr dirty="0" sz="1150" spc="-1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to</a:t>
            </a:r>
            <a:r>
              <a:rPr dirty="0" sz="1150" spc="4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525252"/>
                </a:solidFill>
                <a:latin typeface="Arial"/>
                <a:cs typeface="Arial"/>
              </a:rPr>
              <a:t>"</a:t>
            </a:r>
            <a:r>
              <a:rPr dirty="0" sz="1150">
                <a:solidFill>
                  <a:srgbClr val="0C0C0C"/>
                </a:solidFill>
                <a:latin typeface="Arial"/>
                <a:cs typeface="Arial"/>
              </a:rPr>
              <a:t>E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xp</a:t>
            </a:r>
            <a:r>
              <a:rPr dirty="0" sz="1150">
                <a:solidFill>
                  <a:srgbClr val="0C0C0C"/>
                </a:solidFill>
                <a:latin typeface="Arial"/>
                <a:cs typeface="Arial"/>
              </a:rPr>
              <a:t>l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ainab</a:t>
            </a:r>
            <a:r>
              <a:rPr dirty="0" sz="1150">
                <a:solidFill>
                  <a:srgbClr val="0C0C0C"/>
                </a:solidFill>
                <a:latin typeface="Arial"/>
                <a:cs typeface="Arial"/>
              </a:rPr>
              <a:t>l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e</a:t>
            </a:r>
            <a:r>
              <a:rPr dirty="0" sz="1150" spc="9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Al" </a:t>
            </a:r>
            <a:r>
              <a:rPr dirty="0" sz="1150" spc="50">
                <a:solidFill>
                  <a:srgbClr val="343434"/>
                </a:solidFill>
                <a:latin typeface="Arial"/>
                <a:cs typeface="Arial"/>
              </a:rPr>
              <a:t>as</a:t>
            </a:r>
            <a:r>
              <a:rPr dirty="0" sz="1150" spc="2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 spc="-25">
                <a:solidFill>
                  <a:srgbClr val="343434"/>
                </a:solidFill>
                <a:latin typeface="Arial"/>
                <a:cs typeface="Arial"/>
              </a:rPr>
              <a:t>the </a:t>
            </a:r>
            <a:r>
              <a:rPr dirty="0" sz="1150">
                <a:solidFill>
                  <a:srgbClr val="1F1F1F"/>
                </a:solidFill>
                <a:latin typeface="Arial"/>
                <a:cs typeface="Arial"/>
              </a:rPr>
              <a:t>next</a:t>
            </a:r>
            <a:r>
              <a:rPr dirty="0" sz="1150" spc="35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essential</a:t>
            </a:r>
            <a:r>
              <a:rPr dirty="0" sz="1150" spc="14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frontier;</a:t>
            </a:r>
            <a:r>
              <a:rPr dirty="0" sz="1150" spc="3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 spc="50">
                <a:solidFill>
                  <a:srgbClr val="343434"/>
                </a:solidFill>
                <a:latin typeface="Arial"/>
                <a:cs typeface="Arial"/>
              </a:rPr>
              <a:t>as</a:t>
            </a:r>
            <a:r>
              <a:rPr dirty="0" sz="1150" spc="-1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these</a:t>
            </a:r>
            <a:r>
              <a:rPr dirty="0" sz="1150" spc="-4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F1F1F"/>
                </a:solidFill>
                <a:latin typeface="Arial"/>
                <a:cs typeface="Arial"/>
              </a:rPr>
              <a:t>models</a:t>
            </a:r>
            <a:r>
              <a:rPr dirty="0" sz="1150" spc="35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influence</a:t>
            </a:r>
            <a:r>
              <a:rPr dirty="0" sz="1150" spc="12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global</a:t>
            </a:r>
            <a:r>
              <a:rPr dirty="0" sz="1150" spc="-2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F1F1F"/>
                </a:solidFill>
                <a:latin typeface="Arial"/>
                <a:cs typeface="Arial"/>
              </a:rPr>
              <a:t>policy</a:t>
            </a:r>
            <a:r>
              <a:rPr dirty="0" sz="1150">
                <a:solidFill>
                  <a:srgbClr val="525252"/>
                </a:solidFill>
                <a:latin typeface="Arial"/>
                <a:cs typeface="Arial"/>
              </a:rPr>
              <a:t>,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the</a:t>
            </a:r>
            <a:r>
              <a:rPr dirty="0" sz="1150" spc="-3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ability</a:t>
            </a:r>
            <a:r>
              <a:rPr dirty="0" sz="1150" spc="2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to</a:t>
            </a:r>
            <a:r>
              <a:rPr dirty="0" sz="1150" spc="-1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interpret</a:t>
            </a:r>
            <a:r>
              <a:rPr dirty="0" sz="1150" spc="5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the</a:t>
            </a:r>
            <a:r>
              <a:rPr dirty="0" sz="1150" spc="-2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43434"/>
                </a:solidFill>
                <a:latin typeface="Arial"/>
                <a:cs typeface="Arial"/>
              </a:rPr>
              <a:t>specific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variables</a:t>
            </a:r>
            <a:r>
              <a:rPr dirty="0" sz="1150" spc="-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F1F1F"/>
                </a:solidFill>
                <a:latin typeface="Arial"/>
                <a:cs typeface="Arial"/>
              </a:rPr>
              <a:t>driving</a:t>
            </a:r>
            <a:r>
              <a:rPr dirty="0" sz="1150" spc="-15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a</a:t>
            </a:r>
            <a:r>
              <a:rPr dirty="0" sz="1150" spc="3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prediction</a:t>
            </a:r>
            <a:r>
              <a:rPr dirty="0" sz="1150" spc="1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F1F1F"/>
                </a:solidFill>
                <a:latin typeface="Arial"/>
                <a:cs typeface="Arial"/>
              </a:rPr>
              <a:t>is</a:t>
            </a:r>
            <a:r>
              <a:rPr dirty="0" sz="1150" spc="35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F1F1F"/>
                </a:solidFill>
                <a:latin typeface="Arial"/>
                <a:cs typeface="Arial"/>
              </a:rPr>
              <a:t>becoming</a:t>
            </a:r>
            <a:r>
              <a:rPr dirty="0" sz="1150" spc="105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just</a:t>
            </a:r>
            <a:r>
              <a:rPr dirty="0" sz="1150" spc="5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 spc="50">
                <a:solidFill>
                  <a:srgbClr val="343434"/>
                </a:solidFill>
                <a:latin typeface="Arial"/>
                <a:cs typeface="Arial"/>
              </a:rPr>
              <a:t>as</a:t>
            </a:r>
            <a:r>
              <a:rPr dirty="0" sz="1150" spc="-6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F1F1F"/>
                </a:solidFill>
                <a:latin typeface="Arial"/>
                <a:cs typeface="Arial"/>
              </a:rPr>
              <a:t>important</a:t>
            </a:r>
            <a:r>
              <a:rPr dirty="0" sz="1150" spc="70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150" spc="50">
                <a:solidFill>
                  <a:srgbClr val="343434"/>
                </a:solidFill>
                <a:latin typeface="Arial"/>
                <a:cs typeface="Arial"/>
              </a:rPr>
              <a:t>as</a:t>
            </a:r>
            <a:r>
              <a:rPr dirty="0" sz="1150" spc="-5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the</a:t>
            </a:r>
            <a:r>
              <a:rPr dirty="0" sz="1150" spc="-1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accuracy</a:t>
            </a:r>
            <a:r>
              <a:rPr dirty="0" sz="1150" spc="7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of</a:t>
            </a:r>
            <a:r>
              <a:rPr dirty="0" sz="1150" spc="5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1F1F1F"/>
                </a:solidFill>
                <a:latin typeface="Arial"/>
                <a:cs typeface="Arial"/>
              </a:rPr>
              <a:t>the</a:t>
            </a:r>
            <a:r>
              <a:rPr dirty="0" sz="1150" spc="-55">
                <a:solidFill>
                  <a:srgbClr val="1F1F1F"/>
                </a:solidFill>
                <a:latin typeface="Arial"/>
                <a:cs typeface="Arial"/>
              </a:rPr>
              <a:t> </a:t>
            </a:r>
            <a:r>
              <a:rPr dirty="0" sz="1150">
                <a:solidFill>
                  <a:srgbClr val="343434"/>
                </a:solidFill>
                <a:latin typeface="Arial"/>
                <a:cs typeface="Arial"/>
              </a:rPr>
              <a:t>prediction</a:t>
            </a:r>
            <a:r>
              <a:rPr dirty="0" sz="1150" spc="2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150" spc="-10">
                <a:solidFill>
                  <a:srgbClr val="343434"/>
                </a:solidFill>
                <a:latin typeface="Arial"/>
                <a:cs typeface="Arial"/>
              </a:rPr>
              <a:t>itself.</a:t>
            </a:r>
            <a:endParaRPr sz="1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1254" y="3580036"/>
            <a:ext cx="3731260" cy="0"/>
          </a:xfrm>
          <a:custGeom>
            <a:avLst/>
            <a:gdLst/>
            <a:ahLst/>
            <a:cxnLst/>
            <a:rect l="l" t="t" r="r" b="b"/>
            <a:pathLst>
              <a:path w="3731260" h="0">
                <a:moveTo>
                  <a:pt x="0" y="0"/>
                </a:moveTo>
                <a:lnTo>
                  <a:pt x="3731031" y="0"/>
                </a:lnTo>
              </a:path>
            </a:pathLst>
          </a:custGeom>
          <a:ln w="183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801254" y="3573926"/>
            <a:ext cx="3731260" cy="2438400"/>
            <a:chOff x="801254" y="3573926"/>
            <a:chExt cx="3731260" cy="2438400"/>
          </a:xfrm>
        </p:grpSpPr>
        <p:sp>
          <p:nvSpPr>
            <p:cNvPr id="4" name="object 4"/>
            <p:cNvSpPr/>
            <p:nvPr/>
          </p:nvSpPr>
          <p:spPr>
            <a:xfrm>
              <a:off x="801254" y="3573926"/>
              <a:ext cx="1376680" cy="2438400"/>
            </a:xfrm>
            <a:custGeom>
              <a:avLst/>
              <a:gdLst/>
              <a:ahLst/>
              <a:cxnLst/>
              <a:rect l="l" t="t" r="r" b="b"/>
              <a:pathLst>
                <a:path w="1376680" h="2438400">
                  <a:moveTo>
                    <a:pt x="0" y="446080"/>
                  </a:moveTo>
                  <a:lnTo>
                    <a:pt x="1376200" y="446080"/>
                  </a:lnTo>
                </a:path>
                <a:path w="1376680" h="2438400">
                  <a:moveTo>
                    <a:pt x="6116" y="2438168"/>
                  </a:moveTo>
                  <a:lnTo>
                    <a:pt x="6116" y="0"/>
                  </a:lnTo>
                </a:path>
                <a:path w="1376680" h="2438400">
                  <a:moveTo>
                    <a:pt x="1370083" y="2438168"/>
                  </a:moveTo>
                  <a:lnTo>
                    <a:pt x="1370083" y="0"/>
                  </a:lnTo>
                </a:path>
              </a:pathLst>
            </a:custGeom>
            <a:ln w="122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165221" y="3573926"/>
              <a:ext cx="1125855" cy="825500"/>
            </a:xfrm>
            <a:custGeom>
              <a:avLst/>
              <a:gdLst/>
              <a:ahLst/>
              <a:cxnLst/>
              <a:rect l="l" t="t" r="r" b="b"/>
              <a:pathLst>
                <a:path w="1125854" h="825500">
                  <a:moveTo>
                    <a:pt x="0" y="446080"/>
                  </a:moveTo>
                  <a:lnTo>
                    <a:pt x="1125426" y="446080"/>
                  </a:lnTo>
                </a:path>
                <a:path w="1125854" h="825500">
                  <a:moveTo>
                    <a:pt x="1113193" y="824944"/>
                  </a:moveTo>
                  <a:lnTo>
                    <a:pt x="1113193" y="0"/>
                  </a:lnTo>
                </a:path>
              </a:pathLst>
            </a:custGeom>
            <a:ln w="183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272298" y="3573926"/>
              <a:ext cx="1260475" cy="2438400"/>
            </a:xfrm>
            <a:custGeom>
              <a:avLst/>
              <a:gdLst/>
              <a:ahLst/>
              <a:cxnLst/>
              <a:rect l="l" t="t" r="r" b="b"/>
              <a:pathLst>
                <a:path w="1260475" h="2438400">
                  <a:moveTo>
                    <a:pt x="0" y="446080"/>
                  </a:moveTo>
                  <a:lnTo>
                    <a:pt x="1259987" y="446080"/>
                  </a:lnTo>
                </a:path>
                <a:path w="1260475" h="2438400">
                  <a:moveTo>
                    <a:pt x="1253871" y="2438168"/>
                  </a:moveTo>
                  <a:lnTo>
                    <a:pt x="1253871" y="0"/>
                  </a:lnTo>
                </a:path>
              </a:pathLst>
            </a:custGeom>
            <a:ln w="122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/>
          <p:nvPr/>
        </p:nvSpPr>
        <p:spPr>
          <a:xfrm>
            <a:off x="6624110" y="3580036"/>
            <a:ext cx="0" cy="440055"/>
          </a:xfrm>
          <a:custGeom>
            <a:avLst/>
            <a:gdLst/>
            <a:ahLst/>
            <a:cxnLst/>
            <a:rect l="l" t="t" r="r" b="b"/>
            <a:pathLst>
              <a:path w="0" h="440054">
                <a:moveTo>
                  <a:pt x="0" y="439970"/>
                </a:moveTo>
                <a:lnTo>
                  <a:pt x="0" y="0"/>
                </a:lnTo>
              </a:path>
            </a:pathLst>
          </a:custGeom>
          <a:ln w="183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01254" y="4386648"/>
            <a:ext cx="3731260" cy="116205"/>
          </a:xfrm>
          <a:custGeom>
            <a:avLst/>
            <a:gdLst/>
            <a:ahLst/>
            <a:cxnLst/>
            <a:rect l="l" t="t" r="r" b="b"/>
            <a:pathLst>
              <a:path w="3731260" h="116204">
                <a:moveTo>
                  <a:pt x="0" y="6110"/>
                </a:moveTo>
                <a:lnTo>
                  <a:pt x="3731031" y="6110"/>
                </a:lnTo>
              </a:path>
              <a:path w="3731260" h="116204">
                <a:moveTo>
                  <a:pt x="2477160" y="116103"/>
                </a:moveTo>
                <a:lnTo>
                  <a:pt x="2477160" y="0"/>
                </a:lnTo>
              </a:path>
            </a:pathLst>
          </a:custGeom>
          <a:ln w="1222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3269240" y="4863283"/>
            <a:ext cx="18415" cy="611505"/>
            <a:chOff x="3269240" y="4863283"/>
            <a:chExt cx="18415" cy="611505"/>
          </a:xfrm>
        </p:grpSpPr>
        <p:sp>
          <p:nvSpPr>
            <p:cNvPr id="10" name="object 10"/>
            <p:cNvSpPr/>
            <p:nvPr/>
          </p:nvSpPr>
          <p:spPr>
            <a:xfrm>
              <a:off x="3278415" y="4863283"/>
              <a:ext cx="0" cy="208279"/>
            </a:xfrm>
            <a:custGeom>
              <a:avLst/>
              <a:gdLst/>
              <a:ahLst/>
              <a:cxnLst/>
              <a:rect l="l" t="t" r="r" b="b"/>
              <a:pathLst>
                <a:path w="0" h="208279">
                  <a:moveTo>
                    <a:pt x="0" y="207763"/>
                  </a:moveTo>
                  <a:lnTo>
                    <a:pt x="0" y="0"/>
                  </a:lnTo>
                </a:path>
              </a:pathLst>
            </a:custGeom>
            <a:ln w="122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278415" y="5071047"/>
              <a:ext cx="0" cy="403860"/>
            </a:xfrm>
            <a:custGeom>
              <a:avLst/>
              <a:gdLst/>
              <a:ahLst/>
              <a:cxnLst/>
              <a:rect l="l" t="t" r="r" b="b"/>
              <a:pathLst>
                <a:path w="0" h="403860">
                  <a:moveTo>
                    <a:pt x="0" y="403306"/>
                  </a:moveTo>
                  <a:lnTo>
                    <a:pt x="0" y="0"/>
                  </a:lnTo>
                </a:path>
              </a:pathLst>
            </a:custGeom>
            <a:ln w="18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801254" y="5996817"/>
            <a:ext cx="5822950" cy="18415"/>
            <a:chOff x="801254" y="5996817"/>
            <a:chExt cx="5822950" cy="18415"/>
          </a:xfrm>
        </p:grpSpPr>
        <p:sp>
          <p:nvSpPr>
            <p:cNvPr id="13" name="object 13"/>
            <p:cNvSpPr/>
            <p:nvPr/>
          </p:nvSpPr>
          <p:spPr>
            <a:xfrm>
              <a:off x="801254" y="6005983"/>
              <a:ext cx="3731260" cy="0"/>
            </a:xfrm>
            <a:custGeom>
              <a:avLst/>
              <a:gdLst/>
              <a:ahLst/>
              <a:cxnLst/>
              <a:rect l="l" t="t" r="r" b="b"/>
              <a:pathLst>
                <a:path w="3731260" h="0">
                  <a:moveTo>
                    <a:pt x="0" y="0"/>
                  </a:moveTo>
                  <a:lnTo>
                    <a:pt x="3731031" y="0"/>
                  </a:lnTo>
                </a:path>
              </a:pathLst>
            </a:custGeom>
            <a:ln w="122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20053" y="6005983"/>
              <a:ext cx="2104390" cy="0"/>
            </a:xfrm>
            <a:custGeom>
              <a:avLst/>
              <a:gdLst/>
              <a:ahLst/>
              <a:cxnLst/>
              <a:rect l="l" t="t" r="r" b="b"/>
              <a:pathLst>
                <a:path w="2104390" h="0">
                  <a:moveTo>
                    <a:pt x="0" y="0"/>
                  </a:moveTo>
                  <a:lnTo>
                    <a:pt x="2104057" y="0"/>
                  </a:lnTo>
                </a:path>
              </a:pathLst>
            </a:custGeom>
            <a:ln w="1833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462509" y="488819"/>
            <a:ext cx="7027545" cy="2292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1765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DATA</a:t>
            </a:r>
            <a:r>
              <a:rPr dirty="0" sz="950" spc="8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SET</a:t>
            </a:r>
            <a:r>
              <a:rPr dirty="0" sz="950" spc="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24242"/>
                </a:solidFill>
                <a:latin typeface="Arial"/>
                <a:cs typeface="Arial"/>
              </a:rPr>
              <a:t>OVERVIEW</a:t>
            </a:r>
            <a:endParaRPr sz="950">
              <a:latin typeface="Arial"/>
              <a:cs typeface="Arial"/>
            </a:endParaRPr>
          </a:p>
          <a:p>
            <a:pPr marL="12700" marR="64769" indent="1905">
              <a:lnSpc>
                <a:spcPct val="173000"/>
              </a:lnSpc>
              <a:spcBef>
                <a:spcPts val="100"/>
              </a:spcBef>
            </a:pP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Source:</a:t>
            </a:r>
            <a:r>
              <a:rPr dirty="0" sz="950" spc="9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We</a:t>
            </a:r>
            <a:r>
              <a:rPr dirty="0" sz="950" spc="-4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use</a:t>
            </a:r>
            <a:r>
              <a:rPr dirty="0" sz="950" spc="-2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 spc="50">
                <a:solidFill>
                  <a:srgbClr val="424242"/>
                </a:solidFill>
                <a:latin typeface="Arial"/>
                <a:cs typeface="Arial"/>
              </a:rPr>
              <a:t>a</a:t>
            </a:r>
            <a:r>
              <a:rPr dirty="0" sz="950" spc="6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synthetic</a:t>
            </a:r>
            <a:r>
              <a:rPr dirty="0" sz="950" spc="8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525252"/>
                </a:solidFill>
                <a:latin typeface="Arial"/>
                <a:cs typeface="Arial"/>
              </a:rPr>
              <a:t>climate</a:t>
            </a:r>
            <a:r>
              <a:rPr dirty="0" sz="950" spc="55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dataset</a:t>
            </a:r>
            <a:r>
              <a:rPr dirty="0" sz="950" spc="7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generated</a:t>
            </a:r>
            <a:r>
              <a:rPr dirty="0" sz="950" spc="9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D2D2D"/>
                </a:solidFill>
                <a:latin typeface="Arial"/>
                <a:cs typeface="Arial"/>
              </a:rPr>
              <a:t>to</a:t>
            </a:r>
            <a:r>
              <a:rPr dirty="0" sz="950" spc="-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mimic</a:t>
            </a:r>
            <a:r>
              <a:rPr dirty="0" sz="950" spc="1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525252"/>
                </a:solidFill>
                <a:latin typeface="Arial"/>
                <a:cs typeface="Arial"/>
              </a:rPr>
              <a:t>realistic</a:t>
            </a:r>
            <a:r>
              <a:rPr dirty="0" sz="950" spc="85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environmental</a:t>
            </a:r>
            <a:r>
              <a:rPr dirty="0" sz="950" spc="10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trends.</a:t>
            </a:r>
            <a:r>
              <a:rPr dirty="0" sz="950" spc="-1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This</a:t>
            </a:r>
            <a:r>
              <a:rPr dirty="0" sz="950" spc="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simulated</a:t>
            </a:r>
            <a:r>
              <a:rPr dirty="0" sz="950" spc="10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data</a:t>
            </a:r>
            <a:r>
              <a:rPr dirty="0" sz="950" spc="4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46464"/>
                </a:solidFill>
                <a:latin typeface="Arial"/>
                <a:cs typeface="Arial"/>
              </a:rPr>
              <a:t>is</a:t>
            </a:r>
            <a:r>
              <a:rPr dirty="0" sz="950" spc="80">
                <a:solidFill>
                  <a:srgbClr val="646464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24242"/>
                </a:solidFill>
                <a:latin typeface="Arial"/>
                <a:cs typeface="Arial"/>
              </a:rPr>
              <a:t>patterned </a:t>
            </a:r>
            <a:r>
              <a:rPr dirty="0" sz="950" spc="10">
                <a:solidFill>
                  <a:srgbClr val="424242"/>
                </a:solidFill>
                <a:latin typeface="Arial"/>
                <a:cs typeface="Arial"/>
              </a:rPr>
              <a:t>after</a:t>
            </a:r>
            <a:r>
              <a:rPr dirty="0" sz="950" spc="-2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24242"/>
                </a:solidFill>
                <a:latin typeface="Arial"/>
                <a:cs typeface="Arial"/>
              </a:rPr>
              <a:t>actual</a:t>
            </a:r>
            <a:r>
              <a:rPr dirty="0" sz="950" spc="-1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24242"/>
                </a:solidFill>
                <a:latin typeface="Arial"/>
                <a:cs typeface="Arial"/>
              </a:rPr>
              <a:t>climate records</a:t>
            </a:r>
            <a:r>
              <a:rPr dirty="0" sz="950" spc="2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24242"/>
                </a:solidFill>
                <a:latin typeface="Arial"/>
                <a:cs typeface="Arial"/>
              </a:rPr>
              <a:t>from</a:t>
            </a:r>
            <a:r>
              <a:rPr dirty="0" sz="950" spc="-7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24242"/>
                </a:solidFill>
                <a:latin typeface="Arial"/>
                <a:cs typeface="Arial"/>
              </a:rPr>
              <a:t>agencies</a:t>
            </a:r>
            <a:r>
              <a:rPr dirty="0" sz="950" spc="6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24242"/>
                </a:solidFill>
                <a:latin typeface="Arial"/>
                <a:cs typeface="Arial"/>
              </a:rPr>
              <a:t>like</a:t>
            </a:r>
            <a:r>
              <a:rPr dirty="0" sz="950" spc="-4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24242"/>
                </a:solidFill>
                <a:latin typeface="Arial"/>
                <a:cs typeface="Arial"/>
              </a:rPr>
              <a:t>NASA</a:t>
            </a:r>
            <a:r>
              <a:rPr dirty="0" sz="950" spc="3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24242"/>
                </a:solidFill>
                <a:latin typeface="Arial"/>
                <a:cs typeface="Arial"/>
              </a:rPr>
              <a:t>and</a:t>
            </a:r>
            <a:r>
              <a:rPr dirty="0" sz="950" spc="-6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24242"/>
                </a:solidFill>
                <a:latin typeface="Arial"/>
                <a:cs typeface="Arial"/>
              </a:rPr>
              <a:t>NOAA</a:t>
            </a:r>
            <a:r>
              <a:rPr dirty="0" sz="950" spc="2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525252"/>
                </a:solidFill>
                <a:latin typeface="Arial"/>
                <a:cs typeface="Arial"/>
              </a:rPr>
              <a:t>(and</a:t>
            </a:r>
            <a:r>
              <a:rPr dirty="0" sz="950" spc="-75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24242"/>
                </a:solidFill>
                <a:latin typeface="Arial"/>
                <a:cs typeface="Arial"/>
              </a:rPr>
              <a:t>similar</a:t>
            </a:r>
            <a:r>
              <a:rPr dirty="0" sz="950" spc="2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24242"/>
                </a:solidFill>
                <a:latin typeface="Arial"/>
                <a:cs typeface="Arial"/>
              </a:rPr>
              <a:t>to</a:t>
            </a:r>
            <a:r>
              <a:rPr dirty="0" sz="950" spc="6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24242"/>
                </a:solidFill>
                <a:latin typeface="Arial"/>
                <a:cs typeface="Arial"/>
              </a:rPr>
              <a:t>datasets</a:t>
            </a:r>
            <a:r>
              <a:rPr dirty="0" sz="950" spc="5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24242"/>
                </a:solidFill>
                <a:latin typeface="Arial"/>
                <a:cs typeface="Arial"/>
              </a:rPr>
              <a:t>found</a:t>
            </a:r>
            <a:r>
              <a:rPr dirty="0" sz="950" spc="-7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24242"/>
                </a:solidFill>
                <a:latin typeface="Arial"/>
                <a:cs typeface="Arial"/>
              </a:rPr>
              <a:t>on</a:t>
            </a:r>
            <a:r>
              <a:rPr dirty="0" sz="950" spc="2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24242"/>
                </a:solidFill>
                <a:latin typeface="Arial"/>
                <a:cs typeface="Arial"/>
              </a:rPr>
              <a:t>Kaggle).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24242"/>
                </a:solidFill>
                <a:latin typeface="Arial"/>
                <a:cs typeface="Arial"/>
              </a:rPr>
              <a:t>It</a:t>
            </a:r>
            <a:r>
              <a:rPr dirty="0" sz="950" spc="8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24242"/>
                </a:solidFill>
                <a:latin typeface="Arial"/>
                <a:cs typeface="Arial"/>
              </a:rPr>
              <a:t>includes</a:t>
            </a:r>
            <a:r>
              <a:rPr dirty="0" sz="950" spc="-3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 spc="-25">
                <a:solidFill>
                  <a:srgbClr val="424242"/>
                </a:solidFill>
                <a:latin typeface="Arial"/>
                <a:cs typeface="Arial"/>
              </a:rPr>
              <a:t>key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variables</a:t>
            </a:r>
            <a:r>
              <a:rPr dirty="0" sz="950" spc="21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spanning</a:t>
            </a:r>
            <a:r>
              <a:rPr dirty="0" sz="950" spc="10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the</a:t>
            </a:r>
            <a:r>
              <a:rPr dirty="0" sz="950" spc="7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525252"/>
                </a:solidFill>
                <a:latin typeface="Arial"/>
                <a:cs typeface="Arial"/>
              </a:rPr>
              <a:t>years</a:t>
            </a:r>
            <a:r>
              <a:rPr dirty="0" sz="950" spc="4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1980-</a:t>
            </a:r>
            <a:r>
              <a:rPr dirty="0" sz="950" spc="-10">
                <a:solidFill>
                  <a:srgbClr val="424242"/>
                </a:solidFill>
                <a:latin typeface="Arial"/>
                <a:cs typeface="Arial"/>
              </a:rPr>
              <a:t>2020.</a:t>
            </a:r>
            <a:endParaRPr sz="95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spcBef>
                <a:spcPts val="730"/>
              </a:spcBef>
            </a:pPr>
            <a:r>
              <a:rPr dirty="0" sz="1000" b="1">
                <a:solidFill>
                  <a:srgbClr val="010103"/>
                </a:solidFill>
                <a:latin typeface="Arial"/>
                <a:cs typeface="Arial"/>
              </a:rPr>
              <a:t>t/</a:t>
            </a:r>
            <a:r>
              <a:rPr dirty="0" sz="1000" spc="250" b="1">
                <a:solidFill>
                  <a:srgbClr val="01010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Features</a:t>
            </a:r>
            <a:r>
              <a:rPr dirty="0" sz="950" spc="12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46464"/>
                </a:solidFill>
                <a:latin typeface="Arial"/>
                <a:cs typeface="Arial"/>
              </a:rPr>
              <a:t>(Independent</a:t>
            </a:r>
            <a:r>
              <a:rPr dirty="0" sz="950" spc="145">
                <a:solidFill>
                  <a:srgbClr val="64646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variables):</a:t>
            </a:r>
            <a:r>
              <a:rPr dirty="0" sz="950" spc="14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Year</a:t>
            </a:r>
            <a:r>
              <a:rPr dirty="0" sz="950" spc="5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(numeric),</a:t>
            </a:r>
            <a:r>
              <a:rPr dirty="0" sz="950" spc="3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CO</a:t>
            </a:r>
            <a:r>
              <a:rPr dirty="0" sz="950">
                <a:solidFill>
                  <a:srgbClr val="838383"/>
                </a:solidFill>
                <a:latin typeface="Arial"/>
                <a:cs typeface="Arial"/>
              </a:rPr>
              <a:t>2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concentration</a:t>
            </a:r>
            <a:r>
              <a:rPr dirty="0" sz="950" spc="8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525252"/>
                </a:solidFill>
                <a:latin typeface="Arial"/>
                <a:cs typeface="Arial"/>
              </a:rPr>
              <a:t>(parts</a:t>
            </a:r>
            <a:r>
              <a:rPr dirty="0" sz="950" spc="-15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per</a:t>
            </a:r>
            <a:r>
              <a:rPr dirty="0" sz="950" spc="2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million).</a:t>
            </a:r>
            <a:r>
              <a:rPr dirty="0" sz="950" spc="7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These</a:t>
            </a:r>
            <a:r>
              <a:rPr dirty="0" sz="950" spc="4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are</a:t>
            </a:r>
            <a:r>
              <a:rPr dirty="0" sz="950" spc="-1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chosen</a:t>
            </a:r>
            <a:r>
              <a:rPr dirty="0" sz="950" spc="4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D2D2D"/>
                </a:solidFill>
                <a:latin typeface="Arial"/>
                <a:cs typeface="Arial"/>
              </a:rPr>
              <a:t>for</a:t>
            </a:r>
            <a:r>
              <a:rPr dirty="0" sz="950" spc="3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D2D2D"/>
                </a:solidFill>
                <a:latin typeface="Arial"/>
                <a:cs typeface="Arial"/>
              </a:rPr>
              <a:t>their</a:t>
            </a:r>
            <a:r>
              <a:rPr dirty="0" sz="950" spc="4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24242"/>
                </a:solidFill>
                <a:latin typeface="Arial"/>
                <a:cs typeface="Arial"/>
              </a:rPr>
              <a:t>known</a:t>
            </a:r>
            <a:endParaRPr sz="950">
              <a:latin typeface="Arial"/>
              <a:cs typeface="Arial"/>
            </a:endParaRPr>
          </a:p>
          <a:p>
            <a:pPr marL="15875" marR="5080" indent="-3810">
              <a:lnSpc>
                <a:spcPts val="1010"/>
              </a:lnSpc>
              <a:spcBef>
                <a:spcPts val="919"/>
              </a:spcBef>
            </a:pP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influence</a:t>
            </a:r>
            <a:r>
              <a:rPr dirty="0" sz="950" spc="7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on</a:t>
            </a:r>
            <a:r>
              <a:rPr dirty="0" sz="950" spc="11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temperature.</a:t>
            </a:r>
            <a:r>
              <a:rPr dirty="0" sz="950" spc="14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D2D2D"/>
                </a:solidFill>
                <a:latin typeface="Arial"/>
                <a:cs typeface="Arial"/>
              </a:rPr>
              <a:t>In</a:t>
            </a:r>
            <a:r>
              <a:rPr dirty="0" sz="950" spc="15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an</a:t>
            </a:r>
            <a:r>
              <a:rPr dirty="0" sz="950" spc="1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expanded</a:t>
            </a:r>
            <a:r>
              <a:rPr dirty="0" sz="950" spc="6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real-world</a:t>
            </a:r>
            <a:r>
              <a:rPr dirty="0" sz="950" spc="2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scenario,</a:t>
            </a:r>
            <a:r>
              <a:rPr dirty="0" sz="950" spc="8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additional</a:t>
            </a:r>
            <a:r>
              <a:rPr dirty="0" sz="950" spc="2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features</a:t>
            </a:r>
            <a:r>
              <a:rPr dirty="0" sz="950" spc="3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like</a:t>
            </a:r>
            <a:r>
              <a:rPr dirty="0" sz="950" spc="-4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humidity</a:t>
            </a:r>
            <a:r>
              <a:rPr dirty="0" sz="950" spc="114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or</a:t>
            </a:r>
            <a:r>
              <a:rPr dirty="0" sz="950" spc="6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solar</a:t>
            </a:r>
            <a:r>
              <a:rPr dirty="0" sz="950" spc="4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radiation</a:t>
            </a:r>
            <a:r>
              <a:rPr dirty="0" sz="950" spc="2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could</a:t>
            </a:r>
            <a:r>
              <a:rPr dirty="0" sz="950" spc="-1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be</a:t>
            </a:r>
            <a:r>
              <a:rPr dirty="0" sz="950" spc="2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525252"/>
                </a:solidFill>
                <a:latin typeface="Arial"/>
                <a:cs typeface="Arial"/>
              </a:rPr>
              <a:t>includ </a:t>
            </a:r>
            <a:r>
              <a:rPr dirty="0" sz="950" spc="-25">
                <a:solidFill>
                  <a:srgbClr val="424242"/>
                </a:solidFill>
                <a:latin typeface="Arial"/>
                <a:cs typeface="Arial"/>
              </a:rPr>
              <a:t>ed.</a:t>
            </a:r>
            <a:endParaRPr sz="95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spcBef>
                <a:spcPts val="720"/>
              </a:spcBef>
            </a:pPr>
            <a:r>
              <a:rPr dirty="0" sz="1000" spc="10" b="1">
                <a:solidFill>
                  <a:srgbClr val="010103"/>
                </a:solidFill>
                <a:latin typeface="Arial"/>
                <a:cs typeface="Arial"/>
              </a:rPr>
              <a:t>t/</a:t>
            </a:r>
            <a:r>
              <a:rPr dirty="0" sz="1000" spc="10" b="1">
                <a:solidFill>
                  <a:srgbClr val="424242"/>
                </a:solidFill>
                <a:latin typeface="Arial"/>
                <a:cs typeface="Arial"/>
              </a:rPr>
              <a:t>Target</a:t>
            </a:r>
            <a:r>
              <a:rPr dirty="0" sz="1000" spc="-55" b="1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24242"/>
                </a:solidFill>
                <a:latin typeface="Arial"/>
                <a:cs typeface="Arial"/>
              </a:rPr>
              <a:t>Variable:</a:t>
            </a:r>
            <a:r>
              <a:rPr dirty="0" sz="950" spc="5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24242"/>
                </a:solidFill>
                <a:latin typeface="Arial"/>
                <a:cs typeface="Arial"/>
              </a:rPr>
              <a:t>Average</a:t>
            </a:r>
            <a:r>
              <a:rPr dirty="0" sz="950" spc="1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24242"/>
                </a:solidFill>
                <a:latin typeface="Arial"/>
                <a:cs typeface="Arial"/>
              </a:rPr>
              <a:t>annual</a:t>
            </a:r>
            <a:r>
              <a:rPr dirty="0" sz="950" spc="-1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24242"/>
                </a:solidFill>
                <a:latin typeface="Arial"/>
                <a:cs typeface="Arial"/>
              </a:rPr>
              <a:t>temperature</a:t>
            </a:r>
            <a:r>
              <a:rPr dirty="0" sz="950" spc="8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646464"/>
                </a:solidFill>
                <a:latin typeface="Arial"/>
                <a:cs typeface="Arial"/>
              </a:rPr>
              <a:t>(°C) </a:t>
            </a:r>
            <a:r>
              <a:rPr dirty="0" sz="950" spc="10">
                <a:solidFill>
                  <a:srgbClr val="525252"/>
                </a:solidFill>
                <a:latin typeface="Arial"/>
                <a:cs typeface="Arial"/>
              </a:rPr>
              <a:t>corresponding</a:t>
            </a:r>
            <a:r>
              <a:rPr dirty="0" sz="950" spc="25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525252"/>
                </a:solidFill>
                <a:latin typeface="Arial"/>
                <a:cs typeface="Arial"/>
              </a:rPr>
              <a:t>to</a:t>
            </a:r>
            <a:r>
              <a:rPr dirty="0" sz="950" spc="-6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424242"/>
                </a:solidFill>
                <a:latin typeface="Arial"/>
                <a:cs typeface="Arial"/>
              </a:rPr>
              <a:t>each</a:t>
            </a:r>
            <a:r>
              <a:rPr dirty="0" sz="950" spc="-4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525252"/>
                </a:solidFill>
                <a:latin typeface="Arial"/>
                <a:cs typeface="Arial"/>
              </a:rPr>
              <a:t>year.</a:t>
            </a:r>
            <a:endParaRPr sz="95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spcBef>
                <a:spcPts val="725"/>
              </a:spcBef>
            </a:pPr>
            <a:r>
              <a:rPr dirty="0" sz="1000" b="1">
                <a:solidFill>
                  <a:srgbClr val="010103"/>
                </a:solidFill>
                <a:latin typeface="Arial"/>
                <a:cs typeface="Arial"/>
              </a:rPr>
              <a:t>t/</a:t>
            </a:r>
            <a:r>
              <a:rPr dirty="0" sz="1000" spc="300" b="1">
                <a:solidFill>
                  <a:srgbClr val="01010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Dataset</a:t>
            </a:r>
            <a:r>
              <a:rPr dirty="0" sz="950" spc="11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Size:</a:t>
            </a:r>
            <a:r>
              <a:rPr dirty="0" sz="950" spc="8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41</a:t>
            </a:r>
            <a:r>
              <a:rPr dirty="0" sz="950" spc="2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records</a:t>
            </a:r>
            <a:r>
              <a:rPr dirty="0" sz="950" spc="9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646464"/>
                </a:solidFill>
                <a:latin typeface="Arial"/>
                <a:cs typeface="Arial"/>
              </a:rPr>
              <a:t>(one</a:t>
            </a:r>
            <a:r>
              <a:rPr dirty="0" sz="950" spc="-20">
                <a:solidFill>
                  <a:srgbClr val="646464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per</a:t>
            </a:r>
            <a:r>
              <a:rPr dirty="0" sz="950" spc="4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525252"/>
                </a:solidFill>
                <a:latin typeface="Arial"/>
                <a:cs typeface="Arial"/>
              </a:rPr>
              <a:t>year</a:t>
            </a:r>
            <a:r>
              <a:rPr dirty="0" sz="950" spc="6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2D2D2D"/>
                </a:solidFill>
                <a:latin typeface="Arial"/>
                <a:cs typeface="Arial"/>
              </a:rPr>
              <a:t>from</a:t>
            </a:r>
            <a:r>
              <a:rPr dirty="0" sz="950" spc="15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1980</a:t>
            </a:r>
            <a:r>
              <a:rPr dirty="0" sz="950" spc="2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to</a:t>
            </a:r>
            <a:r>
              <a:rPr dirty="0" sz="950" spc="9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2020).</a:t>
            </a:r>
            <a:r>
              <a:rPr dirty="0" sz="950" spc="5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Each</a:t>
            </a:r>
            <a:r>
              <a:rPr dirty="0" sz="950" spc="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record</a:t>
            </a:r>
            <a:r>
              <a:rPr dirty="0" sz="950" spc="1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has</a:t>
            </a:r>
            <a:r>
              <a:rPr dirty="0" sz="950" spc="2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the</a:t>
            </a:r>
            <a:r>
              <a:rPr dirty="0" sz="950" spc="-3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features</a:t>
            </a:r>
            <a:r>
              <a:rPr dirty="0" sz="950" spc="9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and</a:t>
            </a:r>
            <a:r>
              <a:rPr dirty="0" sz="950" spc="-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target</a:t>
            </a:r>
            <a:r>
              <a:rPr dirty="0" sz="950" spc="8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as</a:t>
            </a:r>
            <a:r>
              <a:rPr dirty="0" sz="950" spc="10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424242"/>
                </a:solidFill>
                <a:latin typeface="Arial"/>
                <a:cs typeface="Arial"/>
              </a:rPr>
              <a:t>described.</a:t>
            </a:r>
            <a:endParaRPr sz="95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spcBef>
                <a:spcPts val="775"/>
              </a:spcBef>
            </a:pPr>
            <a:r>
              <a:rPr dirty="0" sz="1000" b="1">
                <a:solidFill>
                  <a:srgbClr val="010103"/>
                </a:solidFill>
                <a:latin typeface="Arial"/>
                <a:cs typeface="Arial"/>
              </a:rPr>
              <a:t>t/</a:t>
            </a:r>
            <a:r>
              <a:rPr dirty="0" sz="1000" spc="254" b="1">
                <a:solidFill>
                  <a:srgbClr val="010103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Sample</a:t>
            </a:r>
            <a:r>
              <a:rPr dirty="0" sz="950" spc="-4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Snapshot:</a:t>
            </a:r>
            <a:r>
              <a:rPr dirty="0" sz="950" spc="14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A</a:t>
            </a:r>
            <a:r>
              <a:rPr dirty="0" sz="950" spc="6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few</a:t>
            </a:r>
            <a:r>
              <a:rPr dirty="0" sz="950" spc="1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rows</a:t>
            </a:r>
            <a:r>
              <a:rPr dirty="0" sz="950" spc="1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of</a:t>
            </a:r>
            <a:r>
              <a:rPr dirty="0" sz="950" spc="4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the</a:t>
            </a:r>
            <a:r>
              <a:rPr dirty="0" sz="950" spc="-1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dataset</a:t>
            </a:r>
            <a:r>
              <a:rPr dirty="0" sz="950" spc="2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are</a:t>
            </a:r>
            <a:r>
              <a:rPr dirty="0" sz="950" spc="-1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shown</a:t>
            </a:r>
            <a:r>
              <a:rPr dirty="0" sz="950" spc="1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below:</a:t>
            </a:r>
            <a:r>
              <a:rPr dirty="0" sz="950" spc="7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Year</a:t>
            </a:r>
            <a:r>
              <a:rPr dirty="0" sz="950" spc="-1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CO2(ppm)</a:t>
            </a:r>
            <a:r>
              <a:rPr dirty="0" sz="950" spc="17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AvgTemp</a:t>
            </a:r>
            <a:r>
              <a:rPr dirty="0" sz="950" spc="8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525252"/>
                </a:solidFill>
                <a:latin typeface="Arial"/>
                <a:cs typeface="Arial"/>
              </a:rPr>
              <a:t>(°C)</a:t>
            </a:r>
            <a:endParaRPr sz="9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32698" y="3664599"/>
            <a:ext cx="41148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20" b="1">
                <a:solidFill>
                  <a:srgbClr val="010103"/>
                </a:solidFill>
                <a:latin typeface="Courier New"/>
                <a:cs typeface="Courier New"/>
              </a:rPr>
              <a:t>YEAR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86911" y="3696426"/>
            <a:ext cx="31432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 b="1">
                <a:solidFill>
                  <a:srgbClr val="010103"/>
                </a:solidFill>
                <a:latin typeface="Arial"/>
                <a:cs typeface="Arial"/>
              </a:rPr>
              <a:t>CO2</a:t>
            </a:r>
            <a:endParaRPr sz="10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46561" y="3591271"/>
            <a:ext cx="991869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10" b="1">
                <a:solidFill>
                  <a:srgbClr val="010103"/>
                </a:solidFill>
                <a:latin typeface="Courier New"/>
                <a:cs typeface="Courier New"/>
              </a:rPr>
              <a:t>T</a:t>
            </a:r>
            <a:r>
              <a:rPr dirty="0" sz="1300" spc="-10" b="1">
                <a:solidFill>
                  <a:srgbClr val="2D2D2D"/>
                </a:solidFill>
                <a:latin typeface="Courier New"/>
                <a:cs typeface="Courier New"/>
              </a:rPr>
              <a:t>E</a:t>
            </a:r>
            <a:r>
              <a:rPr dirty="0" sz="1300" spc="-10" b="1">
                <a:solidFill>
                  <a:srgbClr val="010103"/>
                </a:solidFill>
                <a:latin typeface="Courier New"/>
                <a:cs typeface="Courier New"/>
              </a:rPr>
              <a:t>MERATURE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68736" y="4184263"/>
            <a:ext cx="346710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105">
                <a:solidFill>
                  <a:srgbClr val="424242"/>
                </a:solidFill>
                <a:latin typeface="Courier New"/>
                <a:cs typeface="Courier New"/>
              </a:rPr>
              <a:t>1980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85978" y="4167459"/>
            <a:ext cx="343535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>
                <a:solidFill>
                  <a:srgbClr val="424242"/>
                </a:solidFill>
                <a:latin typeface="Arial"/>
                <a:cs typeface="Arial"/>
              </a:rPr>
              <a:t>350.9</a:t>
            </a:r>
            <a:endParaRPr sz="9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474706" y="4167459"/>
            <a:ext cx="277495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0">
                <a:solidFill>
                  <a:srgbClr val="424242"/>
                </a:solidFill>
                <a:latin typeface="Arial"/>
                <a:cs typeface="Arial"/>
              </a:rPr>
              <a:t>9.82</a:t>
            </a:r>
            <a:endParaRPr sz="9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77310" y="4388717"/>
            <a:ext cx="78740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50">
                <a:solidFill>
                  <a:srgbClr val="D1D1D1"/>
                </a:solidFill>
                <a:latin typeface="Arial"/>
                <a:cs typeface="Arial"/>
              </a:rPr>
              <a:t>1</a:t>
            </a:r>
            <a:endParaRPr sz="7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68736" y="4440912"/>
            <a:ext cx="327660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150">
                <a:solidFill>
                  <a:srgbClr val="424242"/>
                </a:solidFill>
                <a:latin typeface="Courier New"/>
                <a:cs typeface="Courier New"/>
              </a:rPr>
              <a:t>1981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312581" y="4552432"/>
            <a:ext cx="343535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>
                <a:solidFill>
                  <a:srgbClr val="424242"/>
                </a:solidFill>
                <a:latin typeface="Arial"/>
                <a:cs typeface="Arial"/>
              </a:rPr>
              <a:t>348.4</a:t>
            </a:r>
            <a:endParaRPr sz="9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25774" y="4589097"/>
            <a:ext cx="277495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0">
                <a:solidFill>
                  <a:srgbClr val="424242"/>
                </a:solidFill>
                <a:latin typeface="Arial"/>
                <a:cs typeface="Arial"/>
              </a:rPr>
              <a:t>9.39</a:t>
            </a:r>
            <a:endParaRPr sz="9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073899" y="4906599"/>
            <a:ext cx="7112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D1D1D1"/>
                </a:solidFill>
                <a:latin typeface="Times New Roman"/>
                <a:cs typeface="Times New Roman"/>
              </a:rPr>
              <a:t>-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40963" y="4906599"/>
            <a:ext cx="7112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D1D1D1"/>
                </a:solidFill>
                <a:latin typeface="Times New Roman"/>
                <a:cs typeface="Times New Roman"/>
              </a:rPr>
              <a:t>-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68736" y="5021429"/>
            <a:ext cx="342900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120">
                <a:solidFill>
                  <a:srgbClr val="424242"/>
                </a:solidFill>
                <a:latin typeface="Courier New"/>
                <a:cs typeface="Courier New"/>
              </a:rPr>
              <a:t>1982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447142" y="5181834"/>
            <a:ext cx="343535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>
                <a:solidFill>
                  <a:srgbClr val="424242"/>
                </a:solidFill>
                <a:latin typeface="Arial"/>
                <a:cs typeface="Arial"/>
              </a:rPr>
              <a:t>355.9</a:t>
            </a:r>
            <a:endParaRPr sz="9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66921" y="5589724"/>
            <a:ext cx="350520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105">
                <a:solidFill>
                  <a:srgbClr val="2D2D2D"/>
                </a:solidFill>
                <a:latin typeface="Courier New"/>
                <a:cs typeface="Courier New"/>
              </a:rPr>
              <a:t>2020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12581" y="5579030"/>
            <a:ext cx="343535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>
                <a:solidFill>
                  <a:srgbClr val="424242"/>
                </a:solidFill>
                <a:latin typeface="Arial"/>
                <a:cs typeface="Arial"/>
              </a:rPr>
              <a:t>376.2</a:t>
            </a:r>
            <a:endParaRPr sz="95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338271" y="5689023"/>
            <a:ext cx="346710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>
                <a:solidFill>
                  <a:srgbClr val="424242"/>
                </a:solidFill>
                <a:latin typeface="Arial"/>
                <a:cs typeface="Arial"/>
              </a:rPr>
              <a:t>11.34</a:t>
            </a:r>
            <a:endParaRPr sz="9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03825" y="6807281"/>
            <a:ext cx="5393055" cy="293370"/>
          </a:xfrm>
          <a:prstGeom prst="rect">
            <a:avLst/>
          </a:prstGeom>
        </p:spPr>
        <p:txBody>
          <a:bodyPr wrap="square" lIns="0" tIns="36194" rIns="0" bIns="0" rtlCol="0" vert="horz">
            <a:spAutoFit/>
          </a:bodyPr>
          <a:lstStyle/>
          <a:p>
            <a:pPr marL="57785" marR="5080" indent="-45720">
              <a:lnSpc>
                <a:spcPts val="960"/>
              </a:lnSpc>
              <a:spcBef>
                <a:spcPts val="284"/>
              </a:spcBef>
            </a:pP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This</a:t>
            </a:r>
            <a:r>
              <a:rPr dirty="0" sz="950" spc="5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table illustrates</a:t>
            </a:r>
            <a:r>
              <a:rPr dirty="0" sz="950" spc="3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the</a:t>
            </a:r>
            <a:r>
              <a:rPr dirty="0" sz="950" spc="11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525252"/>
                </a:solidFill>
                <a:latin typeface="Arial"/>
                <a:cs typeface="Arial"/>
              </a:rPr>
              <a:t>structure</a:t>
            </a:r>
            <a:r>
              <a:rPr dirty="0" sz="950" spc="10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of</a:t>
            </a:r>
            <a:r>
              <a:rPr dirty="0" sz="950" spc="8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525252"/>
                </a:solidFill>
                <a:latin typeface="Arial"/>
                <a:cs typeface="Arial"/>
              </a:rPr>
              <a:t>the</a:t>
            </a:r>
            <a:r>
              <a:rPr dirty="0" sz="950" spc="25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synthetic</a:t>
            </a:r>
            <a:r>
              <a:rPr dirty="0" sz="950" spc="14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data.</a:t>
            </a:r>
            <a:r>
              <a:rPr dirty="0" sz="950" spc="6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The</a:t>
            </a:r>
            <a:r>
              <a:rPr dirty="0" sz="950" spc="7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full</a:t>
            </a:r>
            <a:r>
              <a:rPr dirty="0" sz="950" spc="4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dataset</a:t>
            </a:r>
            <a:r>
              <a:rPr dirty="0" sz="950" spc="7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includes</a:t>
            </a:r>
            <a:r>
              <a:rPr dirty="0" sz="950" spc="12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525252"/>
                </a:solidFill>
                <a:latin typeface="Arial"/>
                <a:cs typeface="Arial"/>
              </a:rPr>
              <a:t>years</a:t>
            </a:r>
            <a:r>
              <a:rPr dirty="0" sz="950" spc="20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525252"/>
                </a:solidFill>
                <a:latin typeface="Arial"/>
                <a:cs typeface="Arial"/>
              </a:rPr>
              <a:t>1980-</a:t>
            </a:r>
            <a:r>
              <a:rPr dirty="0" sz="950" spc="-20">
                <a:solidFill>
                  <a:srgbClr val="525252"/>
                </a:solidFill>
                <a:latin typeface="Arial"/>
                <a:cs typeface="Arial"/>
              </a:rPr>
              <a:t>2020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with</a:t>
            </a:r>
            <a:r>
              <a:rPr dirty="0" sz="950" spc="-3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424242"/>
                </a:solidFill>
                <a:latin typeface="Arial"/>
                <a:cs typeface="Arial"/>
              </a:rPr>
              <a:t>similar</a:t>
            </a:r>
            <a:r>
              <a:rPr dirty="0" sz="950" spc="7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525252"/>
                </a:solidFill>
                <a:latin typeface="Arial"/>
                <a:cs typeface="Arial"/>
              </a:rPr>
              <a:t>va</a:t>
            </a:r>
            <a:r>
              <a:rPr dirty="0" sz="950" spc="-10">
                <a:solidFill>
                  <a:srgbClr val="010103"/>
                </a:solidFill>
                <a:latin typeface="Arial"/>
                <a:cs typeface="Arial"/>
              </a:rPr>
              <a:t>l</a:t>
            </a:r>
            <a:r>
              <a:rPr dirty="0" sz="950" spc="-10">
                <a:solidFill>
                  <a:srgbClr val="424242"/>
                </a:solidFill>
                <a:latin typeface="Arial"/>
                <a:cs typeface="Arial"/>
              </a:rPr>
              <a:t>ues.)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9603" y="1319078"/>
            <a:ext cx="5945505" cy="0"/>
          </a:xfrm>
          <a:custGeom>
            <a:avLst/>
            <a:gdLst/>
            <a:ahLst/>
            <a:cxnLst/>
            <a:rect l="l" t="t" r="r" b="b"/>
            <a:pathLst>
              <a:path w="5945505" h="0">
                <a:moveTo>
                  <a:pt x="0" y="0"/>
                </a:moveTo>
                <a:lnTo>
                  <a:pt x="5945185" y="0"/>
                </a:lnTo>
              </a:path>
            </a:pathLst>
          </a:custGeom>
          <a:ln w="61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19603" y="1600170"/>
            <a:ext cx="5945505" cy="0"/>
          </a:xfrm>
          <a:custGeom>
            <a:avLst/>
            <a:gdLst/>
            <a:ahLst/>
            <a:cxnLst/>
            <a:rect l="l" t="t" r="r" b="b"/>
            <a:pathLst>
              <a:path w="5945505" h="0">
                <a:moveTo>
                  <a:pt x="0" y="0"/>
                </a:moveTo>
                <a:lnTo>
                  <a:pt x="5945185" y="0"/>
                </a:lnTo>
              </a:path>
            </a:pathLst>
          </a:custGeom>
          <a:ln w="122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601528" y="840184"/>
            <a:ext cx="139065" cy="262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 spc="-50" b="1" i="1">
                <a:solidFill>
                  <a:srgbClr val="131313"/>
                </a:solidFill>
                <a:latin typeface="Arial"/>
                <a:cs typeface="Arial"/>
              </a:rPr>
              <a:t>6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5332" y="1335405"/>
            <a:ext cx="251841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88820" algn="l"/>
              </a:tabLst>
            </a:pPr>
            <a:r>
              <a:rPr dirty="0" sz="1500" spc="30" i="1">
                <a:solidFill>
                  <a:srgbClr val="131313"/>
                </a:solidFill>
                <a:latin typeface="Arial"/>
                <a:cs typeface="Arial"/>
              </a:rPr>
              <a:t>2020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	</a:t>
            </a:r>
            <a:r>
              <a:rPr dirty="0" sz="1500" spc="45" i="1">
                <a:solidFill>
                  <a:srgbClr val="131313"/>
                </a:solidFill>
                <a:latin typeface="Arial"/>
                <a:cs typeface="Arial"/>
              </a:rPr>
              <a:t>376.2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51563" y="1322675"/>
            <a:ext cx="53975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75" i="1">
                <a:solidFill>
                  <a:srgbClr val="131313"/>
                </a:solidFill>
                <a:latin typeface="Times New Roman"/>
                <a:cs typeface="Times New Roman"/>
              </a:rPr>
              <a:t>11.34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50207" y="1860925"/>
            <a:ext cx="5884545" cy="719645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40640" marR="290195" indent="279400">
              <a:lnSpc>
                <a:spcPct val="104299"/>
              </a:lnSpc>
              <a:spcBef>
                <a:spcPts val="25"/>
              </a:spcBef>
            </a:pP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{This</a:t>
            </a:r>
            <a:r>
              <a:rPr dirty="0" sz="1500" spc="2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table</a:t>
            </a:r>
            <a:r>
              <a:rPr dirty="0" sz="1500" spc="1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illustrates</a:t>
            </a:r>
            <a:r>
              <a:rPr dirty="0" sz="1500" spc="18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the</a:t>
            </a:r>
            <a:r>
              <a:rPr dirty="0" sz="1500" spc="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structure</a:t>
            </a:r>
            <a:r>
              <a:rPr dirty="0" sz="1500" spc="18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of</a:t>
            </a:r>
            <a:r>
              <a:rPr dirty="0" sz="1500" spc="15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the</a:t>
            </a:r>
            <a:r>
              <a:rPr dirty="0" sz="1500" spc="-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synthetic</a:t>
            </a:r>
            <a:r>
              <a:rPr dirty="0" sz="1500" spc="18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data.</a:t>
            </a:r>
            <a:r>
              <a:rPr dirty="0" sz="1500" spc="8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35" i="1">
                <a:solidFill>
                  <a:srgbClr val="131313"/>
                </a:solidFill>
                <a:latin typeface="Arial"/>
                <a:cs typeface="Arial"/>
              </a:rPr>
              <a:t>The</a:t>
            </a:r>
            <a:r>
              <a:rPr dirty="0" sz="1500" spc="3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full</a:t>
            </a:r>
            <a:r>
              <a:rPr dirty="0" sz="1500" spc="8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dataset</a:t>
            </a:r>
            <a:r>
              <a:rPr dirty="0" sz="1500" spc="13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includes</a:t>
            </a:r>
            <a:r>
              <a:rPr dirty="0" sz="1500" spc="10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years</a:t>
            </a:r>
            <a:r>
              <a:rPr dirty="0" sz="1500" spc="2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1980-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2020</a:t>
            </a:r>
            <a:r>
              <a:rPr dirty="0" sz="1500" spc="24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with</a:t>
            </a:r>
            <a:r>
              <a:rPr dirty="0" sz="1500" spc="1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similar</a:t>
            </a:r>
            <a:r>
              <a:rPr dirty="0" sz="1500" spc="18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values.)</a:t>
            </a:r>
            <a:endParaRPr sz="15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204"/>
              </a:spcBef>
            </a:pPr>
            <a:r>
              <a:rPr dirty="0" u="heavy" sz="1850" spc="65" i="1">
                <a:solidFill>
                  <a:srgbClr val="284852"/>
                </a:solidFill>
                <a:uFill>
                  <a:solidFill>
                    <a:srgbClr val="284852"/>
                  </a:solidFill>
                </a:uFill>
                <a:latin typeface="Arial"/>
                <a:cs typeface="Arial"/>
              </a:rPr>
              <a:t>Methodology</a:t>
            </a:r>
            <a:endParaRPr sz="1850">
              <a:latin typeface="Arial"/>
              <a:cs typeface="Arial"/>
            </a:endParaRPr>
          </a:p>
          <a:p>
            <a:pPr marL="277495" indent="-226695">
              <a:lnSpc>
                <a:spcPct val="100000"/>
              </a:lnSpc>
              <a:spcBef>
                <a:spcPts val="780"/>
              </a:spcBef>
              <a:buAutoNum type="arabicPeriod"/>
              <a:tabLst>
                <a:tab pos="277495" algn="l"/>
              </a:tabLst>
            </a:pPr>
            <a:r>
              <a:rPr dirty="0" sz="1500" spc="80" i="1">
                <a:solidFill>
                  <a:srgbClr val="6075A3"/>
                </a:solidFill>
                <a:latin typeface="Arial"/>
                <a:cs typeface="Arial"/>
              </a:rPr>
              <a:t>Data</a:t>
            </a:r>
            <a:r>
              <a:rPr dirty="0" sz="1500" spc="15" i="1">
                <a:solidFill>
                  <a:srgbClr val="6075A3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6075A3"/>
                </a:solidFill>
                <a:latin typeface="Arial"/>
                <a:cs typeface="Arial"/>
              </a:rPr>
              <a:t>Preprocessing</a:t>
            </a:r>
            <a:endParaRPr sz="1500">
              <a:latin typeface="Arial"/>
              <a:cs typeface="Arial"/>
            </a:endParaRPr>
          </a:p>
          <a:p>
            <a:pPr lvl="1" marL="482600" marR="86995" indent="-238125">
              <a:lnSpc>
                <a:spcPct val="103400"/>
              </a:lnSpc>
              <a:spcBef>
                <a:spcPts val="445"/>
              </a:spcBef>
              <a:buSzPct val="73333"/>
              <a:buFont typeface="Arial"/>
              <a:buChar char="✓"/>
              <a:tabLst>
                <a:tab pos="482600" algn="l"/>
                <a:tab pos="515620" algn="l"/>
              </a:tabLst>
            </a:pPr>
            <a:r>
              <a:rPr dirty="0" sz="1500">
                <a:solidFill>
                  <a:srgbClr val="131313"/>
                </a:solidFill>
                <a:latin typeface="Arial"/>
                <a:cs typeface="Arial"/>
              </a:rPr>
              <a:t>	</a:t>
            </a: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Handling</a:t>
            </a:r>
            <a:r>
              <a:rPr dirty="0" sz="1500" spc="190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Missing</a:t>
            </a:r>
            <a:r>
              <a:rPr dirty="0" sz="1500" spc="229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Values:</a:t>
            </a:r>
            <a:r>
              <a:rPr dirty="0" sz="1500" spc="120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80" i="1">
                <a:solidFill>
                  <a:srgbClr val="131313"/>
                </a:solidFill>
                <a:latin typeface="Arial"/>
                <a:cs typeface="Arial"/>
              </a:rPr>
              <a:t>The</a:t>
            </a:r>
            <a:r>
              <a:rPr dirty="0" sz="1500" spc="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synthetic</a:t>
            </a:r>
            <a:r>
              <a:rPr dirty="0" sz="1500" spc="21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dataset</a:t>
            </a:r>
            <a:r>
              <a:rPr dirty="0" sz="1500" spc="14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contains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60" i="1">
                <a:solidFill>
                  <a:srgbClr val="131313"/>
                </a:solidFill>
                <a:latin typeface="Arial"/>
                <a:cs typeface="Arial"/>
              </a:rPr>
              <a:t>no</a:t>
            </a:r>
            <a:r>
              <a:rPr dirty="0" sz="1500" spc="3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missing</a:t>
            </a:r>
            <a:r>
              <a:rPr dirty="0" sz="1500" spc="1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values.</a:t>
            </a:r>
            <a:r>
              <a:rPr dirty="0" sz="1500" spc="13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In</a:t>
            </a:r>
            <a:r>
              <a:rPr dirty="0" sz="1500" spc="19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real-world</a:t>
            </a:r>
            <a:r>
              <a:rPr dirty="0" sz="1500" spc="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climate</a:t>
            </a:r>
            <a:r>
              <a:rPr dirty="0" sz="1500" spc="1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datasets,</a:t>
            </a:r>
            <a:r>
              <a:rPr dirty="0" sz="1500" spc="2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25" i="1">
                <a:solidFill>
                  <a:srgbClr val="131313"/>
                </a:solidFill>
                <a:latin typeface="Arial"/>
                <a:cs typeface="Arial"/>
              </a:rPr>
              <a:t>any</a:t>
            </a:r>
            <a:r>
              <a:rPr dirty="0" sz="1500" spc="5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missing</a:t>
            </a:r>
            <a:r>
              <a:rPr dirty="0" sz="1500" spc="9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entries</a:t>
            </a:r>
            <a:r>
              <a:rPr dirty="0" sz="1500" spc="10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(e</a:t>
            </a:r>
            <a:r>
              <a:rPr dirty="0" sz="1500" i="1">
                <a:solidFill>
                  <a:srgbClr val="343434"/>
                </a:solidFill>
                <a:latin typeface="Arial"/>
                <a:cs typeface="Arial"/>
              </a:rPr>
              <a:t>.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g.</a:t>
            </a:r>
            <a:r>
              <a:rPr dirty="0" sz="1500" i="1">
                <a:solidFill>
                  <a:srgbClr val="464646"/>
                </a:solidFill>
                <a:latin typeface="Arial"/>
                <a:cs typeface="Arial"/>
              </a:rPr>
              <a:t>,</a:t>
            </a:r>
            <a:r>
              <a:rPr dirty="0" sz="1500" spc="155" i="1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sensor</a:t>
            </a:r>
            <a:r>
              <a:rPr dirty="0" sz="1500" spc="1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gaps)</a:t>
            </a:r>
            <a:r>
              <a:rPr dirty="0" sz="1500" spc="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would</a:t>
            </a:r>
            <a:r>
              <a:rPr dirty="0" sz="1500" spc="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70" i="1">
                <a:solidFill>
                  <a:srgbClr val="131313"/>
                </a:solidFill>
                <a:latin typeface="Arial"/>
                <a:cs typeface="Arial"/>
              </a:rPr>
              <a:t>be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imputed</a:t>
            </a:r>
            <a:r>
              <a:rPr dirty="0" sz="1500" spc="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(mean</a:t>
            </a:r>
            <a:r>
              <a:rPr dirty="0" sz="1500" spc="-10" i="1">
                <a:solidFill>
                  <a:srgbClr val="464646"/>
                </a:solidFill>
                <a:latin typeface="Arial"/>
                <a:cs typeface="Arial"/>
              </a:rPr>
              <a:t>,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median</a:t>
            </a:r>
            <a:r>
              <a:rPr dirty="0" sz="1500" i="1">
                <a:solidFill>
                  <a:srgbClr val="464646"/>
                </a:solidFill>
                <a:latin typeface="Arial"/>
                <a:cs typeface="Arial"/>
              </a:rPr>
              <a:t>,</a:t>
            </a:r>
            <a:r>
              <a:rPr dirty="0" sz="1500" spc="125" i="1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or</a:t>
            </a:r>
            <a:r>
              <a:rPr dirty="0" sz="1500" spc="10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model-based</a:t>
            </a:r>
            <a:r>
              <a:rPr dirty="0" sz="1500" spc="254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imputation)</a:t>
            </a:r>
            <a:r>
              <a:rPr dirty="0" sz="1500" spc="2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to</a:t>
            </a:r>
            <a:r>
              <a:rPr dirty="0" sz="1500" spc="1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avoid</a:t>
            </a:r>
            <a:r>
              <a:rPr dirty="0" sz="1500" spc="9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data</a:t>
            </a:r>
            <a:r>
              <a:rPr dirty="0" sz="1500" spc="3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loss.</a:t>
            </a:r>
            <a:endParaRPr sz="1500">
              <a:latin typeface="Arial"/>
              <a:cs typeface="Arial"/>
            </a:endParaRPr>
          </a:p>
          <a:p>
            <a:pPr lvl="1" marL="482600" marR="123825" indent="-238125">
              <a:lnSpc>
                <a:spcPct val="101600"/>
              </a:lnSpc>
              <a:spcBef>
                <a:spcPts val="434"/>
              </a:spcBef>
              <a:buSzPct val="73333"/>
              <a:buFont typeface="Arial"/>
              <a:buChar char="✓"/>
              <a:tabLst>
                <a:tab pos="482600" algn="l"/>
                <a:tab pos="513715" algn="l"/>
              </a:tabLst>
            </a:pPr>
            <a:r>
              <a:rPr dirty="0" sz="1500">
                <a:solidFill>
                  <a:srgbClr val="131313"/>
                </a:solidFill>
                <a:latin typeface="Arial"/>
                <a:cs typeface="Arial"/>
              </a:rPr>
              <a:t>	</a:t>
            </a: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Data</a:t>
            </a:r>
            <a:r>
              <a:rPr dirty="0" sz="1500" spc="45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Cleaning:</a:t>
            </a:r>
            <a:r>
              <a:rPr dirty="0" sz="1500" spc="225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75" i="1">
                <a:solidFill>
                  <a:srgbClr val="131313"/>
                </a:solidFill>
                <a:latin typeface="Arial"/>
                <a:cs typeface="Arial"/>
              </a:rPr>
              <a:t>We</a:t>
            </a:r>
            <a:r>
              <a:rPr dirty="0" sz="1500" spc="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ensure</a:t>
            </a:r>
            <a:r>
              <a:rPr dirty="0" sz="1500" spc="10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there</a:t>
            </a:r>
            <a:r>
              <a:rPr dirty="0" sz="1500" spc="-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60" i="1">
                <a:solidFill>
                  <a:srgbClr val="131313"/>
                </a:solidFill>
                <a:latin typeface="Arial"/>
                <a:cs typeface="Arial"/>
              </a:rPr>
              <a:t>are</a:t>
            </a:r>
            <a:r>
              <a:rPr dirty="0" sz="1500" spc="8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60" i="1">
                <a:solidFill>
                  <a:srgbClr val="131313"/>
                </a:solidFill>
                <a:latin typeface="Arial"/>
                <a:cs typeface="Arial"/>
              </a:rPr>
              <a:t>no</a:t>
            </a:r>
            <a:r>
              <a:rPr dirty="0" sz="1500" spc="-1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duplicate</a:t>
            </a:r>
            <a:r>
              <a:rPr dirty="0" sz="1500" spc="1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25" i="1">
                <a:solidFill>
                  <a:srgbClr val="131313"/>
                </a:solidFill>
                <a:latin typeface="Arial"/>
                <a:cs typeface="Arial"/>
              </a:rPr>
              <a:t>or</a:t>
            </a:r>
            <a:r>
              <a:rPr dirty="0" sz="1500" spc="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inconsistent</a:t>
            </a:r>
            <a:r>
              <a:rPr dirty="0" sz="1500" spc="31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records</a:t>
            </a:r>
            <a:r>
              <a:rPr dirty="0" sz="1500" i="1">
                <a:solidFill>
                  <a:srgbClr val="464646"/>
                </a:solidFill>
                <a:latin typeface="Arial"/>
                <a:cs typeface="Arial"/>
              </a:rPr>
              <a:t>.</a:t>
            </a:r>
            <a:r>
              <a:rPr dirty="0" sz="1500" spc="175" i="1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For</a:t>
            </a:r>
            <a:r>
              <a:rPr dirty="0" sz="1500" spc="9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textual</a:t>
            </a:r>
            <a:r>
              <a:rPr dirty="0" sz="1500" spc="7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or</a:t>
            </a:r>
            <a:r>
              <a:rPr dirty="0" sz="1500" spc="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categorical</a:t>
            </a:r>
            <a:r>
              <a:rPr dirty="0" sz="1500" spc="1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data</a:t>
            </a:r>
            <a:r>
              <a:rPr dirty="0" sz="1500" spc="1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(none</a:t>
            </a:r>
            <a:r>
              <a:rPr dirty="0" sz="1500" spc="8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25" i="1">
                <a:solidFill>
                  <a:srgbClr val="131313"/>
                </a:solidFill>
                <a:latin typeface="Arial"/>
                <a:cs typeface="Arial"/>
              </a:rPr>
              <a:t>in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this</a:t>
            </a:r>
            <a:r>
              <a:rPr dirty="0" sz="1500" spc="7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case)</a:t>
            </a:r>
            <a:r>
              <a:rPr dirty="0" sz="1500" i="1">
                <a:solidFill>
                  <a:srgbClr val="464646"/>
                </a:solidFill>
                <a:latin typeface="Arial"/>
                <a:cs typeface="Arial"/>
              </a:rPr>
              <a:t>,</a:t>
            </a:r>
            <a:r>
              <a:rPr dirty="0" sz="1500" spc="85" i="1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appropriate</a:t>
            </a:r>
            <a:r>
              <a:rPr dirty="0" sz="1500" spc="1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encoding</a:t>
            </a:r>
            <a:r>
              <a:rPr dirty="0" sz="1500" spc="24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would</a:t>
            </a:r>
            <a:r>
              <a:rPr dirty="0" sz="1500" spc="4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70" i="1">
                <a:solidFill>
                  <a:srgbClr val="131313"/>
                </a:solidFill>
                <a:latin typeface="Arial"/>
                <a:cs typeface="Arial"/>
              </a:rPr>
              <a:t>be</a:t>
            </a:r>
            <a:r>
              <a:rPr dirty="0" sz="1500" spc="-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applied</a:t>
            </a:r>
            <a:r>
              <a:rPr dirty="0" sz="1500" spc="-10" i="1">
                <a:solidFill>
                  <a:srgbClr val="464646"/>
                </a:solidFill>
                <a:latin typeface="Arial"/>
                <a:cs typeface="Arial"/>
              </a:rPr>
              <a:t>.</a:t>
            </a:r>
            <a:endParaRPr sz="1500">
              <a:latin typeface="Arial"/>
              <a:cs typeface="Arial"/>
            </a:endParaRPr>
          </a:p>
          <a:p>
            <a:pPr lvl="1" marL="474345" marR="267970" indent="-235585">
              <a:lnSpc>
                <a:spcPct val="103600"/>
              </a:lnSpc>
              <a:spcBef>
                <a:spcPts val="445"/>
              </a:spcBef>
              <a:buChar char="✓"/>
              <a:tabLst>
                <a:tab pos="474345" algn="l"/>
                <a:tab pos="480059" algn="l"/>
              </a:tabLst>
            </a:pPr>
            <a:r>
              <a:rPr dirty="0" sz="1100">
                <a:solidFill>
                  <a:srgbClr val="131313"/>
                </a:solidFill>
                <a:latin typeface="Arial"/>
                <a:cs typeface="Arial"/>
              </a:rPr>
              <a:t>	</a:t>
            </a:r>
            <a:r>
              <a:rPr dirty="0" sz="1500" spc="20" b="1" i="1">
                <a:solidFill>
                  <a:srgbClr val="131313"/>
                </a:solidFill>
                <a:latin typeface="Arial"/>
                <a:cs typeface="Arial"/>
              </a:rPr>
              <a:t>Normalization/Scaling:</a:t>
            </a:r>
            <a:r>
              <a:rPr dirty="0" sz="1500" spc="80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20" i="1">
                <a:solidFill>
                  <a:srgbClr val="131313"/>
                </a:solidFill>
                <a:latin typeface="Arial"/>
                <a:cs typeface="Arial"/>
              </a:rPr>
              <a:t>Features</a:t>
            </a:r>
            <a:r>
              <a:rPr dirty="0" sz="1500" spc="1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20" i="1">
                <a:solidFill>
                  <a:srgbClr val="131313"/>
                </a:solidFill>
                <a:latin typeface="Arial"/>
                <a:cs typeface="Arial"/>
              </a:rPr>
              <a:t>are</a:t>
            </a:r>
            <a:r>
              <a:rPr dirty="0" sz="1500" spc="3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20" i="1">
                <a:solidFill>
                  <a:srgbClr val="131313"/>
                </a:solidFill>
                <a:latin typeface="Arial"/>
                <a:cs typeface="Arial"/>
              </a:rPr>
              <a:t>scaled</a:t>
            </a:r>
            <a:r>
              <a:rPr dirty="0" sz="1500" spc="8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20" i="1">
                <a:solidFill>
                  <a:srgbClr val="131313"/>
                </a:solidFill>
                <a:latin typeface="Arial"/>
                <a:cs typeface="Arial"/>
              </a:rPr>
              <a:t>to</a:t>
            </a:r>
            <a:r>
              <a:rPr dirty="0" sz="1500" spc="3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ensure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uniform</a:t>
            </a:r>
            <a:r>
              <a:rPr dirty="0" sz="1500" spc="18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ranges.</a:t>
            </a:r>
            <a:r>
              <a:rPr dirty="0" sz="1500" spc="21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In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our</a:t>
            </a:r>
            <a:r>
              <a:rPr dirty="0" sz="1500" spc="1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example,</a:t>
            </a:r>
            <a:r>
              <a:rPr dirty="0" sz="1500" spc="19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5" i="1">
                <a:solidFill>
                  <a:srgbClr val="131313"/>
                </a:solidFill>
                <a:latin typeface="Arial"/>
                <a:cs typeface="Arial"/>
              </a:rPr>
              <a:t>we</a:t>
            </a:r>
            <a:r>
              <a:rPr dirty="0" sz="1500" spc="-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apply</a:t>
            </a:r>
            <a:r>
              <a:rPr dirty="0" sz="1500" spc="5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Min-Max</a:t>
            </a:r>
            <a:r>
              <a:rPr dirty="0" sz="1500" spc="19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scaling </a:t>
            </a:r>
            <a:r>
              <a:rPr dirty="0" sz="1500" spc="105" i="1">
                <a:solidFill>
                  <a:srgbClr val="131313"/>
                </a:solidFill>
                <a:latin typeface="Arial"/>
                <a:cs typeface="Arial"/>
              </a:rPr>
              <a:t>(0-</a:t>
            </a:r>
            <a:r>
              <a:rPr dirty="0" sz="1500" spc="114" i="1">
                <a:solidFill>
                  <a:srgbClr val="131313"/>
                </a:solidFill>
                <a:latin typeface="Arial"/>
                <a:cs typeface="Arial"/>
              </a:rPr>
              <a:t>1)</a:t>
            </a:r>
            <a:r>
              <a:rPr dirty="0" sz="1500" spc="-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110" i="1">
                <a:solidFill>
                  <a:srgbClr val="131313"/>
                </a:solidFill>
                <a:latin typeface="Arial"/>
                <a:cs typeface="Arial"/>
              </a:rPr>
              <a:t>to</a:t>
            </a:r>
            <a:r>
              <a:rPr dirty="0" sz="1500" spc="-5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Year</a:t>
            </a:r>
            <a:r>
              <a:rPr dirty="0" sz="1500" spc="1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and</a:t>
            </a:r>
            <a:r>
              <a:rPr dirty="0" sz="1500" spc="-3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CO</a:t>
            </a:r>
            <a:r>
              <a:rPr dirty="0" sz="1500" i="1">
                <a:solidFill>
                  <a:srgbClr val="464646"/>
                </a:solidFill>
                <a:latin typeface="Arial"/>
                <a:cs typeface="Arial"/>
              </a:rPr>
              <a:t>2</a:t>
            </a:r>
            <a:r>
              <a:rPr dirty="0" sz="1500" spc="60" i="1">
                <a:solidFill>
                  <a:srgbClr val="464646"/>
                </a:solidFill>
                <a:latin typeface="Arial"/>
                <a:cs typeface="Arial"/>
              </a:rPr>
              <a:t>  </a:t>
            </a:r>
            <a:r>
              <a:rPr dirty="0" sz="1500" spc="75" i="1">
                <a:solidFill>
                  <a:srgbClr val="131313"/>
                </a:solidFill>
                <a:latin typeface="Arial"/>
                <a:cs typeface="Arial"/>
              </a:rPr>
              <a:t>so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that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models</a:t>
            </a:r>
            <a:r>
              <a:rPr dirty="0" sz="1500" spc="1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60" i="1">
                <a:solidFill>
                  <a:srgbClr val="131313"/>
                </a:solidFill>
                <a:latin typeface="Arial"/>
                <a:cs typeface="Arial"/>
              </a:rPr>
              <a:t>are</a:t>
            </a:r>
            <a:r>
              <a:rPr dirty="0" sz="1500" spc="-1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not</a:t>
            </a:r>
            <a:r>
              <a:rPr dirty="0" sz="1500" spc="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biased</a:t>
            </a:r>
            <a:r>
              <a:rPr dirty="0" sz="1500" spc="5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30" i="1">
                <a:solidFill>
                  <a:srgbClr val="131313"/>
                </a:solidFill>
                <a:latin typeface="Arial"/>
                <a:cs typeface="Arial"/>
              </a:rPr>
              <a:t>by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differing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scales.</a:t>
            </a:r>
            <a:r>
              <a:rPr dirty="0" sz="1500" spc="21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This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 step</a:t>
            </a:r>
            <a:r>
              <a:rPr dirty="0" sz="1500" spc="3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reduces</a:t>
            </a:r>
            <a:r>
              <a:rPr dirty="0" sz="1500" spc="2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training</a:t>
            </a:r>
            <a:r>
              <a:rPr dirty="0" sz="1500" spc="1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difficulty</a:t>
            </a:r>
            <a:r>
              <a:rPr dirty="0" sz="1500" spc="204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25" i="1">
                <a:solidFill>
                  <a:srgbClr val="131313"/>
                </a:solidFill>
                <a:latin typeface="Arial"/>
                <a:cs typeface="Arial"/>
              </a:rPr>
              <a:t>for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algorithms</a:t>
            </a:r>
            <a:r>
              <a:rPr dirty="0" sz="1500" spc="21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sensitive</a:t>
            </a:r>
            <a:r>
              <a:rPr dirty="0" sz="1500" spc="204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to</a:t>
            </a:r>
            <a:r>
              <a:rPr dirty="0" sz="1500" spc="15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feature</a:t>
            </a:r>
            <a:r>
              <a:rPr dirty="0" sz="1500" spc="1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magnitude.</a:t>
            </a:r>
            <a:endParaRPr sz="1500">
              <a:latin typeface="Arial"/>
              <a:cs typeface="Arial"/>
            </a:endParaRPr>
          </a:p>
          <a:p>
            <a:pPr marL="277495" indent="-252095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277495" algn="l"/>
              </a:tabLst>
            </a:pPr>
            <a:r>
              <a:rPr dirty="0" sz="1500" spc="65" i="1">
                <a:solidFill>
                  <a:srgbClr val="284852"/>
                </a:solidFill>
                <a:latin typeface="Arial"/>
                <a:cs typeface="Arial"/>
              </a:rPr>
              <a:t>Feature</a:t>
            </a:r>
            <a:r>
              <a:rPr dirty="0" sz="1500" spc="75" i="1">
                <a:solidFill>
                  <a:srgbClr val="284852"/>
                </a:solidFill>
                <a:latin typeface="Arial"/>
                <a:cs typeface="Arial"/>
              </a:rPr>
              <a:t> </a:t>
            </a:r>
            <a:r>
              <a:rPr dirty="0" sz="1500" spc="40" i="1">
                <a:solidFill>
                  <a:srgbClr val="284852"/>
                </a:solidFill>
                <a:latin typeface="Arial"/>
                <a:cs typeface="Arial"/>
              </a:rPr>
              <a:t>Engineering</a:t>
            </a:r>
            <a:endParaRPr sz="1500">
              <a:latin typeface="Arial"/>
              <a:cs typeface="Arial"/>
            </a:endParaRPr>
          </a:p>
          <a:p>
            <a:pPr lvl="1" marL="477520" marR="238125" indent="-232410">
              <a:lnSpc>
                <a:spcPct val="102899"/>
              </a:lnSpc>
              <a:spcBef>
                <a:spcPts val="505"/>
              </a:spcBef>
              <a:buSzPct val="73333"/>
              <a:buFont typeface="Arial"/>
              <a:buChar char="✓"/>
              <a:tabLst>
                <a:tab pos="477520" algn="l"/>
                <a:tab pos="516890" algn="l"/>
              </a:tabLst>
            </a:pPr>
            <a:r>
              <a:rPr dirty="0" sz="1500">
                <a:solidFill>
                  <a:srgbClr val="131313"/>
                </a:solidFill>
                <a:latin typeface="Arial"/>
                <a:cs typeface="Arial"/>
              </a:rPr>
              <a:t>	</a:t>
            </a: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Feature</a:t>
            </a:r>
            <a:r>
              <a:rPr dirty="0" sz="1500" spc="95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Selection:</a:t>
            </a:r>
            <a:r>
              <a:rPr dirty="0" sz="1500" spc="220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95" i="1">
                <a:solidFill>
                  <a:srgbClr val="131313"/>
                </a:solidFill>
                <a:latin typeface="Arial"/>
                <a:cs typeface="Arial"/>
              </a:rPr>
              <a:t>We</a:t>
            </a:r>
            <a:r>
              <a:rPr dirty="0" sz="1500" spc="-5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select</a:t>
            </a:r>
            <a:r>
              <a:rPr dirty="0" sz="1500" spc="18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Year</a:t>
            </a:r>
            <a:r>
              <a:rPr dirty="0" sz="1500" spc="160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and</a:t>
            </a:r>
            <a:r>
              <a:rPr dirty="0" sz="1500" spc="8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25" b="1" i="1">
                <a:solidFill>
                  <a:srgbClr val="131313"/>
                </a:solidFill>
                <a:latin typeface="Arial"/>
                <a:cs typeface="Arial"/>
              </a:rPr>
              <a:t>CO</a:t>
            </a:r>
            <a:r>
              <a:rPr dirty="0" baseline="-13888" sz="1500" spc="-37" b="1" i="1">
                <a:solidFill>
                  <a:srgbClr val="131313"/>
                </a:solidFill>
                <a:latin typeface="Arial"/>
                <a:cs typeface="Arial"/>
              </a:rPr>
              <a:t>2</a:t>
            </a:r>
            <a:r>
              <a:rPr dirty="0" baseline="-13888" sz="1500" spc="-37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concentration</a:t>
            </a:r>
            <a:r>
              <a:rPr dirty="0" sz="1500" spc="285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70" i="1">
                <a:solidFill>
                  <a:srgbClr val="131313"/>
                </a:solidFill>
                <a:latin typeface="Arial"/>
                <a:cs typeface="Arial"/>
              </a:rPr>
              <a:t>as</a:t>
            </a:r>
            <a:r>
              <a:rPr dirty="0" sz="1500" spc="1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input</a:t>
            </a:r>
            <a:r>
              <a:rPr dirty="0" sz="1500" spc="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features</a:t>
            </a:r>
            <a:r>
              <a:rPr dirty="0" sz="1500" i="1">
                <a:solidFill>
                  <a:srgbClr val="464646"/>
                </a:solidFill>
                <a:latin typeface="Arial"/>
                <a:cs typeface="Arial"/>
              </a:rPr>
              <a:t>,</a:t>
            </a:r>
            <a:r>
              <a:rPr dirty="0" sz="1500" spc="130" i="1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based</a:t>
            </a:r>
            <a:r>
              <a:rPr dirty="0" sz="1500" spc="114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on</a:t>
            </a:r>
            <a:r>
              <a:rPr dirty="0" sz="1500" spc="1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domain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knowledge</a:t>
            </a:r>
            <a:r>
              <a:rPr dirty="0" sz="1500" spc="30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that</a:t>
            </a:r>
            <a:r>
              <a:rPr dirty="0" sz="1500" spc="13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they</a:t>
            </a:r>
            <a:r>
              <a:rPr dirty="0" sz="1500" spc="1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correlate</a:t>
            </a:r>
            <a:r>
              <a:rPr dirty="0" sz="1500" spc="19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with</a:t>
            </a:r>
            <a:r>
              <a:rPr dirty="0" sz="1500" spc="9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temperature</a:t>
            </a:r>
            <a:r>
              <a:rPr dirty="0" sz="1500" i="1">
                <a:solidFill>
                  <a:srgbClr val="464646"/>
                </a:solidFill>
                <a:latin typeface="Arial"/>
                <a:cs typeface="Arial"/>
              </a:rPr>
              <a:t>.</a:t>
            </a:r>
            <a:r>
              <a:rPr dirty="0" sz="1500" spc="110" i="1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These</a:t>
            </a:r>
            <a:r>
              <a:rPr dirty="0" sz="1500" spc="14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30" i="1">
                <a:solidFill>
                  <a:srgbClr val="131313"/>
                </a:solidFill>
                <a:latin typeface="Arial"/>
                <a:cs typeface="Arial"/>
              </a:rPr>
              <a:t>two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features</a:t>
            </a:r>
            <a:r>
              <a:rPr dirty="0" sz="1500" spc="14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capture</a:t>
            </a:r>
            <a:r>
              <a:rPr dirty="0" sz="1500" spc="17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the</a:t>
            </a:r>
            <a:r>
              <a:rPr dirty="0" sz="1500" spc="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long-term</a:t>
            </a:r>
            <a:r>
              <a:rPr dirty="0" sz="1500" spc="18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trend</a:t>
            </a:r>
            <a:r>
              <a:rPr dirty="0" sz="1500" spc="8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and</a:t>
            </a:r>
            <a:r>
              <a:rPr dirty="0" sz="1500" spc="114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greenhouse</a:t>
            </a:r>
            <a:r>
              <a:rPr dirty="0" sz="1500" spc="15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30" i="1">
                <a:solidFill>
                  <a:srgbClr val="131313"/>
                </a:solidFill>
                <a:latin typeface="Arial"/>
                <a:cs typeface="Arial"/>
              </a:rPr>
              <a:t>gas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effect</a:t>
            </a:r>
            <a:r>
              <a:rPr dirty="0" sz="1500" spc="9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60" i="1">
                <a:solidFill>
                  <a:srgbClr val="131313"/>
                </a:solidFill>
                <a:latin typeface="Arial"/>
                <a:cs typeface="Arial"/>
              </a:rPr>
              <a:t>on</a:t>
            </a:r>
            <a:r>
              <a:rPr dirty="0" sz="1500" spc="-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climate.</a:t>
            </a:r>
            <a:endParaRPr sz="1500">
              <a:latin typeface="Arial"/>
              <a:cs typeface="Arial"/>
            </a:endParaRPr>
          </a:p>
          <a:p>
            <a:pPr lvl="1" marL="477520" marR="68580" indent="-233045">
              <a:lnSpc>
                <a:spcPct val="103200"/>
              </a:lnSpc>
              <a:spcBef>
                <a:spcPts val="450"/>
              </a:spcBef>
              <a:buChar char="✓"/>
              <a:tabLst>
                <a:tab pos="477520" algn="l"/>
                <a:tab pos="485140" algn="l"/>
              </a:tabLst>
            </a:pPr>
            <a:r>
              <a:rPr dirty="0" sz="1100">
                <a:solidFill>
                  <a:srgbClr val="131313"/>
                </a:solidFill>
                <a:latin typeface="Arial"/>
                <a:cs typeface="Arial"/>
              </a:rPr>
              <a:t>	</a:t>
            </a:r>
            <a:r>
              <a:rPr dirty="0" sz="1500" spc="30" b="1" i="1">
                <a:solidFill>
                  <a:srgbClr val="131313"/>
                </a:solidFill>
                <a:latin typeface="Arial"/>
                <a:cs typeface="Arial"/>
              </a:rPr>
              <a:t>Additional</a:t>
            </a:r>
            <a:r>
              <a:rPr dirty="0" sz="1500" spc="45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30" b="1" i="1">
                <a:solidFill>
                  <a:srgbClr val="131313"/>
                </a:solidFill>
                <a:latin typeface="Arial"/>
                <a:cs typeface="Arial"/>
              </a:rPr>
              <a:t>Transformations:</a:t>
            </a:r>
            <a:r>
              <a:rPr dirty="0" sz="1500" spc="-125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30" i="1">
                <a:solidFill>
                  <a:srgbClr val="131313"/>
                </a:solidFill>
                <a:latin typeface="Arial"/>
                <a:cs typeface="Arial"/>
              </a:rPr>
              <a:t>In</a:t>
            </a:r>
            <a:r>
              <a:rPr dirty="0" sz="1500" spc="-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30" i="1">
                <a:solidFill>
                  <a:srgbClr val="131313"/>
                </a:solidFill>
                <a:latin typeface="Arial"/>
                <a:cs typeface="Arial"/>
              </a:rPr>
              <a:t>more</a:t>
            </a:r>
            <a:r>
              <a:rPr dirty="0" sz="1500" spc="-4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30" i="1">
                <a:solidFill>
                  <a:srgbClr val="131313"/>
                </a:solidFill>
                <a:latin typeface="Arial"/>
                <a:cs typeface="Arial"/>
              </a:rPr>
              <a:t>complex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30" i="1">
                <a:solidFill>
                  <a:srgbClr val="131313"/>
                </a:solidFill>
                <a:latin typeface="Arial"/>
                <a:cs typeface="Arial"/>
              </a:rPr>
              <a:t>models</a:t>
            </a:r>
            <a:r>
              <a:rPr dirty="0" sz="1500" spc="30" i="1">
                <a:solidFill>
                  <a:srgbClr val="464646"/>
                </a:solidFill>
                <a:latin typeface="Arial"/>
                <a:cs typeface="Arial"/>
              </a:rPr>
              <a:t>,</a:t>
            </a:r>
            <a:r>
              <a:rPr dirty="0" sz="1500" spc="60" i="1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1500" spc="-25" i="1">
                <a:solidFill>
                  <a:srgbClr val="131313"/>
                </a:solidFill>
                <a:latin typeface="Arial"/>
                <a:cs typeface="Arial"/>
              </a:rPr>
              <a:t>one</a:t>
            </a:r>
            <a:r>
              <a:rPr dirty="0" sz="1500" spc="-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could</a:t>
            </a:r>
            <a:r>
              <a:rPr dirty="0" sz="1500" spc="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engineer</a:t>
            </a:r>
            <a:r>
              <a:rPr dirty="0" sz="1500" spc="1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additional</a:t>
            </a:r>
            <a:r>
              <a:rPr dirty="0" sz="1500" spc="2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features</a:t>
            </a:r>
            <a:r>
              <a:rPr dirty="0" sz="1500" spc="8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(e.g.</a:t>
            </a:r>
            <a:r>
              <a:rPr dirty="0" sz="1500" spc="1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Year</a:t>
            </a:r>
            <a:r>
              <a:rPr dirty="0" baseline="27777" sz="1350" i="1">
                <a:solidFill>
                  <a:srgbClr val="131313"/>
                </a:solidFill>
                <a:latin typeface="Arial"/>
                <a:cs typeface="Arial"/>
              </a:rPr>
              <a:t>2</a:t>
            </a:r>
            <a:r>
              <a:rPr dirty="0" sz="900" i="1">
                <a:solidFill>
                  <a:srgbClr val="464646"/>
                </a:solidFill>
                <a:latin typeface="Arial"/>
                <a:cs typeface="Arial"/>
              </a:rPr>
              <a:t>,</a:t>
            </a:r>
            <a:r>
              <a:rPr dirty="0" sz="900" spc="170" i="1">
                <a:solidFill>
                  <a:srgbClr val="464646"/>
                </a:solidFill>
                <a:latin typeface="Arial"/>
                <a:cs typeface="Arial"/>
              </a:rPr>
              <a:t> 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interaction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terms</a:t>
            </a:r>
            <a:r>
              <a:rPr dirty="0" sz="1500" i="1">
                <a:solidFill>
                  <a:srgbClr val="464646"/>
                </a:solidFill>
                <a:latin typeface="Arial"/>
                <a:cs typeface="Arial"/>
              </a:rPr>
              <a:t>,</a:t>
            </a:r>
            <a:r>
              <a:rPr dirty="0" sz="1500" spc="70" i="1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or</a:t>
            </a:r>
            <a:r>
              <a:rPr dirty="0" sz="1500" spc="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seasonal</a:t>
            </a:r>
            <a:r>
              <a:rPr dirty="0" sz="1500" spc="204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indicators)</a:t>
            </a:r>
            <a:r>
              <a:rPr dirty="0" sz="1500" spc="18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to</a:t>
            </a:r>
            <a:r>
              <a:rPr dirty="0" sz="1500" spc="8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capture</a:t>
            </a:r>
            <a:r>
              <a:rPr dirty="0" sz="1500" spc="9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nonlinear</a:t>
            </a:r>
            <a:r>
              <a:rPr dirty="0" sz="1500" spc="2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trends.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Categorical</a:t>
            </a:r>
            <a:r>
              <a:rPr dirty="0" sz="1500" spc="3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features</a:t>
            </a:r>
            <a:r>
              <a:rPr dirty="0" sz="1500" spc="18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like</a:t>
            </a:r>
            <a:r>
              <a:rPr dirty="0" sz="1500" spc="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season</a:t>
            </a:r>
            <a:r>
              <a:rPr dirty="0" sz="1500" spc="17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or</a:t>
            </a:r>
            <a:r>
              <a:rPr dirty="0" sz="1500" spc="21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location</a:t>
            </a:r>
            <a:r>
              <a:rPr dirty="0" sz="1500" spc="13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could</a:t>
            </a:r>
            <a:r>
              <a:rPr dirty="0" sz="1500" spc="1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be</a:t>
            </a:r>
            <a:r>
              <a:rPr dirty="0" sz="1500" spc="7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one-</a:t>
            </a:r>
            <a:r>
              <a:rPr dirty="0" sz="1500" spc="-25" i="1">
                <a:solidFill>
                  <a:srgbClr val="131313"/>
                </a:solidFill>
                <a:latin typeface="Arial"/>
                <a:cs typeface="Arial"/>
              </a:rPr>
              <a:t>hot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encoded</a:t>
            </a:r>
            <a:r>
              <a:rPr dirty="0" sz="1500" spc="13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if</a:t>
            </a:r>
            <a:r>
              <a:rPr dirty="0" sz="1500" spc="1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present.</a:t>
            </a:r>
            <a:r>
              <a:rPr dirty="0" sz="1500" spc="2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For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simplicity,</a:t>
            </a:r>
            <a:r>
              <a:rPr dirty="0" sz="1500" spc="1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our</a:t>
            </a:r>
            <a:r>
              <a:rPr dirty="0" sz="1500" spc="8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dataset</a:t>
            </a:r>
            <a:r>
              <a:rPr dirty="0" sz="1500" spc="15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is</a:t>
            </a:r>
            <a:r>
              <a:rPr dirty="0" sz="1500" spc="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small</a:t>
            </a:r>
            <a:r>
              <a:rPr dirty="0" sz="1500" spc="1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25" i="1">
                <a:solidFill>
                  <a:srgbClr val="131313"/>
                </a:solidFill>
                <a:latin typeface="Arial"/>
                <a:cs typeface="Arial"/>
              </a:rPr>
              <a:t>and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directly</a:t>
            </a:r>
            <a:r>
              <a:rPr dirty="0" sz="1500" spc="17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uses</a:t>
            </a:r>
            <a:r>
              <a:rPr dirty="0" sz="1500" spc="14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the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5" i="1">
                <a:solidFill>
                  <a:srgbClr val="131313"/>
                </a:solidFill>
                <a:latin typeface="Arial"/>
                <a:cs typeface="Arial"/>
              </a:rPr>
              <a:t>two</a:t>
            </a:r>
            <a:r>
              <a:rPr dirty="0" sz="1500" spc="-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numeric</a:t>
            </a:r>
            <a:r>
              <a:rPr dirty="0" sz="1500" spc="13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features</a:t>
            </a:r>
            <a:r>
              <a:rPr dirty="0" sz="1500" spc="-10" i="1">
                <a:solidFill>
                  <a:srgbClr val="464646"/>
                </a:solidFill>
                <a:latin typeface="Arial"/>
                <a:cs typeface="Arial"/>
              </a:rPr>
              <a:t>.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4503" y="834072"/>
            <a:ext cx="5868670" cy="7533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550" spc="-50" b="1" i="1">
                <a:solidFill>
                  <a:srgbClr val="131313"/>
                </a:solidFill>
                <a:latin typeface="Arial"/>
                <a:cs typeface="Arial"/>
              </a:rPr>
              <a:t>7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550">
              <a:latin typeface="Arial"/>
              <a:cs typeface="Arial"/>
            </a:endParaRPr>
          </a:p>
          <a:p>
            <a:pPr marL="450215" marR="320675" indent="-231140">
              <a:lnSpc>
                <a:spcPct val="103600"/>
              </a:lnSpc>
              <a:buSzPct val="80000"/>
              <a:buFont typeface="Arial"/>
              <a:buChar char="✓"/>
              <a:tabLst>
                <a:tab pos="450215" algn="l"/>
                <a:tab pos="496570" algn="l"/>
              </a:tabLst>
            </a:pPr>
            <a:r>
              <a:rPr dirty="0" sz="1500">
                <a:solidFill>
                  <a:srgbClr val="131313"/>
                </a:solidFill>
                <a:latin typeface="Arial"/>
                <a:cs typeface="Arial"/>
              </a:rPr>
              <a:t>	</a:t>
            </a:r>
            <a:r>
              <a:rPr dirty="0" sz="1500" spc="20" b="1" i="1">
                <a:solidFill>
                  <a:srgbClr val="131313"/>
                </a:solidFill>
                <a:latin typeface="Arial"/>
                <a:cs typeface="Arial"/>
              </a:rPr>
              <a:t>Dimensionality</a:t>
            </a:r>
            <a:r>
              <a:rPr dirty="0" sz="1500" spc="-25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20" b="1" i="1">
                <a:solidFill>
                  <a:srgbClr val="131313"/>
                </a:solidFill>
                <a:latin typeface="Arial"/>
                <a:cs typeface="Arial"/>
              </a:rPr>
              <a:t>Considerations:</a:t>
            </a:r>
            <a:r>
              <a:rPr dirty="0" sz="1500" spc="-25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20" i="1">
                <a:solidFill>
                  <a:srgbClr val="131313"/>
                </a:solidFill>
                <a:latin typeface="Arial"/>
                <a:cs typeface="Arial"/>
              </a:rPr>
              <a:t>Since</a:t>
            </a:r>
            <a:r>
              <a:rPr dirty="0" sz="1500" spc="4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20" i="1">
                <a:solidFill>
                  <a:srgbClr val="131313"/>
                </a:solidFill>
                <a:latin typeface="Arial"/>
                <a:cs typeface="Arial"/>
              </a:rPr>
              <a:t>only</a:t>
            </a:r>
            <a:r>
              <a:rPr dirty="0" sz="1500" spc="18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5" i="1">
                <a:solidFill>
                  <a:srgbClr val="131313"/>
                </a:solidFill>
                <a:latin typeface="Arial"/>
                <a:cs typeface="Arial"/>
              </a:rPr>
              <a:t>two</a:t>
            </a:r>
            <a:r>
              <a:rPr dirty="0" sz="1500" spc="3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features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60" i="1">
                <a:solidFill>
                  <a:srgbClr val="131313"/>
                </a:solidFill>
                <a:latin typeface="Arial"/>
                <a:cs typeface="Arial"/>
              </a:rPr>
              <a:t>are</a:t>
            </a:r>
            <a:r>
              <a:rPr dirty="0" sz="1500" spc="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used,</a:t>
            </a:r>
            <a:r>
              <a:rPr dirty="0" sz="1500" spc="3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dimensionality</a:t>
            </a:r>
            <a:r>
              <a:rPr dirty="0" sz="1500" spc="5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reduction</a:t>
            </a:r>
            <a:r>
              <a:rPr dirty="0" sz="1500" spc="13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(PCA)</a:t>
            </a:r>
            <a:r>
              <a:rPr dirty="0" sz="1500" spc="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is</a:t>
            </a:r>
            <a:r>
              <a:rPr dirty="0" sz="1500" spc="3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not</a:t>
            </a:r>
            <a:r>
              <a:rPr dirty="0" sz="1500" spc="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necessary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here.</a:t>
            </a:r>
            <a:r>
              <a:rPr dirty="0" sz="1500" spc="13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In</a:t>
            </a:r>
            <a:r>
              <a:rPr dirty="0" sz="1500" spc="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larger</a:t>
            </a:r>
            <a:r>
              <a:rPr dirty="0" sz="1500" spc="10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climate</a:t>
            </a:r>
            <a:r>
              <a:rPr dirty="0" sz="1500" spc="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datasets,</a:t>
            </a:r>
            <a:r>
              <a:rPr dirty="0" sz="1500" spc="2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PCA</a:t>
            </a:r>
            <a:r>
              <a:rPr dirty="0" sz="1500" spc="13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or</a:t>
            </a:r>
            <a:r>
              <a:rPr dirty="0" sz="1500" spc="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feature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selection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would</a:t>
            </a:r>
            <a:r>
              <a:rPr dirty="0" sz="1500" spc="7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help</a:t>
            </a:r>
            <a:r>
              <a:rPr dirty="0" sz="1500" spc="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if</a:t>
            </a:r>
            <a:r>
              <a:rPr dirty="0" sz="1500" spc="1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many</a:t>
            </a:r>
            <a:r>
              <a:rPr dirty="0" sz="1500" spc="114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correlated</a:t>
            </a:r>
            <a:r>
              <a:rPr dirty="0" sz="1500" spc="2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variables</a:t>
            </a:r>
            <a:r>
              <a:rPr dirty="0" sz="1500" spc="2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(e.g.,</a:t>
            </a:r>
            <a:r>
              <a:rPr dirty="0" sz="1500" spc="14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multiple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atmospheric</a:t>
            </a:r>
            <a:r>
              <a:rPr dirty="0" sz="1500" spc="31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readings)</a:t>
            </a:r>
            <a:r>
              <a:rPr dirty="0" sz="1500" spc="24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exist.</a:t>
            </a:r>
            <a:endParaRPr sz="1500">
              <a:latin typeface="Arial"/>
              <a:cs typeface="Arial"/>
            </a:endParaRPr>
          </a:p>
          <a:p>
            <a:pPr marL="263525" indent="-250825">
              <a:lnSpc>
                <a:spcPct val="100000"/>
              </a:lnSpc>
              <a:spcBef>
                <a:spcPts val="935"/>
              </a:spcBef>
              <a:buAutoNum type="arabicPeriod" startAt="3"/>
              <a:tabLst>
                <a:tab pos="263525" algn="l"/>
              </a:tabLst>
            </a:pPr>
            <a:r>
              <a:rPr dirty="0" sz="1700" i="1">
                <a:solidFill>
                  <a:srgbClr val="23444F"/>
                </a:solidFill>
                <a:latin typeface="Arial"/>
                <a:cs typeface="Arial"/>
              </a:rPr>
              <a:t>Model</a:t>
            </a:r>
            <a:r>
              <a:rPr dirty="0" sz="1700" spc="120" i="1">
                <a:solidFill>
                  <a:srgbClr val="23444F"/>
                </a:solidFill>
                <a:latin typeface="Arial"/>
                <a:cs typeface="Arial"/>
              </a:rPr>
              <a:t> </a:t>
            </a:r>
            <a:r>
              <a:rPr dirty="0" sz="1700" spc="-10" i="1">
                <a:solidFill>
                  <a:srgbClr val="23444F"/>
                </a:solidFill>
                <a:latin typeface="Arial"/>
                <a:cs typeface="Arial"/>
              </a:rPr>
              <a:t>Selection</a:t>
            </a:r>
            <a:endParaRPr sz="1700">
              <a:latin typeface="Arial"/>
              <a:cs typeface="Arial"/>
            </a:endParaRPr>
          </a:p>
          <a:p>
            <a:pPr marL="26034" marR="649605" indent="224790">
              <a:lnSpc>
                <a:spcPct val="101600"/>
              </a:lnSpc>
              <a:spcBef>
                <a:spcPts val="680"/>
              </a:spcBef>
            </a:pPr>
            <a:r>
              <a:rPr dirty="0" sz="1500" spc="75" i="1">
                <a:solidFill>
                  <a:srgbClr val="131313"/>
                </a:solidFill>
                <a:latin typeface="Arial"/>
                <a:cs typeface="Arial"/>
              </a:rPr>
              <a:t>We</a:t>
            </a:r>
            <a:r>
              <a:rPr dirty="0" sz="1500" spc="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implement</a:t>
            </a:r>
            <a:r>
              <a:rPr dirty="0" sz="1500" spc="17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several</a:t>
            </a:r>
            <a:r>
              <a:rPr dirty="0" sz="1500" spc="1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regression</a:t>
            </a:r>
            <a:r>
              <a:rPr dirty="0" sz="1500" spc="1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algorithms</a:t>
            </a:r>
            <a:r>
              <a:rPr dirty="0" sz="1500" spc="2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to</a:t>
            </a:r>
            <a:r>
              <a:rPr dirty="0" sz="1500" spc="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compare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predictive</a:t>
            </a:r>
            <a:r>
              <a:rPr dirty="0" sz="1500" spc="2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performance:</a:t>
            </a:r>
            <a:endParaRPr sz="1500">
              <a:latin typeface="Arial"/>
              <a:cs typeface="Arial"/>
            </a:endParaRPr>
          </a:p>
          <a:p>
            <a:pPr lvl="1" marL="462280" marR="557530" indent="-241935">
              <a:lnSpc>
                <a:spcPts val="1830"/>
              </a:lnSpc>
              <a:spcBef>
                <a:spcPts val="980"/>
              </a:spcBef>
              <a:buFont typeface="Arial"/>
              <a:buChar char="✓"/>
              <a:tabLst>
                <a:tab pos="462280" algn="l"/>
                <a:tab pos="515620" algn="l"/>
              </a:tabLst>
            </a:pPr>
            <a:r>
              <a:rPr dirty="0" sz="1500">
                <a:solidFill>
                  <a:srgbClr val="131313"/>
                </a:solidFill>
                <a:latin typeface="Arial"/>
                <a:cs typeface="Arial"/>
              </a:rPr>
              <a:t>	</a:t>
            </a: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Linear</a:t>
            </a:r>
            <a:r>
              <a:rPr dirty="0" sz="1500" spc="165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Regression:</a:t>
            </a:r>
            <a:r>
              <a:rPr dirty="0" sz="1500" spc="250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A</a:t>
            </a:r>
            <a:r>
              <a:rPr dirty="0" sz="1500" spc="-65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simple</a:t>
            </a:r>
            <a:r>
              <a:rPr dirty="0" sz="1500" i="1">
                <a:solidFill>
                  <a:srgbClr val="4D4D4D"/>
                </a:solidFill>
                <a:latin typeface="Arial"/>
                <a:cs typeface="Arial"/>
              </a:rPr>
              <a:t>,</a:t>
            </a:r>
            <a:r>
              <a:rPr dirty="0" sz="1500" spc="175" i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interpretable</a:t>
            </a:r>
            <a:r>
              <a:rPr dirty="0" sz="1500" spc="2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baseline.</a:t>
            </a:r>
            <a:r>
              <a:rPr dirty="0" sz="1500" spc="24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45" i="1">
                <a:solidFill>
                  <a:srgbClr val="131313"/>
                </a:solidFill>
                <a:latin typeface="Arial"/>
                <a:cs typeface="Arial"/>
              </a:rPr>
              <a:t>It</a:t>
            </a:r>
            <a:r>
              <a:rPr dirty="0" sz="1500" spc="-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assumes</a:t>
            </a:r>
            <a:r>
              <a:rPr dirty="0" sz="1500" spc="1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31313"/>
                </a:solidFill>
                <a:latin typeface="Arial"/>
                <a:cs typeface="Arial"/>
              </a:rPr>
              <a:t>a</a:t>
            </a:r>
            <a:r>
              <a:rPr dirty="0" sz="1550" spc="114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linear</a:t>
            </a:r>
            <a:r>
              <a:rPr dirty="0" sz="1500" spc="2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relationship</a:t>
            </a:r>
            <a:r>
              <a:rPr dirty="0" sz="1500" spc="18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between</a:t>
            </a:r>
            <a:r>
              <a:rPr dirty="0" sz="1500" spc="10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inputs</a:t>
            </a:r>
            <a:r>
              <a:rPr dirty="0" sz="1500" spc="1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25" i="1">
                <a:solidFill>
                  <a:srgbClr val="131313"/>
                </a:solidFill>
                <a:latin typeface="Arial"/>
                <a:cs typeface="Arial"/>
              </a:rPr>
              <a:t>and</a:t>
            </a:r>
            <a:r>
              <a:rPr dirty="0" sz="1500" spc="-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temperature.</a:t>
            </a:r>
            <a:r>
              <a:rPr dirty="0" sz="1500" spc="14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95" i="1">
                <a:solidFill>
                  <a:srgbClr val="131313"/>
                </a:solidFill>
                <a:latin typeface="Arial"/>
                <a:cs typeface="Arial"/>
              </a:rPr>
              <a:t>We</a:t>
            </a:r>
            <a:r>
              <a:rPr dirty="0" sz="1500" spc="3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include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it</a:t>
            </a:r>
            <a:r>
              <a:rPr dirty="0" sz="1500" spc="10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to</a:t>
            </a:r>
            <a:r>
              <a:rPr dirty="0" sz="1500" spc="7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benchmark</a:t>
            </a:r>
            <a:r>
              <a:rPr dirty="0" sz="1500" spc="254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performance.</a:t>
            </a:r>
            <a:endParaRPr sz="1500">
              <a:latin typeface="Arial"/>
              <a:cs typeface="Arial"/>
            </a:endParaRPr>
          </a:p>
          <a:p>
            <a:pPr lvl="1" marL="462280" marR="295910" indent="-241935">
              <a:lnSpc>
                <a:spcPct val="102600"/>
              </a:lnSpc>
              <a:spcBef>
                <a:spcPts val="825"/>
              </a:spcBef>
              <a:buFont typeface="Arial"/>
              <a:buChar char="✓"/>
              <a:tabLst>
                <a:tab pos="462280" algn="l"/>
                <a:tab pos="516255" algn="l"/>
              </a:tabLst>
            </a:pPr>
            <a:r>
              <a:rPr dirty="0" sz="1500">
                <a:solidFill>
                  <a:srgbClr val="131313"/>
                </a:solidFill>
                <a:latin typeface="Arial"/>
                <a:cs typeface="Arial"/>
              </a:rPr>
              <a:t>	</a:t>
            </a: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Decision</a:t>
            </a:r>
            <a:r>
              <a:rPr dirty="0" sz="1500" spc="195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Tree</a:t>
            </a:r>
            <a:r>
              <a:rPr dirty="0" sz="1500" spc="-125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I</a:t>
            </a:r>
            <a:r>
              <a:rPr dirty="0" sz="1500" spc="315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Random</a:t>
            </a:r>
            <a:r>
              <a:rPr dirty="0" sz="1500" spc="170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Forest</a:t>
            </a:r>
            <a:r>
              <a:rPr dirty="0" sz="1500" spc="185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Regressor:</a:t>
            </a:r>
            <a:r>
              <a:rPr dirty="0" sz="1500" spc="254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These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tree-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based</a:t>
            </a:r>
            <a:r>
              <a:rPr dirty="0" sz="1500" spc="10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models</a:t>
            </a:r>
            <a:r>
              <a:rPr dirty="0" sz="1500" spc="1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65" i="1">
                <a:solidFill>
                  <a:srgbClr val="131313"/>
                </a:solidFill>
                <a:latin typeface="Arial"/>
                <a:cs typeface="Arial"/>
              </a:rPr>
              <a:t>can</a:t>
            </a:r>
            <a:r>
              <a:rPr dirty="0" sz="1500" spc="-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capture</a:t>
            </a:r>
            <a:r>
              <a:rPr dirty="0" sz="1500" spc="9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nonlinear</a:t>
            </a:r>
            <a:r>
              <a:rPr dirty="0" sz="1500" spc="30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relationships</a:t>
            </a:r>
            <a:r>
              <a:rPr dirty="0" sz="1500" spc="2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25" i="1">
                <a:solidFill>
                  <a:srgbClr val="131313"/>
                </a:solidFill>
                <a:latin typeface="Arial"/>
                <a:cs typeface="Arial"/>
              </a:rPr>
              <a:t>and</a:t>
            </a:r>
            <a:r>
              <a:rPr dirty="0" sz="1500" spc="-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interactions</a:t>
            </a:r>
            <a:r>
              <a:rPr dirty="0" sz="1500" spc="29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without</a:t>
            </a:r>
            <a:r>
              <a:rPr dirty="0" sz="1500" spc="14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requiring</a:t>
            </a:r>
            <a:r>
              <a:rPr dirty="0" sz="1500" spc="2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feature</a:t>
            </a:r>
            <a:r>
              <a:rPr dirty="0" sz="1500" spc="1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scaling.</a:t>
            </a:r>
            <a:r>
              <a:rPr dirty="0" sz="1500" spc="21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Random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Forest</a:t>
            </a:r>
            <a:r>
              <a:rPr dirty="0" sz="1500" spc="9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(an</a:t>
            </a:r>
            <a:r>
              <a:rPr dirty="0" sz="1500" spc="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ensemble</a:t>
            </a:r>
            <a:r>
              <a:rPr dirty="0" sz="1500" spc="19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of</a:t>
            </a:r>
            <a:r>
              <a:rPr dirty="0" sz="1500" spc="1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trees)</a:t>
            </a:r>
            <a:r>
              <a:rPr dirty="0" sz="1500" spc="8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often</a:t>
            </a:r>
            <a:r>
              <a:rPr dirty="0" sz="1500" spc="8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improves</a:t>
            </a:r>
            <a:r>
              <a:rPr dirty="0" sz="1500" spc="2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accuracy</a:t>
            </a:r>
            <a:r>
              <a:rPr dirty="0" sz="1500" spc="2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25" i="1">
                <a:solidFill>
                  <a:srgbClr val="131313"/>
                </a:solidFill>
                <a:latin typeface="Arial"/>
                <a:cs typeface="Arial"/>
              </a:rPr>
              <a:t>by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averaging</a:t>
            </a:r>
            <a:r>
              <a:rPr dirty="0" sz="1500" spc="10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multiple</a:t>
            </a:r>
            <a:r>
              <a:rPr dirty="0" sz="1500" spc="9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trees</a:t>
            </a:r>
            <a:r>
              <a:rPr dirty="0" sz="1500" i="1">
                <a:solidFill>
                  <a:srgbClr val="4D4D4D"/>
                </a:solidFill>
                <a:latin typeface="Arial"/>
                <a:cs typeface="Arial"/>
              </a:rPr>
              <a:t>,</a:t>
            </a:r>
            <a:r>
              <a:rPr dirty="0" sz="1500" spc="160" i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making</a:t>
            </a:r>
            <a:r>
              <a:rPr dirty="0" sz="1500" spc="15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it</a:t>
            </a:r>
            <a:r>
              <a:rPr dirty="0" sz="1500" spc="1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robust</a:t>
            </a:r>
            <a:r>
              <a:rPr dirty="0" sz="1500" spc="14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to</a:t>
            </a:r>
            <a:r>
              <a:rPr dirty="0" sz="1500" spc="1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noise</a:t>
            </a:r>
            <a:r>
              <a:rPr dirty="0" sz="1500" spc="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25" i="1">
                <a:solidFill>
                  <a:srgbClr val="131313"/>
                </a:solidFill>
                <a:latin typeface="Arial"/>
                <a:cs typeface="Arial"/>
              </a:rPr>
              <a:t>and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overfitting.</a:t>
            </a:r>
            <a:endParaRPr sz="1500">
              <a:latin typeface="Arial"/>
              <a:cs typeface="Arial"/>
            </a:endParaRPr>
          </a:p>
          <a:p>
            <a:pPr lvl="1" marL="462280" marR="42545" indent="-241935">
              <a:lnSpc>
                <a:spcPct val="102499"/>
              </a:lnSpc>
              <a:spcBef>
                <a:spcPts val="900"/>
              </a:spcBef>
              <a:buFont typeface="Arial"/>
              <a:buChar char="✓"/>
              <a:tabLst>
                <a:tab pos="462280" algn="l"/>
                <a:tab pos="508000" algn="l"/>
              </a:tabLst>
            </a:pPr>
            <a:r>
              <a:rPr dirty="0" sz="1500">
                <a:solidFill>
                  <a:srgbClr val="131313"/>
                </a:solidFill>
                <a:latin typeface="Arial"/>
                <a:cs typeface="Arial"/>
              </a:rPr>
              <a:t>	</a:t>
            </a: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Gradient</a:t>
            </a:r>
            <a:r>
              <a:rPr dirty="0" sz="1500" spc="285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Boosting</a:t>
            </a:r>
            <a:r>
              <a:rPr dirty="0" sz="1500" spc="295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Regressor:</a:t>
            </a:r>
            <a:r>
              <a:rPr dirty="0" sz="1500" spc="235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An</a:t>
            </a:r>
            <a:r>
              <a:rPr dirty="0" sz="1500" spc="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advanced</a:t>
            </a:r>
            <a:r>
              <a:rPr dirty="0" sz="1500" spc="15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ensemble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method</a:t>
            </a:r>
            <a:r>
              <a:rPr dirty="0" sz="1500" spc="1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that</a:t>
            </a:r>
            <a:r>
              <a:rPr dirty="0" sz="1500" spc="3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builds</a:t>
            </a:r>
            <a:r>
              <a:rPr dirty="0" sz="1500" spc="10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trees</a:t>
            </a:r>
            <a:r>
              <a:rPr dirty="0" sz="1500" spc="1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sequentially</a:t>
            </a:r>
            <a:r>
              <a:rPr dirty="0" sz="1500" spc="21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to</a:t>
            </a:r>
            <a:r>
              <a:rPr dirty="0" sz="1500" spc="1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minimize</a:t>
            </a:r>
            <a:r>
              <a:rPr dirty="0" sz="1500" spc="15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error.</a:t>
            </a:r>
            <a:r>
              <a:rPr dirty="0" sz="1500" spc="1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It</a:t>
            </a:r>
            <a:r>
              <a:rPr dirty="0" sz="1500" spc="7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40" i="1">
                <a:solidFill>
                  <a:srgbClr val="131313"/>
                </a:solidFill>
                <a:latin typeface="Arial"/>
                <a:cs typeface="Arial"/>
              </a:rPr>
              <a:t>can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achieve</a:t>
            </a:r>
            <a:r>
              <a:rPr dirty="0" sz="1500" spc="17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high</a:t>
            </a:r>
            <a:r>
              <a:rPr dirty="0" sz="1500" spc="4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accuracy</a:t>
            </a:r>
            <a:r>
              <a:rPr dirty="0" sz="1500" spc="17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5" i="1">
                <a:solidFill>
                  <a:srgbClr val="131313"/>
                </a:solidFill>
                <a:latin typeface="Arial"/>
                <a:cs typeface="Arial"/>
              </a:rPr>
              <a:t>by</a:t>
            </a:r>
            <a:r>
              <a:rPr dirty="0" sz="1500" spc="17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focusing</a:t>
            </a:r>
            <a:r>
              <a:rPr dirty="0" sz="1500" spc="2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60" i="1">
                <a:solidFill>
                  <a:srgbClr val="131313"/>
                </a:solidFill>
                <a:latin typeface="Arial"/>
                <a:cs typeface="Arial"/>
              </a:rPr>
              <a:t>on</a:t>
            </a:r>
            <a:r>
              <a:rPr dirty="0" sz="1500" spc="114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hard-to-predict</a:t>
            </a:r>
            <a:r>
              <a:rPr dirty="0" sz="1500" spc="3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cases</a:t>
            </a:r>
            <a:r>
              <a:rPr dirty="0" sz="1500" spc="-10" i="1">
                <a:solidFill>
                  <a:srgbClr val="4D4D4D"/>
                </a:solidFill>
                <a:latin typeface="Arial"/>
                <a:cs typeface="Arial"/>
              </a:rPr>
              <a:t>,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though</a:t>
            </a:r>
            <a:r>
              <a:rPr dirty="0" sz="1500" spc="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it</a:t>
            </a:r>
            <a:r>
              <a:rPr dirty="0" sz="1500" spc="19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may</a:t>
            </a:r>
            <a:r>
              <a:rPr dirty="0" sz="1500" spc="1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require</a:t>
            </a:r>
            <a:r>
              <a:rPr dirty="0" sz="1500" spc="9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careful</a:t>
            </a:r>
            <a:r>
              <a:rPr dirty="0" sz="1500" spc="114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tuning.</a:t>
            </a:r>
            <a:endParaRPr sz="1500">
              <a:latin typeface="Arial"/>
              <a:cs typeface="Arial"/>
            </a:endParaRPr>
          </a:p>
          <a:p>
            <a:pPr lvl="1" marL="462280" marR="166370" indent="-241935">
              <a:lnSpc>
                <a:spcPct val="102000"/>
              </a:lnSpc>
              <a:spcBef>
                <a:spcPts val="905"/>
              </a:spcBef>
              <a:buFont typeface="Arial"/>
              <a:buChar char="✓"/>
              <a:tabLst>
                <a:tab pos="462280" algn="l"/>
                <a:tab pos="513080" algn="l"/>
              </a:tabLst>
            </a:pPr>
            <a:r>
              <a:rPr dirty="0" sz="1500">
                <a:solidFill>
                  <a:srgbClr val="131313"/>
                </a:solidFill>
                <a:latin typeface="Arial"/>
                <a:cs typeface="Arial"/>
              </a:rPr>
              <a:t>	</a:t>
            </a:r>
            <a:r>
              <a:rPr dirty="0" sz="1500" spc="20" b="1" i="1">
                <a:solidFill>
                  <a:srgbClr val="131313"/>
                </a:solidFill>
                <a:latin typeface="Arial"/>
                <a:cs typeface="Arial"/>
              </a:rPr>
              <a:t>Justification:</a:t>
            </a:r>
            <a:r>
              <a:rPr dirty="0" sz="1500" spc="-45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20" i="1">
                <a:solidFill>
                  <a:srgbClr val="131313"/>
                </a:solidFill>
                <a:latin typeface="Arial"/>
                <a:cs typeface="Arial"/>
              </a:rPr>
              <a:t>These</a:t>
            </a:r>
            <a:r>
              <a:rPr dirty="0" sz="1500" spc="-1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20" i="1">
                <a:solidFill>
                  <a:srgbClr val="131313"/>
                </a:solidFill>
                <a:latin typeface="Arial"/>
                <a:cs typeface="Arial"/>
              </a:rPr>
              <a:t>algorithms</a:t>
            </a:r>
            <a:r>
              <a:rPr dirty="0" sz="1500" spc="1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20" i="1">
                <a:solidFill>
                  <a:srgbClr val="131313"/>
                </a:solidFill>
                <a:latin typeface="Arial"/>
                <a:cs typeface="Arial"/>
              </a:rPr>
              <a:t>are</a:t>
            </a:r>
            <a:r>
              <a:rPr dirty="0" sz="1500" spc="5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20" i="1">
                <a:solidFill>
                  <a:srgbClr val="131313"/>
                </a:solidFill>
                <a:latin typeface="Arial"/>
                <a:cs typeface="Arial"/>
              </a:rPr>
              <a:t>widely</a:t>
            </a:r>
            <a:r>
              <a:rPr dirty="0" sz="1500" spc="8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20" i="1">
                <a:solidFill>
                  <a:srgbClr val="131313"/>
                </a:solidFill>
                <a:latin typeface="Arial"/>
                <a:cs typeface="Arial"/>
              </a:rPr>
              <a:t>used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20" i="1">
                <a:solidFill>
                  <a:srgbClr val="131313"/>
                </a:solidFill>
                <a:latin typeface="Arial"/>
                <a:cs typeface="Arial"/>
              </a:rPr>
              <a:t>in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climate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and</a:t>
            </a:r>
            <a:r>
              <a:rPr dirty="0" sz="1500" spc="1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regression</a:t>
            </a:r>
            <a:r>
              <a:rPr dirty="0" sz="1500" spc="1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tasks.</a:t>
            </a:r>
            <a:r>
              <a:rPr dirty="0" sz="1500" spc="13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Linear</a:t>
            </a:r>
            <a:r>
              <a:rPr dirty="0" sz="1500" spc="2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regression</a:t>
            </a:r>
            <a:r>
              <a:rPr dirty="0" sz="1500" spc="15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provides</a:t>
            </a:r>
            <a:r>
              <a:rPr dirty="0" sz="1500" spc="204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31313"/>
                </a:solidFill>
                <a:latin typeface="Arial"/>
                <a:cs typeface="Arial"/>
              </a:rPr>
              <a:t>a</a:t>
            </a:r>
            <a:r>
              <a:rPr dirty="0" sz="1550" spc="4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baseline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and</a:t>
            </a:r>
            <a:r>
              <a:rPr dirty="0" sz="1500" spc="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interpretability,</a:t>
            </a:r>
            <a:r>
              <a:rPr dirty="0" sz="1500" spc="7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while</a:t>
            </a:r>
            <a:r>
              <a:rPr dirty="0" sz="1500" spc="3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ensemble</a:t>
            </a:r>
            <a:r>
              <a:rPr dirty="0" sz="1500" spc="14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methods</a:t>
            </a:r>
            <a:r>
              <a:rPr dirty="0" sz="1500" spc="2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(Random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Forest,</a:t>
            </a:r>
            <a:r>
              <a:rPr dirty="0" sz="1500" spc="13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Gradient</a:t>
            </a:r>
            <a:r>
              <a:rPr dirty="0" sz="1500" spc="19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Boosting)</a:t>
            </a:r>
            <a:r>
              <a:rPr dirty="0" sz="1500" spc="9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60" i="1">
                <a:solidFill>
                  <a:srgbClr val="131313"/>
                </a:solidFill>
                <a:latin typeface="Arial"/>
                <a:cs typeface="Arial"/>
              </a:rPr>
              <a:t>are</a:t>
            </a:r>
            <a:r>
              <a:rPr dirty="0" sz="1500" spc="5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known</a:t>
            </a:r>
            <a:r>
              <a:rPr dirty="0" sz="1500" spc="10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for</a:t>
            </a:r>
            <a:r>
              <a:rPr dirty="0" sz="1500" spc="7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strong</a:t>
            </a:r>
            <a:r>
              <a:rPr dirty="0" sz="1500" spc="5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performance</a:t>
            </a:r>
            <a:r>
              <a:rPr dirty="0" sz="1500" spc="21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60" i="1">
                <a:solidFill>
                  <a:srgbClr val="131313"/>
                </a:solidFill>
                <a:latin typeface="Arial"/>
                <a:cs typeface="Arial"/>
              </a:rPr>
              <a:t>on</a:t>
            </a:r>
            <a:r>
              <a:rPr dirty="0" sz="1500" spc="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complex</a:t>
            </a:r>
            <a:r>
              <a:rPr dirty="0" sz="1500" spc="17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patterns</a:t>
            </a:r>
            <a:r>
              <a:rPr dirty="0" sz="1500" i="1">
                <a:solidFill>
                  <a:srgbClr val="38626E"/>
                </a:solidFill>
                <a:latin typeface="Arial"/>
                <a:cs typeface="Arial"/>
              </a:rPr>
              <a:t>[1)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.</a:t>
            </a:r>
            <a:r>
              <a:rPr dirty="0" sz="1500" spc="9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95" i="1">
                <a:solidFill>
                  <a:srgbClr val="131313"/>
                </a:solidFill>
                <a:latin typeface="Arial"/>
                <a:cs typeface="Arial"/>
              </a:rPr>
              <a:t>We</a:t>
            </a:r>
            <a:r>
              <a:rPr dirty="0" sz="1500" spc="-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evaluate</a:t>
            </a:r>
            <a:r>
              <a:rPr dirty="0" sz="1500" spc="1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all</a:t>
            </a:r>
            <a:r>
              <a:rPr dirty="0" sz="1500" spc="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three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to</a:t>
            </a:r>
            <a:r>
              <a:rPr dirty="0" sz="1500" spc="1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identify</a:t>
            </a:r>
            <a:r>
              <a:rPr dirty="0" sz="1500" spc="21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which</a:t>
            </a:r>
            <a:r>
              <a:rPr dirty="0" sz="1500" spc="1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works</a:t>
            </a:r>
            <a:r>
              <a:rPr dirty="0" sz="1500" spc="7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best</a:t>
            </a:r>
            <a:r>
              <a:rPr dirty="0" sz="1500" spc="7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for</a:t>
            </a:r>
            <a:r>
              <a:rPr dirty="0" sz="1500" spc="7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our</a:t>
            </a:r>
            <a:r>
              <a:rPr dirty="0" sz="1500" spc="5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dataset.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96795" y="840184"/>
            <a:ext cx="139700" cy="2622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50" spc="-50" i="1">
                <a:solidFill>
                  <a:srgbClr val="030303"/>
                </a:solidFill>
                <a:latin typeface="Arial"/>
                <a:cs typeface="Arial"/>
              </a:rPr>
              <a:t>8</a:t>
            </a:r>
            <a:endParaRPr sz="15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9230" y="2843220"/>
            <a:ext cx="5483225" cy="60121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heavy" sz="1800" spc="135" i="1">
                <a:solidFill>
                  <a:srgbClr val="23444D"/>
                </a:solidFill>
                <a:uFill>
                  <a:solidFill>
                    <a:srgbClr val="23444D"/>
                  </a:solidFill>
                </a:uFill>
                <a:latin typeface="Arial"/>
                <a:cs typeface="Arial"/>
              </a:rPr>
              <a:t>Implementation</a:t>
            </a:r>
            <a:r>
              <a:rPr dirty="0" u="none" sz="1800" spc="-190" i="1">
                <a:solidFill>
                  <a:srgbClr val="23444D"/>
                </a:solidFill>
                <a:latin typeface="Arial"/>
                <a:cs typeface="Arial"/>
              </a:rPr>
              <a:t> </a:t>
            </a:r>
            <a:r>
              <a:rPr dirty="0" u="heavy" sz="1800" i="1">
                <a:solidFill>
                  <a:srgbClr val="23444D"/>
                </a:solidFill>
                <a:uFill>
                  <a:solidFill>
                    <a:srgbClr val="23444D"/>
                  </a:solidFill>
                </a:uFill>
                <a:latin typeface="Arial"/>
                <a:cs typeface="Arial"/>
              </a:rPr>
              <a:t>(Code)</a:t>
            </a:r>
            <a:r>
              <a:rPr dirty="0" u="heavy" sz="1800" spc="90" i="1">
                <a:solidFill>
                  <a:srgbClr val="23444D"/>
                </a:solidFill>
                <a:uFill>
                  <a:solidFill>
                    <a:srgbClr val="23444D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800">
                <a:solidFill>
                  <a:srgbClr val="23444D"/>
                </a:solidFill>
                <a:uFill>
                  <a:solidFill>
                    <a:srgbClr val="23444D"/>
                  </a:solidFill>
                </a:uFill>
                <a:latin typeface="Arial"/>
                <a:cs typeface="Arial"/>
              </a:rPr>
              <a:t>-</a:t>
            </a:r>
            <a:r>
              <a:rPr dirty="0" u="heavy" sz="1800" spc="350">
                <a:solidFill>
                  <a:srgbClr val="23444D"/>
                </a:solidFill>
                <a:uFill>
                  <a:solidFill>
                    <a:srgbClr val="23444D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800" spc="70" i="1">
                <a:solidFill>
                  <a:srgbClr val="23444D"/>
                </a:solidFill>
                <a:uFill>
                  <a:solidFill>
                    <a:srgbClr val="23444D"/>
                  </a:solidFill>
                </a:uFill>
                <a:latin typeface="Arial"/>
                <a:cs typeface="Arial"/>
              </a:rPr>
              <a:t>Google</a:t>
            </a:r>
            <a:r>
              <a:rPr dirty="0" u="heavy" sz="1800" spc="-135" i="1">
                <a:solidFill>
                  <a:srgbClr val="23444D"/>
                </a:solidFill>
                <a:uFill>
                  <a:solidFill>
                    <a:srgbClr val="23444D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800" spc="-10" i="1">
                <a:solidFill>
                  <a:srgbClr val="23444D"/>
                </a:solidFill>
                <a:uFill>
                  <a:solidFill>
                    <a:srgbClr val="23444D"/>
                  </a:solidFill>
                </a:uFill>
                <a:latin typeface="Arial"/>
                <a:cs typeface="Arial"/>
              </a:rPr>
              <a:t>Co/ab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40"/>
              </a:spcBef>
            </a:pPr>
            <a:endParaRPr sz="1800">
              <a:latin typeface="Arial"/>
              <a:cs typeface="Arial"/>
            </a:endParaRPr>
          </a:p>
          <a:p>
            <a:pPr marL="215900">
              <a:lnSpc>
                <a:spcPts val="2300"/>
              </a:lnSpc>
            </a:pPr>
            <a:r>
              <a:rPr dirty="0" sz="2050" spc="509">
                <a:solidFill>
                  <a:srgbClr val="232323"/>
                </a:solidFill>
                <a:latin typeface="Courier New"/>
                <a:cs typeface="Courier New"/>
              </a:rPr>
              <a:t>#===================</a:t>
            </a:r>
            <a:endParaRPr sz="2050">
              <a:latin typeface="Courier New"/>
              <a:cs typeface="Courier New"/>
            </a:endParaRPr>
          </a:p>
          <a:p>
            <a:pPr marL="238125">
              <a:lnSpc>
                <a:spcPts val="1240"/>
              </a:lnSpc>
            </a:pPr>
            <a:r>
              <a:rPr dirty="0" sz="1350" spc="315">
                <a:solidFill>
                  <a:srgbClr val="232323"/>
                </a:solidFill>
                <a:latin typeface="Arial"/>
                <a:cs typeface="Arial"/>
              </a:rPr>
              <a:t>#</a:t>
            </a:r>
            <a:r>
              <a:rPr dirty="0" sz="1350" spc="-254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1.</a:t>
            </a:r>
            <a:r>
              <a:rPr dirty="0" sz="1300" spc="45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030303"/>
                </a:solidFill>
                <a:latin typeface="Arial"/>
                <a:cs typeface="Arial"/>
              </a:rPr>
              <a:t>IMPORT</a:t>
            </a:r>
            <a:r>
              <a:rPr dirty="0" sz="1300" spc="185" i="1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LIBRARIES</a:t>
            </a:r>
            <a:endParaRPr sz="1300">
              <a:latin typeface="Arial"/>
              <a:cs typeface="Arial"/>
            </a:endParaRPr>
          </a:p>
          <a:p>
            <a:pPr marL="215900">
              <a:lnSpc>
                <a:spcPts val="2055"/>
              </a:lnSpc>
            </a:pPr>
            <a:r>
              <a:rPr dirty="0" sz="2050" spc="509">
                <a:solidFill>
                  <a:srgbClr val="232323"/>
                </a:solidFill>
                <a:latin typeface="Courier New"/>
                <a:cs typeface="Courier New"/>
              </a:rPr>
              <a:t>#===================</a:t>
            </a:r>
            <a:endParaRPr sz="2050">
              <a:latin typeface="Courier New"/>
              <a:cs typeface="Courier New"/>
            </a:endParaRPr>
          </a:p>
          <a:p>
            <a:pPr marL="234315">
              <a:lnSpc>
                <a:spcPts val="1440"/>
              </a:lnSpc>
            </a:pP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import</a:t>
            </a:r>
            <a:r>
              <a:rPr dirty="0" sz="1300" spc="110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numpy</a:t>
            </a:r>
            <a:r>
              <a:rPr dirty="0" sz="1300" spc="120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50" spc="70">
                <a:solidFill>
                  <a:srgbClr val="232323"/>
                </a:solidFill>
                <a:latin typeface="Arial"/>
                <a:cs typeface="Arial"/>
              </a:rPr>
              <a:t>as</a:t>
            </a:r>
            <a:r>
              <a:rPr dirty="0" sz="1350" spc="-55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40" i="1">
                <a:solidFill>
                  <a:srgbClr val="232323"/>
                </a:solidFill>
                <a:latin typeface="Arial"/>
                <a:cs typeface="Arial"/>
              </a:rPr>
              <a:t>np</a:t>
            </a:r>
            <a:endParaRPr sz="1300">
              <a:latin typeface="Arial"/>
              <a:cs typeface="Arial"/>
            </a:endParaRPr>
          </a:p>
          <a:p>
            <a:pPr marL="234315">
              <a:lnSpc>
                <a:spcPct val="100000"/>
              </a:lnSpc>
              <a:spcBef>
                <a:spcPts val="15"/>
              </a:spcBef>
            </a:pP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import</a:t>
            </a:r>
            <a:r>
              <a:rPr dirty="0" sz="1300" spc="125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pandas</a:t>
            </a:r>
            <a:r>
              <a:rPr dirty="0" sz="1300" spc="85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50" spc="70">
                <a:solidFill>
                  <a:srgbClr val="232323"/>
                </a:solidFill>
                <a:latin typeface="Arial"/>
                <a:cs typeface="Arial"/>
              </a:rPr>
              <a:t>as</a:t>
            </a:r>
            <a:r>
              <a:rPr dirty="0" sz="1350" spc="-5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35" i="1">
                <a:solidFill>
                  <a:srgbClr val="232323"/>
                </a:solidFill>
                <a:latin typeface="Arial"/>
                <a:cs typeface="Arial"/>
              </a:rPr>
              <a:t>pd</a:t>
            </a:r>
            <a:endParaRPr sz="1300">
              <a:latin typeface="Arial"/>
              <a:cs typeface="Arial"/>
            </a:endParaRPr>
          </a:p>
          <a:p>
            <a:pPr marL="234315" marR="2990215">
              <a:lnSpc>
                <a:spcPct val="101000"/>
              </a:lnSpc>
              <a:spcBef>
                <a:spcPts val="50"/>
              </a:spcBef>
            </a:pPr>
            <a:r>
              <a:rPr dirty="0" sz="1300" spc="20" i="1">
                <a:solidFill>
                  <a:srgbClr val="232323"/>
                </a:solidFill>
                <a:latin typeface="Arial"/>
                <a:cs typeface="Arial"/>
              </a:rPr>
              <a:t>import</a:t>
            </a:r>
            <a:r>
              <a:rPr dirty="0" sz="1300" spc="85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20" i="1">
                <a:solidFill>
                  <a:srgbClr val="232323"/>
                </a:solidFill>
                <a:latin typeface="Arial"/>
                <a:cs typeface="Arial"/>
              </a:rPr>
              <a:t>matplotlib.pyplot</a:t>
            </a:r>
            <a:r>
              <a:rPr dirty="0" sz="1300" spc="-90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50" spc="70">
                <a:solidFill>
                  <a:srgbClr val="232323"/>
                </a:solidFill>
                <a:latin typeface="Arial"/>
                <a:cs typeface="Arial"/>
              </a:rPr>
              <a:t>as</a:t>
            </a:r>
            <a:r>
              <a:rPr dirty="0" sz="1350" spc="-65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-25" i="1">
                <a:solidFill>
                  <a:srgbClr val="232323"/>
                </a:solidFill>
                <a:latin typeface="Arial"/>
                <a:cs typeface="Arial"/>
              </a:rPr>
              <a:t>pit</a:t>
            </a:r>
            <a:r>
              <a:rPr dirty="0" sz="1300" spc="-25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import</a:t>
            </a:r>
            <a:r>
              <a:rPr dirty="0" sz="1300" spc="145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seaborn</a:t>
            </a:r>
            <a:r>
              <a:rPr dirty="0" sz="1300" spc="114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50" spc="70">
                <a:solidFill>
                  <a:srgbClr val="232323"/>
                </a:solidFill>
                <a:latin typeface="Arial"/>
                <a:cs typeface="Arial"/>
              </a:rPr>
              <a:t>as</a:t>
            </a:r>
            <a:r>
              <a:rPr dirty="0" sz="1350" spc="-105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40" i="1">
                <a:solidFill>
                  <a:srgbClr val="232323"/>
                </a:solidFill>
                <a:latin typeface="Arial"/>
                <a:cs typeface="Arial"/>
              </a:rPr>
              <a:t>sns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300">
              <a:latin typeface="Arial"/>
              <a:cs typeface="Arial"/>
            </a:endParaRPr>
          </a:p>
          <a:p>
            <a:pPr marL="236220" marR="908685" indent="2540">
              <a:lnSpc>
                <a:spcPct val="103299"/>
              </a:lnSpc>
            </a:pPr>
            <a:r>
              <a:rPr dirty="0" sz="1300" spc="30" i="1">
                <a:solidFill>
                  <a:srgbClr val="232323"/>
                </a:solidFill>
                <a:latin typeface="Arial"/>
                <a:cs typeface="Arial"/>
              </a:rPr>
              <a:t>from</a:t>
            </a:r>
            <a:r>
              <a:rPr dirty="0" sz="1300" spc="-90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30" i="1">
                <a:solidFill>
                  <a:srgbClr val="232323"/>
                </a:solidFill>
                <a:latin typeface="Arial"/>
                <a:cs typeface="Arial"/>
              </a:rPr>
              <a:t>sklearn.model_selection</a:t>
            </a:r>
            <a:r>
              <a:rPr dirty="0" sz="1300" spc="-105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30" i="1">
                <a:solidFill>
                  <a:srgbClr val="232323"/>
                </a:solidFill>
                <a:latin typeface="Arial"/>
                <a:cs typeface="Arial"/>
              </a:rPr>
              <a:t>import</a:t>
            </a:r>
            <a:r>
              <a:rPr dirty="0" sz="1300" spc="-20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train</a:t>
            </a:r>
            <a:r>
              <a:rPr dirty="0" sz="1300" spc="-10" i="1">
                <a:solidFill>
                  <a:srgbClr val="5E5E5E"/>
                </a:solidFill>
                <a:latin typeface="Arial"/>
                <a:cs typeface="Arial"/>
              </a:rPr>
              <a:t>_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test_split</a:t>
            </a:r>
            <a:r>
              <a:rPr dirty="0" sz="1300" spc="500" i="1">
                <a:solidFill>
                  <a:srgbClr val="232323"/>
                </a:solidFill>
                <a:latin typeface="Arial"/>
                <a:cs typeface="Arial"/>
              </a:rPr>
              <a:t>  </a:t>
            </a:r>
            <a:r>
              <a:rPr dirty="0" sz="1300" spc="20" i="1">
                <a:solidFill>
                  <a:srgbClr val="232323"/>
                </a:solidFill>
                <a:latin typeface="Arial"/>
                <a:cs typeface="Arial"/>
              </a:rPr>
              <a:t>from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20" i="1">
                <a:solidFill>
                  <a:srgbClr val="232323"/>
                </a:solidFill>
                <a:latin typeface="Arial"/>
                <a:cs typeface="Arial"/>
              </a:rPr>
              <a:t>sklearn</a:t>
            </a:r>
            <a:r>
              <a:rPr dirty="0" sz="1300" spc="20" i="1">
                <a:solidFill>
                  <a:srgbClr val="494949"/>
                </a:solidFill>
                <a:latin typeface="Arial"/>
                <a:cs typeface="Arial"/>
              </a:rPr>
              <a:t>.</a:t>
            </a:r>
            <a:r>
              <a:rPr dirty="0" sz="1300" spc="20" i="1">
                <a:solidFill>
                  <a:srgbClr val="232323"/>
                </a:solidFill>
                <a:latin typeface="Arial"/>
                <a:cs typeface="Arial"/>
              </a:rPr>
              <a:t>linear</a:t>
            </a:r>
            <a:r>
              <a:rPr dirty="0" sz="1300" spc="20" i="1">
                <a:solidFill>
                  <a:srgbClr val="5E5E5E"/>
                </a:solidFill>
                <a:latin typeface="Arial"/>
                <a:cs typeface="Arial"/>
              </a:rPr>
              <a:t>_</a:t>
            </a:r>
            <a:r>
              <a:rPr dirty="0" sz="1300" spc="20" i="1">
                <a:solidFill>
                  <a:srgbClr val="232323"/>
                </a:solidFill>
                <a:latin typeface="Arial"/>
                <a:cs typeface="Arial"/>
              </a:rPr>
              <a:t>model</a:t>
            </a:r>
            <a:r>
              <a:rPr dirty="0" sz="1300" spc="50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20" i="1">
                <a:solidFill>
                  <a:srgbClr val="232323"/>
                </a:solidFill>
                <a:latin typeface="Arial"/>
                <a:cs typeface="Arial"/>
              </a:rPr>
              <a:t>import</a:t>
            </a:r>
            <a:r>
              <a:rPr dirty="0" sz="1300" spc="85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LinearRegression</a:t>
            </a:r>
            <a:r>
              <a:rPr dirty="0" sz="1300" spc="500" i="1">
                <a:solidFill>
                  <a:srgbClr val="232323"/>
                </a:solidFill>
                <a:latin typeface="Arial"/>
                <a:cs typeface="Arial"/>
              </a:rPr>
              <a:t>  </a:t>
            </a:r>
            <a:r>
              <a:rPr dirty="0" sz="1300" spc="20" i="1">
                <a:solidFill>
                  <a:srgbClr val="232323"/>
                </a:solidFill>
                <a:latin typeface="Arial"/>
                <a:cs typeface="Arial"/>
              </a:rPr>
              <a:t>from</a:t>
            </a:r>
            <a:r>
              <a:rPr dirty="0" sz="1300" spc="35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20" i="1">
                <a:solidFill>
                  <a:srgbClr val="232323"/>
                </a:solidFill>
                <a:latin typeface="Arial"/>
                <a:cs typeface="Arial"/>
              </a:rPr>
              <a:t>sklearn.ensemble</a:t>
            </a:r>
            <a:r>
              <a:rPr dirty="0" sz="1300" spc="-20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20" i="1">
                <a:solidFill>
                  <a:srgbClr val="232323"/>
                </a:solidFill>
                <a:latin typeface="Arial"/>
                <a:cs typeface="Arial"/>
              </a:rPr>
              <a:t>import</a:t>
            </a:r>
            <a:r>
              <a:rPr dirty="0" sz="1300" spc="100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RandomForestRegressor,</a:t>
            </a:r>
            <a:endParaRPr sz="1300">
              <a:latin typeface="Arial"/>
              <a:cs typeface="Arial"/>
            </a:endParaRPr>
          </a:p>
          <a:p>
            <a:pPr marL="236220">
              <a:lnSpc>
                <a:spcPct val="100000"/>
              </a:lnSpc>
              <a:spcBef>
                <a:spcPts val="125"/>
              </a:spcBef>
            </a:pP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GradientBoostingRegressor</a:t>
            </a:r>
            <a:endParaRPr sz="1300">
              <a:latin typeface="Arial"/>
              <a:cs typeface="Arial"/>
            </a:endParaRPr>
          </a:p>
          <a:p>
            <a:pPr marL="240665" marR="664210" indent="-1905">
              <a:lnSpc>
                <a:spcPct val="104900"/>
              </a:lnSpc>
            </a:pPr>
            <a:r>
              <a:rPr dirty="0" sz="1300" spc="20" i="1">
                <a:solidFill>
                  <a:srgbClr val="232323"/>
                </a:solidFill>
                <a:latin typeface="Arial"/>
                <a:cs typeface="Arial"/>
              </a:rPr>
              <a:t>from</a:t>
            </a:r>
            <a:r>
              <a:rPr dirty="0" sz="1300" spc="25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20" i="1">
                <a:solidFill>
                  <a:srgbClr val="232323"/>
                </a:solidFill>
                <a:latin typeface="Arial"/>
                <a:cs typeface="Arial"/>
              </a:rPr>
              <a:t>sklearn.metrics</a:t>
            </a:r>
            <a:r>
              <a:rPr dirty="0" sz="1300" spc="30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20" i="1">
                <a:solidFill>
                  <a:srgbClr val="232323"/>
                </a:solidFill>
                <a:latin typeface="Arial"/>
                <a:cs typeface="Arial"/>
              </a:rPr>
              <a:t>import</a:t>
            </a:r>
            <a:r>
              <a:rPr dirty="0" sz="1300" spc="55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20" i="1">
                <a:solidFill>
                  <a:srgbClr val="232323"/>
                </a:solidFill>
                <a:latin typeface="Arial"/>
                <a:cs typeface="Arial"/>
              </a:rPr>
              <a:t>mean</a:t>
            </a:r>
            <a:r>
              <a:rPr dirty="0" sz="1300" spc="20" i="1">
                <a:solidFill>
                  <a:srgbClr val="5E5E5E"/>
                </a:solidFill>
                <a:latin typeface="Arial"/>
                <a:cs typeface="Arial"/>
              </a:rPr>
              <a:t>_</a:t>
            </a:r>
            <a:r>
              <a:rPr dirty="0" sz="1300" spc="20" i="1">
                <a:solidFill>
                  <a:srgbClr val="232323"/>
                </a:solidFill>
                <a:latin typeface="Arial"/>
                <a:cs typeface="Arial"/>
              </a:rPr>
              <a:t>squared</a:t>
            </a:r>
            <a:r>
              <a:rPr dirty="0" sz="1300" spc="20" i="1">
                <a:solidFill>
                  <a:srgbClr val="5E5E5E"/>
                </a:solidFill>
                <a:latin typeface="Arial"/>
                <a:cs typeface="Arial"/>
              </a:rPr>
              <a:t>_</a:t>
            </a:r>
            <a:r>
              <a:rPr dirty="0" sz="1300" spc="20" i="1">
                <a:solidFill>
                  <a:srgbClr val="232323"/>
                </a:solidFill>
                <a:latin typeface="Arial"/>
                <a:cs typeface="Arial"/>
              </a:rPr>
              <a:t>error</a:t>
            </a:r>
            <a:r>
              <a:rPr dirty="0" sz="1300" spc="20" i="1">
                <a:solidFill>
                  <a:srgbClr val="494949"/>
                </a:solidFill>
                <a:latin typeface="Arial"/>
                <a:cs typeface="Arial"/>
              </a:rPr>
              <a:t>,</a:t>
            </a:r>
            <a:r>
              <a:rPr dirty="0" sz="1300" spc="190" i="1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r2</a:t>
            </a:r>
            <a:r>
              <a:rPr dirty="0" sz="1300" spc="-10" i="1">
                <a:solidFill>
                  <a:srgbClr val="5E5E5E"/>
                </a:solidFill>
                <a:latin typeface="Arial"/>
                <a:cs typeface="Arial"/>
              </a:rPr>
              <a:t>_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score</a:t>
            </a:r>
            <a:r>
              <a:rPr dirty="0" sz="1300" spc="-10" i="1">
                <a:solidFill>
                  <a:srgbClr val="494949"/>
                </a:solidFill>
                <a:latin typeface="Arial"/>
                <a:cs typeface="Arial"/>
              </a:rPr>
              <a:t>,</a:t>
            </a:r>
            <a:r>
              <a:rPr dirty="0" sz="1300" spc="-10" i="1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1300" spc="10" i="1">
                <a:solidFill>
                  <a:srgbClr val="232323"/>
                </a:solidFill>
                <a:latin typeface="Arial"/>
                <a:cs typeface="Arial"/>
              </a:rPr>
              <a:t>mean</a:t>
            </a:r>
            <a:r>
              <a:rPr dirty="0" sz="1300" spc="10" i="1">
                <a:solidFill>
                  <a:srgbClr val="5E5E5E"/>
                </a:solidFill>
                <a:latin typeface="Arial"/>
                <a:cs typeface="Arial"/>
              </a:rPr>
              <a:t>_</a:t>
            </a:r>
            <a:r>
              <a:rPr dirty="0" sz="1300" spc="10" i="1">
                <a:solidFill>
                  <a:srgbClr val="232323"/>
                </a:solidFill>
                <a:latin typeface="Arial"/>
                <a:cs typeface="Arial"/>
              </a:rPr>
              <a:t>absolute</a:t>
            </a:r>
            <a:r>
              <a:rPr dirty="0" sz="1300" spc="10" i="1">
                <a:solidFill>
                  <a:srgbClr val="5E5E5E"/>
                </a:solidFill>
                <a:latin typeface="Arial"/>
                <a:cs typeface="Arial"/>
              </a:rPr>
              <a:t>_</a:t>
            </a:r>
            <a:r>
              <a:rPr dirty="0" sz="1300" spc="-100" i="1">
                <a:solidFill>
                  <a:srgbClr val="5E5E5E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error</a:t>
            </a:r>
            <a:endParaRPr sz="1300">
              <a:latin typeface="Arial"/>
              <a:cs typeface="Arial"/>
            </a:endParaRPr>
          </a:p>
          <a:p>
            <a:pPr marL="215900">
              <a:lnSpc>
                <a:spcPts val="2280"/>
              </a:lnSpc>
              <a:spcBef>
                <a:spcPts val="1200"/>
              </a:spcBef>
            </a:pPr>
            <a:r>
              <a:rPr dirty="0" sz="2050" spc="509">
                <a:solidFill>
                  <a:srgbClr val="232323"/>
                </a:solidFill>
                <a:latin typeface="Courier New"/>
                <a:cs typeface="Courier New"/>
              </a:rPr>
              <a:t>#===================</a:t>
            </a:r>
            <a:endParaRPr sz="2050">
              <a:latin typeface="Courier New"/>
              <a:cs typeface="Courier New"/>
            </a:endParaRPr>
          </a:p>
          <a:p>
            <a:pPr marL="238125">
              <a:lnSpc>
                <a:spcPts val="1215"/>
              </a:lnSpc>
            </a:pPr>
            <a:r>
              <a:rPr dirty="0" sz="1350" spc="229">
                <a:solidFill>
                  <a:srgbClr val="232323"/>
                </a:solidFill>
                <a:latin typeface="Arial"/>
                <a:cs typeface="Arial"/>
              </a:rPr>
              <a:t>#</a:t>
            </a:r>
            <a:r>
              <a:rPr dirty="0" sz="1300" spc="229" i="1">
                <a:solidFill>
                  <a:srgbClr val="232323"/>
                </a:solidFill>
                <a:latin typeface="Arial"/>
                <a:cs typeface="Arial"/>
              </a:rPr>
              <a:t>2.</a:t>
            </a:r>
            <a:r>
              <a:rPr dirty="0" sz="1300" spc="-200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DATA</a:t>
            </a:r>
            <a:r>
              <a:rPr dirty="0" sz="1300" spc="195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LOADING</a:t>
            </a:r>
            <a:r>
              <a:rPr dirty="0" sz="1300" spc="215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(Synthetic</a:t>
            </a:r>
            <a:r>
              <a:rPr dirty="0" sz="1300" spc="254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Dataset</a:t>
            </a:r>
            <a:r>
              <a:rPr dirty="0" sz="1300" spc="114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Creation)</a:t>
            </a:r>
            <a:endParaRPr sz="1300">
              <a:latin typeface="Arial"/>
              <a:cs typeface="Arial"/>
            </a:endParaRPr>
          </a:p>
          <a:p>
            <a:pPr marL="215900">
              <a:lnSpc>
                <a:spcPts val="2080"/>
              </a:lnSpc>
            </a:pPr>
            <a:r>
              <a:rPr dirty="0" sz="2050" spc="509">
                <a:solidFill>
                  <a:srgbClr val="232323"/>
                </a:solidFill>
                <a:latin typeface="Courier New"/>
                <a:cs typeface="Courier New"/>
              </a:rPr>
              <a:t>#===================</a:t>
            </a:r>
            <a:endParaRPr sz="2050">
              <a:latin typeface="Courier New"/>
              <a:cs typeface="Courier New"/>
            </a:endParaRPr>
          </a:p>
          <a:p>
            <a:pPr marL="233679">
              <a:lnSpc>
                <a:spcPts val="1405"/>
              </a:lnSpc>
            </a:pPr>
            <a:r>
              <a:rPr dirty="0" sz="1300" spc="100" i="1">
                <a:solidFill>
                  <a:srgbClr val="232323"/>
                </a:solidFill>
                <a:latin typeface="Arial"/>
                <a:cs typeface="Arial"/>
              </a:rPr>
              <a:t>years=</a:t>
            </a:r>
            <a:r>
              <a:rPr dirty="0" sz="1300" spc="80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20" i="1">
                <a:solidFill>
                  <a:srgbClr val="232323"/>
                </a:solidFill>
                <a:latin typeface="Arial"/>
                <a:cs typeface="Arial"/>
              </a:rPr>
              <a:t>np.arange(1980,</a:t>
            </a:r>
            <a:r>
              <a:rPr dirty="0" sz="1300" spc="-135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50" i="1">
                <a:solidFill>
                  <a:srgbClr val="232323"/>
                </a:solidFill>
                <a:latin typeface="Arial"/>
                <a:cs typeface="Arial"/>
              </a:rPr>
              <a:t>2021)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300">
              <a:latin typeface="Arial"/>
              <a:cs typeface="Arial"/>
            </a:endParaRPr>
          </a:p>
          <a:p>
            <a:pPr marL="234315" marR="875665" indent="3175">
              <a:lnSpc>
                <a:spcPct val="104099"/>
              </a:lnSpc>
            </a:pPr>
            <a:r>
              <a:rPr dirty="0" sz="1350" spc="75">
                <a:solidFill>
                  <a:srgbClr val="232323"/>
                </a:solidFill>
                <a:latin typeface="Arial"/>
                <a:cs typeface="Arial"/>
              </a:rPr>
              <a:t>#</a:t>
            </a:r>
            <a:r>
              <a:rPr dirty="0" sz="1350" spc="-5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50" i="1">
                <a:solidFill>
                  <a:srgbClr val="232323"/>
                </a:solidFill>
                <a:latin typeface="Arial"/>
                <a:cs typeface="Arial"/>
              </a:rPr>
              <a:t>Fix</a:t>
            </a:r>
            <a:r>
              <a:rPr dirty="0" sz="1300" spc="80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random</a:t>
            </a:r>
            <a:r>
              <a:rPr dirty="0" sz="1300" spc="45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seed</a:t>
            </a:r>
            <a:r>
              <a:rPr dirty="0" sz="1300" spc="65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to</a:t>
            </a:r>
            <a:r>
              <a:rPr dirty="0" sz="1300" spc="150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ensure</a:t>
            </a:r>
            <a:r>
              <a:rPr dirty="0" sz="1300" spc="5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50" i="1">
                <a:solidFill>
                  <a:srgbClr val="232323"/>
                </a:solidFill>
                <a:latin typeface="Arial"/>
                <a:cs typeface="Arial"/>
              </a:rPr>
              <a:t>SAME</a:t>
            </a:r>
            <a:r>
              <a:rPr dirty="0" sz="1300" spc="160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OUTPUT</a:t>
            </a:r>
            <a:r>
              <a:rPr dirty="0" sz="1300" spc="170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every</a:t>
            </a:r>
            <a:r>
              <a:rPr dirty="0" sz="1300" spc="110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-20" i="1">
                <a:solidFill>
                  <a:srgbClr val="232323"/>
                </a:solidFill>
                <a:latin typeface="Arial"/>
                <a:cs typeface="Arial"/>
              </a:rPr>
              <a:t>time</a:t>
            </a:r>
            <a:r>
              <a:rPr dirty="0" sz="1300" spc="-20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np.random.seed(42)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00">
              <a:latin typeface="Arial"/>
              <a:cs typeface="Arial"/>
            </a:endParaRPr>
          </a:p>
          <a:p>
            <a:pPr marL="238125">
              <a:lnSpc>
                <a:spcPts val="1495"/>
              </a:lnSpc>
              <a:spcBef>
                <a:spcPts val="5"/>
              </a:spcBef>
            </a:pPr>
            <a:r>
              <a:rPr dirty="0" sz="1350">
                <a:solidFill>
                  <a:srgbClr val="232323"/>
                </a:solidFill>
                <a:latin typeface="Arial"/>
                <a:cs typeface="Arial"/>
              </a:rPr>
              <a:t>#</a:t>
            </a:r>
            <a:r>
              <a:rPr dirty="0" sz="1350" spc="4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Generate</a:t>
            </a:r>
            <a:r>
              <a:rPr dirty="0" sz="1300" spc="165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32323"/>
                </a:solidFill>
                <a:latin typeface="Arial"/>
                <a:cs typeface="Arial"/>
              </a:rPr>
              <a:t>CO2</a:t>
            </a:r>
            <a:r>
              <a:rPr dirty="0" sz="1350" spc="85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levels</a:t>
            </a:r>
            <a:r>
              <a:rPr dirty="0" sz="1300" spc="105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(increasing</a:t>
            </a:r>
            <a:r>
              <a:rPr dirty="0" sz="1300" spc="170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trend</a:t>
            </a:r>
            <a:r>
              <a:rPr dirty="0" sz="1300" spc="40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500" spc="60">
                <a:solidFill>
                  <a:srgbClr val="232323"/>
                </a:solidFill>
                <a:latin typeface="Arial"/>
                <a:cs typeface="Arial"/>
              </a:rPr>
              <a:t>+</a:t>
            </a:r>
            <a:r>
              <a:rPr dirty="0" sz="1500" spc="-55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noise)</a:t>
            </a:r>
            <a:endParaRPr sz="1300">
              <a:latin typeface="Arial"/>
              <a:cs typeface="Arial"/>
            </a:endParaRPr>
          </a:p>
          <a:p>
            <a:pPr marL="230504">
              <a:lnSpc>
                <a:spcPts val="2035"/>
              </a:lnSpc>
            </a:pP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co2</a:t>
            </a:r>
            <a:r>
              <a:rPr dirty="0" sz="1300" spc="80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950" spc="-204">
                <a:solidFill>
                  <a:srgbClr val="232323"/>
                </a:solidFill>
                <a:latin typeface="Times New Roman"/>
                <a:cs typeface="Times New Roman"/>
              </a:rPr>
              <a:t>=</a:t>
            </a:r>
            <a:r>
              <a:rPr dirty="0" sz="1950" spc="-140">
                <a:solidFill>
                  <a:srgbClr val="232323"/>
                </a:solidFill>
                <a:latin typeface="Times New Roman"/>
                <a:cs typeface="Times New Roman"/>
              </a:rPr>
              <a:t> </a:t>
            </a:r>
            <a:r>
              <a:rPr dirty="0" sz="1300" spc="65" i="1">
                <a:solidFill>
                  <a:srgbClr val="232323"/>
                </a:solidFill>
                <a:latin typeface="Arial"/>
                <a:cs typeface="Arial"/>
              </a:rPr>
              <a:t>350</a:t>
            </a:r>
            <a:r>
              <a:rPr dirty="0" sz="1300" spc="25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450" spc="75">
                <a:solidFill>
                  <a:srgbClr val="232323"/>
                </a:solidFill>
                <a:latin typeface="Arial"/>
                <a:cs typeface="Arial"/>
              </a:rPr>
              <a:t>+</a:t>
            </a:r>
            <a:r>
              <a:rPr dirty="0" sz="1450" spc="-1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1.5*(years</a:t>
            </a:r>
            <a:r>
              <a:rPr dirty="0" sz="1300" spc="200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232323"/>
                </a:solidFill>
                <a:latin typeface="Arial"/>
                <a:cs typeface="Arial"/>
              </a:rPr>
              <a:t>-</a:t>
            </a:r>
            <a:r>
              <a:rPr dirty="0" sz="1300" spc="11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1980)</a:t>
            </a:r>
            <a:r>
              <a:rPr dirty="0" sz="1300" spc="10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450">
                <a:solidFill>
                  <a:srgbClr val="232323"/>
                </a:solidFill>
                <a:latin typeface="Arial"/>
                <a:cs typeface="Arial"/>
              </a:rPr>
              <a:t>+</a:t>
            </a:r>
            <a:r>
              <a:rPr dirty="0" sz="1450" spc="-15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np.random.normal(0,</a:t>
            </a:r>
            <a:r>
              <a:rPr dirty="0" sz="1300" spc="45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2,</a:t>
            </a:r>
            <a:r>
              <a:rPr dirty="0" sz="1300" spc="215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len(years))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2437" y="840184"/>
            <a:ext cx="5676900" cy="8187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550" spc="-50" i="1">
                <a:solidFill>
                  <a:srgbClr val="131313"/>
                </a:solidFill>
                <a:latin typeface="Arial"/>
                <a:cs typeface="Arial"/>
              </a:rPr>
              <a:t>9</a:t>
            </a:r>
            <a:endParaRPr sz="1550">
              <a:latin typeface="Arial"/>
              <a:cs typeface="Arial"/>
            </a:endParaRPr>
          </a:p>
          <a:p>
            <a:pPr marL="53340" marR="926465" indent="1270">
              <a:lnSpc>
                <a:spcPts val="1639"/>
              </a:lnSpc>
              <a:spcBef>
                <a:spcPts val="1750"/>
              </a:spcBef>
            </a:pPr>
            <a:r>
              <a:rPr dirty="0" sz="1350">
                <a:solidFill>
                  <a:srgbClr val="262626"/>
                </a:solidFill>
                <a:latin typeface="Arial"/>
                <a:cs typeface="Arial"/>
              </a:rPr>
              <a:t>#</a:t>
            </a:r>
            <a:r>
              <a:rPr dirty="0" sz="1350" spc="3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131313"/>
                </a:solidFill>
                <a:latin typeface="Arial"/>
                <a:cs typeface="Arial"/>
              </a:rPr>
              <a:t>Generate</a:t>
            </a:r>
            <a:r>
              <a:rPr dirty="0" sz="1300" spc="7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131313"/>
                </a:solidFill>
                <a:latin typeface="Arial"/>
                <a:cs typeface="Arial"/>
              </a:rPr>
              <a:t>Temperature</a:t>
            </a:r>
            <a:r>
              <a:rPr dirty="0" sz="1300" spc="2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62626"/>
                </a:solidFill>
                <a:latin typeface="Arial"/>
                <a:cs typeface="Arial"/>
              </a:rPr>
              <a:t>(dependent</a:t>
            </a:r>
            <a:r>
              <a:rPr dirty="0" sz="1300" spc="114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62626"/>
                </a:solidFill>
                <a:latin typeface="Arial"/>
                <a:cs typeface="Arial"/>
              </a:rPr>
              <a:t>on</a:t>
            </a:r>
            <a:r>
              <a:rPr dirty="0" sz="1300" spc="140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spc="110" i="1">
                <a:solidFill>
                  <a:srgbClr val="262626"/>
                </a:solidFill>
                <a:latin typeface="Arial"/>
                <a:cs typeface="Arial"/>
              </a:rPr>
              <a:t>year+</a:t>
            </a:r>
            <a:r>
              <a:rPr dirty="0" sz="1300" spc="114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50" spc="110">
                <a:solidFill>
                  <a:srgbClr val="262626"/>
                </a:solidFill>
                <a:latin typeface="Arial"/>
                <a:cs typeface="Arial"/>
              </a:rPr>
              <a:t>CO2+</a:t>
            </a:r>
            <a:r>
              <a:rPr dirty="0" sz="1350" spc="-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131313"/>
                </a:solidFill>
                <a:latin typeface="Arial"/>
                <a:cs typeface="Arial"/>
              </a:rPr>
              <a:t>noise)</a:t>
            </a:r>
            <a:r>
              <a:rPr dirty="0" sz="1300" spc="-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300" spc="20" i="1">
                <a:solidFill>
                  <a:srgbClr val="262626"/>
                </a:solidFill>
                <a:latin typeface="Arial"/>
                <a:cs typeface="Arial"/>
              </a:rPr>
              <a:t>temperature=</a:t>
            </a:r>
            <a:r>
              <a:rPr dirty="0" sz="1300" spc="120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spc="50" i="1">
                <a:solidFill>
                  <a:srgbClr val="262626"/>
                </a:solidFill>
                <a:latin typeface="Arial"/>
                <a:cs typeface="Arial"/>
              </a:rPr>
              <a:t>(10</a:t>
            </a:r>
            <a:r>
              <a:rPr dirty="0" sz="1300" spc="-15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450" spc="65">
                <a:solidFill>
                  <a:srgbClr val="131313"/>
                </a:solidFill>
                <a:latin typeface="Arial"/>
                <a:cs typeface="Arial"/>
              </a:rPr>
              <a:t>+</a:t>
            </a:r>
            <a:r>
              <a:rPr dirty="0" sz="1450" spc="-8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300" spc="20" i="1">
                <a:solidFill>
                  <a:srgbClr val="262626"/>
                </a:solidFill>
                <a:latin typeface="Arial"/>
                <a:cs typeface="Arial"/>
              </a:rPr>
              <a:t>0.02</a:t>
            </a:r>
            <a:r>
              <a:rPr dirty="0" sz="1300" spc="20" i="1">
                <a:solidFill>
                  <a:srgbClr val="525252"/>
                </a:solidFill>
                <a:latin typeface="Arial"/>
                <a:cs typeface="Arial"/>
              </a:rPr>
              <a:t>*</a:t>
            </a:r>
            <a:r>
              <a:rPr dirty="0" sz="1300" spc="20" i="1">
                <a:solidFill>
                  <a:srgbClr val="262626"/>
                </a:solidFill>
                <a:latin typeface="Arial"/>
                <a:cs typeface="Arial"/>
              </a:rPr>
              <a:t>(years</a:t>
            </a:r>
            <a:r>
              <a:rPr dirty="0" sz="1300" spc="235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spc="20">
                <a:solidFill>
                  <a:srgbClr val="262626"/>
                </a:solidFill>
                <a:latin typeface="Arial"/>
                <a:cs typeface="Arial"/>
              </a:rPr>
              <a:t>-</a:t>
            </a:r>
            <a:r>
              <a:rPr dirty="0" sz="1300" spc="7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spc="20" i="1">
                <a:solidFill>
                  <a:srgbClr val="262626"/>
                </a:solidFill>
                <a:latin typeface="Arial"/>
                <a:cs typeface="Arial"/>
              </a:rPr>
              <a:t>1980)</a:t>
            </a:r>
            <a:r>
              <a:rPr dirty="0" sz="1300" spc="-10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131313"/>
                </a:solidFill>
                <a:latin typeface="Arial"/>
                <a:cs typeface="Arial"/>
              </a:rPr>
              <a:t>+</a:t>
            </a:r>
            <a:endParaRPr sz="1450">
              <a:latin typeface="Arial"/>
              <a:cs typeface="Arial"/>
            </a:endParaRPr>
          </a:p>
          <a:p>
            <a:pPr marL="772795">
              <a:lnSpc>
                <a:spcPts val="1639"/>
              </a:lnSpc>
            </a:pPr>
            <a:r>
              <a:rPr dirty="0" sz="1300" i="1">
                <a:solidFill>
                  <a:srgbClr val="262626"/>
                </a:solidFill>
                <a:latin typeface="Arial"/>
                <a:cs typeface="Arial"/>
              </a:rPr>
              <a:t>0.015*(co2</a:t>
            </a:r>
            <a:r>
              <a:rPr dirty="0" sz="1300" spc="370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131313"/>
                </a:solidFill>
                <a:latin typeface="Arial"/>
                <a:cs typeface="Arial"/>
              </a:rPr>
              <a:t>-</a:t>
            </a:r>
            <a:r>
              <a:rPr dirty="0" sz="1300" spc="10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62626"/>
                </a:solidFill>
                <a:latin typeface="Arial"/>
                <a:cs typeface="Arial"/>
              </a:rPr>
              <a:t>co2.mean())</a:t>
            </a:r>
            <a:r>
              <a:rPr dirty="0" sz="1300" spc="135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450" spc="-50">
                <a:solidFill>
                  <a:srgbClr val="131313"/>
                </a:solidFill>
                <a:latin typeface="Arial"/>
                <a:cs typeface="Arial"/>
              </a:rPr>
              <a:t>+</a:t>
            </a:r>
            <a:endParaRPr sz="1450">
              <a:latin typeface="Arial"/>
              <a:cs typeface="Arial"/>
            </a:endParaRPr>
          </a:p>
          <a:p>
            <a:pPr marL="779145">
              <a:lnSpc>
                <a:spcPts val="1560"/>
              </a:lnSpc>
            </a:pPr>
            <a:r>
              <a:rPr dirty="0" sz="1300" spc="10" i="1">
                <a:solidFill>
                  <a:srgbClr val="131313"/>
                </a:solidFill>
                <a:latin typeface="Arial"/>
                <a:cs typeface="Arial"/>
              </a:rPr>
              <a:t>np.random.normal(0,</a:t>
            </a:r>
            <a:r>
              <a:rPr dirty="0" sz="1300" spc="1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300" spc="10" i="1">
                <a:solidFill>
                  <a:srgbClr val="262626"/>
                </a:solidFill>
                <a:latin typeface="Arial"/>
                <a:cs typeface="Arial"/>
              </a:rPr>
              <a:t>0.2,</a:t>
            </a:r>
            <a:r>
              <a:rPr dirty="0" sz="1300" spc="105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131313"/>
                </a:solidFill>
                <a:latin typeface="Arial"/>
                <a:cs typeface="Arial"/>
              </a:rPr>
              <a:t>len(years)))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300">
              <a:latin typeface="Arial"/>
              <a:cs typeface="Arial"/>
            </a:endParaRPr>
          </a:p>
          <a:p>
            <a:pPr marL="53975" marR="4041775" indent="635">
              <a:lnSpc>
                <a:spcPct val="107000"/>
              </a:lnSpc>
            </a:pPr>
            <a:r>
              <a:rPr dirty="0" sz="1350">
                <a:solidFill>
                  <a:srgbClr val="262626"/>
                </a:solidFill>
                <a:latin typeface="Arial"/>
                <a:cs typeface="Arial"/>
              </a:rPr>
              <a:t>#</a:t>
            </a:r>
            <a:r>
              <a:rPr dirty="0" sz="1350" spc="2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62626"/>
                </a:solidFill>
                <a:latin typeface="Arial"/>
                <a:cs typeface="Arial"/>
              </a:rPr>
              <a:t>Create</a:t>
            </a:r>
            <a:r>
              <a:rPr dirty="0" sz="1300" spc="130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131313"/>
                </a:solidFill>
                <a:latin typeface="Arial"/>
                <a:cs typeface="Arial"/>
              </a:rPr>
              <a:t>DataFrame</a:t>
            </a:r>
            <a:r>
              <a:rPr dirty="0" sz="1300" spc="-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62626"/>
                </a:solidFill>
                <a:latin typeface="Arial"/>
                <a:cs typeface="Arial"/>
              </a:rPr>
              <a:t>df</a:t>
            </a:r>
            <a:r>
              <a:rPr dirty="0" sz="1300" spc="-30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262626"/>
                </a:solidFill>
                <a:latin typeface="Arial"/>
                <a:cs typeface="Arial"/>
              </a:rPr>
              <a:t>=</a:t>
            </a:r>
            <a:r>
              <a:rPr dirty="0" sz="1300" spc="12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131313"/>
                </a:solidFill>
                <a:latin typeface="Arial"/>
                <a:cs typeface="Arial"/>
              </a:rPr>
              <a:t>pd.DataFrame({</a:t>
            </a:r>
            <a:endParaRPr sz="1300">
              <a:latin typeface="Arial"/>
              <a:cs typeface="Arial"/>
            </a:endParaRPr>
          </a:p>
          <a:p>
            <a:pPr marL="243204">
              <a:lnSpc>
                <a:spcPct val="100000"/>
              </a:lnSpc>
              <a:spcBef>
                <a:spcPts val="30"/>
              </a:spcBef>
            </a:pPr>
            <a:r>
              <a:rPr dirty="0" sz="1300" i="1">
                <a:solidFill>
                  <a:srgbClr val="131313"/>
                </a:solidFill>
                <a:latin typeface="Arial"/>
                <a:cs typeface="Arial"/>
              </a:rPr>
              <a:t>'Year':</a:t>
            </a:r>
            <a:r>
              <a:rPr dirty="0" sz="1300" spc="1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62626"/>
                </a:solidFill>
                <a:latin typeface="Arial"/>
                <a:cs typeface="Arial"/>
              </a:rPr>
              <a:t>years</a:t>
            </a:r>
            <a:r>
              <a:rPr dirty="0" sz="1300" spc="-10" i="1">
                <a:solidFill>
                  <a:srgbClr val="525252"/>
                </a:solidFill>
                <a:latin typeface="Arial"/>
                <a:cs typeface="Arial"/>
              </a:rPr>
              <a:t>,</a:t>
            </a:r>
            <a:endParaRPr sz="1300">
              <a:latin typeface="Arial"/>
              <a:cs typeface="Arial"/>
            </a:endParaRPr>
          </a:p>
          <a:p>
            <a:pPr marL="243204">
              <a:lnSpc>
                <a:spcPct val="100000"/>
              </a:lnSpc>
              <a:spcBef>
                <a:spcPts val="75"/>
              </a:spcBef>
            </a:pPr>
            <a:r>
              <a:rPr dirty="0" sz="1300" i="1">
                <a:solidFill>
                  <a:srgbClr val="131313"/>
                </a:solidFill>
                <a:latin typeface="Arial"/>
                <a:cs typeface="Arial"/>
              </a:rPr>
              <a:t>'CO2':</a:t>
            </a:r>
            <a:r>
              <a:rPr dirty="0" sz="1300" spc="114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300" spc="-20" i="1">
                <a:solidFill>
                  <a:srgbClr val="262626"/>
                </a:solidFill>
                <a:latin typeface="Arial"/>
                <a:cs typeface="Arial"/>
              </a:rPr>
              <a:t>CO2,</a:t>
            </a:r>
            <a:endParaRPr sz="1300">
              <a:latin typeface="Arial"/>
              <a:cs typeface="Arial"/>
            </a:endParaRPr>
          </a:p>
          <a:p>
            <a:pPr marL="243204">
              <a:lnSpc>
                <a:spcPts val="1400"/>
              </a:lnSpc>
              <a:spcBef>
                <a:spcPts val="175"/>
              </a:spcBef>
            </a:pPr>
            <a:r>
              <a:rPr dirty="0" sz="1300" spc="10" i="1">
                <a:solidFill>
                  <a:srgbClr val="131313"/>
                </a:solidFill>
                <a:latin typeface="Arial"/>
                <a:cs typeface="Arial"/>
              </a:rPr>
              <a:t>'Temperature':</a:t>
            </a:r>
            <a:r>
              <a:rPr dirty="0" sz="1300" spc="13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131313"/>
                </a:solidFill>
                <a:latin typeface="Arial"/>
                <a:cs typeface="Arial"/>
              </a:rPr>
              <a:t>temperature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ts val="1820"/>
              </a:lnSpc>
            </a:pPr>
            <a:r>
              <a:rPr dirty="0" sz="1650" spc="-315" i="1">
                <a:solidFill>
                  <a:srgbClr val="262626"/>
                </a:solidFill>
                <a:latin typeface="Courier New"/>
                <a:cs typeface="Courier New"/>
              </a:rPr>
              <a:t>})</a:t>
            </a:r>
            <a:endParaRPr sz="1650">
              <a:latin typeface="Courier New"/>
              <a:cs typeface="Courier New"/>
            </a:endParaRPr>
          </a:p>
          <a:p>
            <a:pPr marL="52069" marR="3735070" indent="2540">
              <a:lnSpc>
                <a:spcPct val="106000"/>
              </a:lnSpc>
              <a:spcBef>
                <a:spcPts val="1495"/>
              </a:spcBef>
            </a:pPr>
            <a:r>
              <a:rPr dirty="0" sz="1350" spc="-25">
                <a:solidFill>
                  <a:srgbClr val="262626"/>
                </a:solidFill>
                <a:latin typeface="Arial"/>
                <a:cs typeface="Arial"/>
              </a:rPr>
              <a:t>#</a:t>
            </a:r>
            <a:r>
              <a:rPr dirty="0" sz="1350" spc="24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131313"/>
                </a:solidFill>
                <a:latin typeface="Arial"/>
                <a:cs typeface="Arial"/>
              </a:rPr>
              <a:t>Display</a:t>
            </a:r>
            <a:r>
              <a:rPr dirty="0" sz="1300" spc="9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62626"/>
                </a:solidFill>
                <a:latin typeface="Arial"/>
                <a:cs typeface="Arial"/>
              </a:rPr>
              <a:t>first</a:t>
            </a:r>
            <a:r>
              <a:rPr dirty="0" sz="1300" spc="-90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spc="55" i="1">
                <a:solidFill>
                  <a:srgbClr val="262626"/>
                </a:solidFill>
                <a:latin typeface="Arial"/>
                <a:cs typeface="Arial"/>
              </a:rPr>
              <a:t>5</a:t>
            </a:r>
            <a:r>
              <a:rPr dirty="0" sz="1300" spc="85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spc="-20" i="1">
                <a:solidFill>
                  <a:srgbClr val="262626"/>
                </a:solidFill>
                <a:latin typeface="Arial"/>
                <a:cs typeface="Arial"/>
              </a:rPr>
              <a:t>rows</a:t>
            </a:r>
            <a:r>
              <a:rPr dirty="0" sz="1300" spc="-20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spc="10" i="1">
                <a:solidFill>
                  <a:srgbClr val="262626"/>
                </a:solidFill>
                <a:latin typeface="Arial"/>
                <a:cs typeface="Arial"/>
              </a:rPr>
              <a:t>print("Dataset</a:t>
            </a:r>
            <a:r>
              <a:rPr dirty="0" sz="1300" spc="190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131313"/>
                </a:solidFill>
                <a:latin typeface="Arial"/>
                <a:cs typeface="Arial"/>
              </a:rPr>
              <a:t>Preview</a:t>
            </a:r>
            <a:r>
              <a:rPr dirty="0" sz="1300" spc="-10" i="1">
                <a:solidFill>
                  <a:srgbClr val="525252"/>
                </a:solidFill>
                <a:latin typeface="Arial"/>
                <a:cs typeface="Arial"/>
              </a:rPr>
              <a:t>:</a:t>
            </a:r>
            <a:r>
              <a:rPr dirty="0" sz="1300" spc="-10" i="1">
                <a:solidFill>
                  <a:srgbClr val="262626"/>
                </a:solidFill>
                <a:latin typeface="Arial"/>
                <a:cs typeface="Arial"/>
              </a:rPr>
              <a:t>") print(</a:t>
            </a:r>
            <a:r>
              <a:rPr dirty="0" sz="1300" spc="-10" i="1">
                <a:solidFill>
                  <a:srgbClr val="131313"/>
                </a:solidFill>
                <a:latin typeface="Arial"/>
                <a:cs typeface="Arial"/>
              </a:rPr>
              <a:t>df.head())</a:t>
            </a:r>
            <a:endParaRPr sz="1300">
              <a:latin typeface="Arial"/>
              <a:cs typeface="Arial"/>
            </a:endParaRPr>
          </a:p>
          <a:p>
            <a:pPr marL="33020">
              <a:lnSpc>
                <a:spcPts val="2300"/>
              </a:lnSpc>
              <a:spcBef>
                <a:spcPts val="1150"/>
              </a:spcBef>
            </a:pPr>
            <a:r>
              <a:rPr dirty="0" sz="2050" spc="509">
                <a:solidFill>
                  <a:srgbClr val="262626"/>
                </a:solidFill>
                <a:latin typeface="Courier New"/>
                <a:cs typeface="Courier New"/>
              </a:rPr>
              <a:t>#===================</a:t>
            </a:r>
            <a:endParaRPr sz="2050">
              <a:latin typeface="Courier New"/>
              <a:cs typeface="Courier New"/>
            </a:endParaRPr>
          </a:p>
          <a:p>
            <a:pPr marL="54610">
              <a:lnSpc>
                <a:spcPts val="1215"/>
              </a:lnSpc>
            </a:pPr>
            <a:r>
              <a:rPr dirty="0" sz="1350" spc="60">
                <a:solidFill>
                  <a:srgbClr val="262626"/>
                </a:solidFill>
                <a:latin typeface="Arial"/>
                <a:cs typeface="Arial"/>
              </a:rPr>
              <a:t>#</a:t>
            </a:r>
            <a:r>
              <a:rPr dirty="0" sz="1250" spc="60">
                <a:solidFill>
                  <a:srgbClr val="262626"/>
                </a:solidFill>
                <a:latin typeface="Arial"/>
                <a:cs typeface="Arial"/>
              </a:rPr>
              <a:t>3.</a:t>
            </a:r>
            <a:r>
              <a:rPr dirty="0" sz="1300" spc="60" i="1">
                <a:solidFill>
                  <a:srgbClr val="131313"/>
                </a:solidFill>
                <a:latin typeface="Arial"/>
                <a:cs typeface="Arial"/>
              </a:rPr>
              <a:t>PREPROCESSING</a:t>
            </a:r>
            <a:endParaRPr sz="1300">
              <a:latin typeface="Arial"/>
              <a:cs typeface="Arial"/>
            </a:endParaRPr>
          </a:p>
          <a:p>
            <a:pPr marL="33020">
              <a:lnSpc>
                <a:spcPts val="2055"/>
              </a:lnSpc>
            </a:pPr>
            <a:r>
              <a:rPr dirty="0" sz="2050" spc="509">
                <a:solidFill>
                  <a:srgbClr val="262626"/>
                </a:solidFill>
                <a:latin typeface="Courier New"/>
                <a:cs typeface="Courier New"/>
              </a:rPr>
              <a:t>#===================</a:t>
            </a:r>
            <a:endParaRPr sz="2050">
              <a:latin typeface="Courier New"/>
              <a:cs typeface="Courier New"/>
            </a:endParaRPr>
          </a:p>
          <a:p>
            <a:pPr marL="54610">
              <a:lnSpc>
                <a:spcPts val="1220"/>
              </a:lnSpc>
            </a:pPr>
            <a:r>
              <a:rPr dirty="0" sz="1350" spc="60">
                <a:solidFill>
                  <a:srgbClr val="262626"/>
                </a:solidFill>
                <a:latin typeface="Arial"/>
                <a:cs typeface="Arial"/>
              </a:rPr>
              <a:t>#</a:t>
            </a:r>
            <a:r>
              <a:rPr dirty="0" sz="1300" spc="60" i="1">
                <a:solidFill>
                  <a:srgbClr val="131313"/>
                </a:solidFill>
                <a:latin typeface="Arial"/>
                <a:cs typeface="Arial"/>
              </a:rPr>
              <a:t>Features</a:t>
            </a:r>
            <a:r>
              <a:rPr dirty="0" sz="1300" spc="114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62626"/>
                </a:solidFill>
                <a:latin typeface="Arial"/>
                <a:cs typeface="Arial"/>
              </a:rPr>
              <a:t>(Independent</a:t>
            </a:r>
            <a:r>
              <a:rPr dirty="0" sz="1300" spc="240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62626"/>
                </a:solidFill>
                <a:latin typeface="Arial"/>
                <a:cs typeface="Arial"/>
              </a:rPr>
              <a:t>Variables)</a:t>
            </a:r>
            <a:endParaRPr sz="1300">
              <a:latin typeface="Arial"/>
              <a:cs typeface="Arial"/>
            </a:endParaRPr>
          </a:p>
          <a:p>
            <a:pPr marL="61594">
              <a:lnSpc>
                <a:spcPts val="1980"/>
              </a:lnSpc>
            </a:pPr>
            <a:r>
              <a:rPr dirty="0" sz="1300" i="1">
                <a:solidFill>
                  <a:srgbClr val="262626"/>
                </a:solidFill>
                <a:latin typeface="Arial"/>
                <a:cs typeface="Arial"/>
              </a:rPr>
              <a:t>X</a:t>
            </a:r>
            <a:r>
              <a:rPr dirty="0" sz="1300" spc="50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850" spc="-140">
                <a:solidFill>
                  <a:srgbClr val="131313"/>
                </a:solidFill>
                <a:latin typeface="Times New Roman"/>
                <a:cs typeface="Times New Roman"/>
              </a:rPr>
              <a:t>=</a:t>
            </a:r>
            <a:r>
              <a:rPr dirty="0" sz="1850" spc="-165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1300" i="1">
                <a:solidFill>
                  <a:srgbClr val="131313"/>
                </a:solidFill>
                <a:latin typeface="Arial"/>
                <a:cs typeface="Arial"/>
              </a:rPr>
              <a:t>df[['Year'</a:t>
            </a:r>
            <a:r>
              <a:rPr dirty="0" sz="1300" i="1">
                <a:solidFill>
                  <a:srgbClr val="525252"/>
                </a:solidFill>
                <a:latin typeface="Arial"/>
                <a:cs typeface="Arial"/>
              </a:rPr>
              <a:t>,</a:t>
            </a:r>
            <a:r>
              <a:rPr dirty="0" sz="1300" spc="95" i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131313"/>
                </a:solidFill>
                <a:latin typeface="Arial"/>
                <a:cs typeface="Arial"/>
              </a:rPr>
              <a:t>'CO21].values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Arial"/>
              <a:cs typeface="Arial"/>
            </a:endParaRPr>
          </a:p>
          <a:p>
            <a:pPr marL="50165" marR="3272790" indent="3810">
              <a:lnSpc>
                <a:spcPct val="104099"/>
              </a:lnSpc>
            </a:pPr>
            <a:r>
              <a:rPr dirty="0" sz="1350">
                <a:solidFill>
                  <a:srgbClr val="262626"/>
                </a:solidFill>
                <a:latin typeface="Arial"/>
                <a:cs typeface="Arial"/>
              </a:rPr>
              <a:t>#</a:t>
            </a:r>
            <a:r>
              <a:rPr dirty="0" sz="1350" spc="7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131313"/>
                </a:solidFill>
                <a:latin typeface="Arial"/>
                <a:cs typeface="Arial"/>
              </a:rPr>
              <a:t>Target</a:t>
            </a:r>
            <a:r>
              <a:rPr dirty="0" sz="1300" spc="114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62626"/>
                </a:solidFill>
                <a:latin typeface="Arial"/>
                <a:cs typeface="Arial"/>
              </a:rPr>
              <a:t>(Dependent</a:t>
            </a:r>
            <a:r>
              <a:rPr dirty="0" sz="1300" spc="225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62626"/>
                </a:solidFill>
                <a:latin typeface="Arial"/>
                <a:cs typeface="Arial"/>
              </a:rPr>
              <a:t>Variable)</a:t>
            </a:r>
            <a:r>
              <a:rPr dirty="0" sz="1300" spc="-10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62626"/>
                </a:solidFill>
                <a:latin typeface="Arial"/>
                <a:cs typeface="Arial"/>
              </a:rPr>
              <a:t>y</a:t>
            </a:r>
            <a:r>
              <a:rPr dirty="0" sz="1300" spc="70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262626"/>
                </a:solidFill>
                <a:latin typeface="Arial"/>
                <a:cs typeface="Arial"/>
              </a:rPr>
              <a:t>=</a:t>
            </a:r>
            <a:r>
              <a:rPr dirty="0" sz="1300" spc="14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131313"/>
                </a:solidFill>
                <a:latin typeface="Arial"/>
                <a:cs typeface="Arial"/>
              </a:rPr>
              <a:t>df['Temperature</a:t>
            </a:r>
            <a:r>
              <a:rPr dirty="0" sz="1300" i="1">
                <a:solidFill>
                  <a:srgbClr val="262626"/>
                </a:solidFill>
                <a:latin typeface="Arial"/>
                <a:cs typeface="Arial"/>
              </a:rPr>
              <a:t>1-</a:t>
            </a:r>
            <a:r>
              <a:rPr dirty="0" sz="1300" spc="-10" i="1">
                <a:solidFill>
                  <a:srgbClr val="262626"/>
                </a:solidFill>
                <a:latin typeface="Arial"/>
                <a:cs typeface="Arial"/>
              </a:rPr>
              <a:t>values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300">
              <a:latin typeface="Arial"/>
              <a:cs typeface="Arial"/>
            </a:endParaRPr>
          </a:p>
          <a:p>
            <a:pPr marL="54610">
              <a:lnSpc>
                <a:spcPct val="100000"/>
              </a:lnSpc>
              <a:spcBef>
                <a:spcPts val="5"/>
              </a:spcBef>
            </a:pPr>
            <a:r>
              <a:rPr dirty="0" sz="1350">
                <a:solidFill>
                  <a:srgbClr val="262626"/>
                </a:solidFill>
                <a:latin typeface="Arial"/>
                <a:cs typeface="Arial"/>
              </a:rPr>
              <a:t>#</a:t>
            </a:r>
            <a:r>
              <a:rPr dirty="0" sz="1350" spc="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131313"/>
                </a:solidFill>
                <a:latin typeface="Arial"/>
                <a:cs typeface="Arial"/>
              </a:rPr>
              <a:t>Train-Test</a:t>
            </a:r>
            <a:r>
              <a:rPr dirty="0" sz="1300" spc="2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62626"/>
                </a:solidFill>
                <a:latin typeface="Arial"/>
                <a:cs typeface="Arial"/>
              </a:rPr>
              <a:t>Split</a:t>
            </a:r>
            <a:r>
              <a:rPr dirty="0" sz="1300" spc="55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62626"/>
                </a:solidFill>
                <a:latin typeface="Arial"/>
                <a:cs typeface="Arial"/>
              </a:rPr>
              <a:t>(80%</a:t>
            </a:r>
            <a:r>
              <a:rPr dirty="0" sz="1300" spc="114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62626"/>
                </a:solidFill>
                <a:latin typeface="Arial"/>
                <a:cs typeface="Arial"/>
              </a:rPr>
              <a:t>train</a:t>
            </a:r>
            <a:r>
              <a:rPr dirty="0" sz="1300" i="1">
                <a:solidFill>
                  <a:srgbClr val="525252"/>
                </a:solidFill>
                <a:latin typeface="Arial"/>
                <a:cs typeface="Arial"/>
              </a:rPr>
              <a:t>,</a:t>
            </a:r>
            <a:r>
              <a:rPr dirty="0" sz="1300" spc="10" i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1300" spc="65" i="1">
                <a:solidFill>
                  <a:srgbClr val="262626"/>
                </a:solidFill>
                <a:latin typeface="Arial"/>
                <a:cs typeface="Arial"/>
              </a:rPr>
              <a:t>20%</a:t>
            </a:r>
            <a:r>
              <a:rPr dirty="0" sz="1300" spc="105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62626"/>
                </a:solidFill>
                <a:latin typeface="Arial"/>
                <a:cs typeface="Arial"/>
              </a:rPr>
              <a:t>test)</a:t>
            </a:r>
            <a:endParaRPr sz="1300">
              <a:latin typeface="Arial"/>
              <a:cs typeface="Arial"/>
            </a:endParaRPr>
          </a:p>
          <a:p>
            <a:pPr marL="61594" marR="563880" indent="-7620">
              <a:lnSpc>
                <a:spcPts val="1639"/>
              </a:lnSpc>
              <a:spcBef>
                <a:spcPts val="50"/>
              </a:spcBef>
            </a:pPr>
            <a:r>
              <a:rPr dirty="0" sz="1350" spc="65">
                <a:solidFill>
                  <a:srgbClr val="262626"/>
                </a:solidFill>
                <a:latin typeface="Arial"/>
                <a:cs typeface="Arial"/>
              </a:rPr>
              <a:t>#</a:t>
            </a:r>
            <a:r>
              <a:rPr dirty="0" sz="1350" spc="-5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131313"/>
                </a:solidFill>
                <a:latin typeface="Arial"/>
                <a:cs typeface="Arial"/>
              </a:rPr>
              <a:t>random_state</a:t>
            </a:r>
            <a:r>
              <a:rPr dirty="0" sz="1300" spc="2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131313"/>
                </a:solidFill>
                <a:latin typeface="Arial"/>
                <a:cs typeface="Arial"/>
              </a:rPr>
              <a:t>ensures</a:t>
            </a:r>
            <a:r>
              <a:rPr dirty="0" sz="1300" spc="204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62626"/>
                </a:solidFill>
                <a:latin typeface="Arial"/>
                <a:cs typeface="Arial"/>
              </a:rPr>
              <a:t>SAME</a:t>
            </a:r>
            <a:r>
              <a:rPr dirty="0" sz="1300" spc="85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62626"/>
                </a:solidFill>
                <a:latin typeface="Arial"/>
                <a:cs typeface="Arial"/>
              </a:rPr>
              <a:t>split</a:t>
            </a:r>
            <a:r>
              <a:rPr dirty="0" sz="1300" spc="110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131313"/>
                </a:solidFill>
                <a:latin typeface="Arial"/>
                <a:cs typeface="Arial"/>
              </a:rPr>
              <a:t>every</a:t>
            </a:r>
            <a:r>
              <a:rPr dirty="0" sz="1300" spc="204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300" spc="285" i="1">
                <a:solidFill>
                  <a:srgbClr val="262626"/>
                </a:solidFill>
                <a:latin typeface="Arial"/>
                <a:cs typeface="Arial"/>
              </a:rPr>
              <a:t>run�</a:t>
            </a:r>
            <a:r>
              <a:rPr dirty="0" sz="1300" spc="-165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spc="50" i="1">
                <a:solidFill>
                  <a:srgbClr val="131313"/>
                </a:solidFill>
                <a:latin typeface="Arial"/>
                <a:cs typeface="Arial"/>
              </a:rPr>
              <a:t>SAME</a:t>
            </a:r>
            <a:r>
              <a:rPr dirty="0" sz="1300" spc="7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131313"/>
                </a:solidFill>
                <a:latin typeface="Arial"/>
                <a:cs typeface="Arial"/>
              </a:rPr>
              <a:t>OUTPUT</a:t>
            </a:r>
            <a:r>
              <a:rPr dirty="0" sz="1300" spc="-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62626"/>
                </a:solidFill>
                <a:latin typeface="Arial"/>
                <a:cs typeface="Arial"/>
              </a:rPr>
              <a:t>X</a:t>
            </a:r>
            <a:r>
              <a:rPr dirty="0" sz="1300" i="1">
                <a:solidFill>
                  <a:srgbClr val="676767"/>
                </a:solidFill>
                <a:latin typeface="Arial"/>
                <a:cs typeface="Arial"/>
              </a:rPr>
              <a:t>_</a:t>
            </a:r>
            <a:r>
              <a:rPr dirty="0" sz="1300" i="1">
                <a:solidFill>
                  <a:srgbClr val="262626"/>
                </a:solidFill>
                <a:latin typeface="Arial"/>
                <a:cs typeface="Arial"/>
              </a:rPr>
              <a:t>train</a:t>
            </a:r>
            <a:r>
              <a:rPr dirty="0" sz="1300" i="1">
                <a:solidFill>
                  <a:srgbClr val="525252"/>
                </a:solidFill>
                <a:latin typeface="Arial"/>
                <a:cs typeface="Arial"/>
              </a:rPr>
              <a:t>,</a:t>
            </a:r>
            <a:r>
              <a:rPr dirty="0" sz="1300" spc="210" i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62626"/>
                </a:solidFill>
                <a:latin typeface="Arial"/>
                <a:cs typeface="Arial"/>
              </a:rPr>
              <a:t>X</a:t>
            </a:r>
            <a:r>
              <a:rPr dirty="0" sz="1300" i="1">
                <a:solidFill>
                  <a:srgbClr val="676767"/>
                </a:solidFill>
                <a:latin typeface="Arial"/>
                <a:cs typeface="Arial"/>
              </a:rPr>
              <a:t>_</a:t>
            </a:r>
            <a:r>
              <a:rPr dirty="0" sz="1300" i="1">
                <a:solidFill>
                  <a:srgbClr val="262626"/>
                </a:solidFill>
                <a:latin typeface="Arial"/>
                <a:cs typeface="Arial"/>
              </a:rPr>
              <a:t>test</a:t>
            </a:r>
            <a:r>
              <a:rPr dirty="0" sz="1300" i="1">
                <a:solidFill>
                  <a:srgbClr val="525252"/>
                </a:solidFill>
                <a:latin typeface="Arial"/>
                <a:cs typeface="Arial"/>
              </a:rPr>
              <a:t>,</a:t>
            </a:r>
            <a:r>
              <a:rPr dirty="0" sz="1300" spc="85" i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62626"/>
                </a:solidFill>
                <a:latin typeface="Arial"/>
                <a:cs typeface="Arial"/>
              </a:rPr>
              <a:t>y</a:t>
            </a:r>
            <a:r>
              <a:rPr dirty="0" sz="1300" i="1">
                <a:solidFill>
                  <a:srgbClr val="676767"/>
                </a:solidFill>
                <a:latin typeface="Arial"/>
                <a:cs typeface="Arial"/>
              </a:rPr>
              <a:t>_</a:t>
            </a:r>
            <a:r>
              <a:rPr dirty="0" sz="1300" i="1">
                <a:solidFill>
                  <a:srgbClr val="262626"/>
                </a:solidFill>
                <a:latin typeface="Arial"/>
                <a:cs typeface="Arial"/>
              </a:rPr>
              <a:t>train</a:t>
            </a:r>
            <a:r>
              <a:rPr dirty="0" sz="1300" i="1">
                <a:solidFill>
                  <a:srgbClr val="525252"/>
                </a:solidFill>
                <a:latin typeface="Arial"/>
                <a:cs typeface="Arial"/>
              </a:rPr>
              <a:t>,</a:t>
            </a:r>
            <a:r>
              <a:rPr dirty="0" sz="1300" spc="155" i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62626"/>
                </a:solidFill>
                <a:latin typeface="Arial"/>
                <a:cs typeface="Arial"/>
              </a:rPr>
              <a:t>y</a:t>
            </a:r>
            <a:r>
              <a:rPr dirty="0" sz="1300" i="1">
                <a:solidFill>
                  <a:srgbClr val="676767"/>
                </a:solidFill>
                <a:latin typeface="Arial"/>
                <a:cs typeface="Arial"/>
              </a:rPr>
              <a:t>_</a:t>
            </a:r>
            <a:r>
              <a:rPr dirty="0" sz="1300" i="1">
                <a:solidFill>
                  <a:srgbClr val="262626"/>
                </a:solidFill>
                <a:latin typeface="Arial"/>
                <a:cs typeface="Arial"/>
              </a:rPr>
              <a:t>test</a:t>
            </a:r>
            <a:r>
              <a:rPr dirty="0" sz="1300" spc="-15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131313"/>
                </a:solidFill>
                <a:latin typeface="Arial"/>
                <a:cs typeface="Arial"/>
              </a:rPr>
              <a:t>=</a:t>
            </a:r>
            <a:r>
              <a:rPr dirty="0" sz="1300" spc="254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62626"/>
                </a:solidFill>
                <a:latin typeface="Arial"/>
                <a:cs typeface="Arial"/>
              </a:rPr>
              <a:t>train</a:t>
            </a:r>
            <a:r>
              <a:rPr dirty="0" sz="1300" spc="-10" i="1">
                <a:solidFill>
                  <a:srgbClr val="676767"/>
                </a:solidFill>
                <a:latin typeface="Arial"/>
                <a:cs typeface="Arial"/>
              </a:rPr>
              <a:t>_</a:t>
            </a:r>
            <a:r>
              <a:rPr dirty="0" sz="1300" spc="-10" i="1">
                <a:solidFill>
                  <a:srgbClr val="131313"/>
                </a:solidFill>
                <a:latin typeface="Arial"/>
                <a:cs typeface="Arial"/>
              </a:rPr>
              <a:t>test</a:t>
            </a:r>
            <a:r>
              <a:rPr dirty="0" sz="1300" spc="-10" i="1">
                <a:solidFill>
                  <a:srgbClr val="676767"/>
                </a:solidFill>
                <a:latin typeface="Arial"/>
                <a:cs typeface="Arial"/>
              </a:rPr>
              <a:t>_</a:t>
            </a:r>
            <a:r>
              <a:rPr dirty="0" sz="1300" spc="-10" i="1">
                <a:solidFill>
                  <a:srgbClr val="262626"/>
                </a:solidFill>
                <a:latin typeface="Arial"/>
                <a:cs typeface="Arial"/>
              </a:rPr>
              <a:t>split(</a:t>
            </a:r>
            <a:endParaRPr sz="1300">
              <a:latin typeface="Arial"/>
              <a:cs typeface="Arial"/>
            </a:endParaRPr>
          </a:p>
          <a:p>
            <a:pPr marL="251460">
              <a:lnSpc>
                <a:spcPct val="100000"/>
              </a:lnSpc>
              <a:spcBef>
                <a:spcPts val="5"/>
              </a:spcBef>
            </a:pPr>
            <a:r>
              <a:rPr dirty="0" sz="1300" i="1">
                <a:solidFill>
                  <a:srgbClr val="262626"/>
                </a:solidFill>
                <a:latin typeface="Arial"/>
                <a:cs typeface="Arial"/>
              </a:rPr>
              <a:t>X</a:t>
            </a:r>
            <a:r>
              <a:rPr dirty="0" sz="1300" i="1">
                <a:solidFill>
                  <a:srgbClr val="525252"/>
                </a:solidFill>
                <a:latin typeface="Arial"/>
                <a:cs typeface="Arial"/>
              </a:rPr>
              <a:t>,</a:t>
            </a:r>
            <a:r>
              <a:rPr dirty="0" sz="1300" spc="60" i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1300" spc="50" i="1">
                <a:solidFill>
                  <a:srgbClr val="262626"/>
                </a:solidFill>
                <a:latin typeface="Arial"/>
                <a:cs typeface="Arial"/>
              </a:rPr>
              <a:t>y</a:t>
            </a:r>
            <a:r>
              <a:rPr dirty="0" sz="1300" spc="50" i="1">
                <a:solidFill>
                  <a:srgbClr val="525252"/>
                </a:solidFill>
                <a:latin typeface="Arial"/>
                <a:cs typeface="Arial"/>
              </a:rPr>
              <a:t>,</a:t>
            </a:r>
            <a:r>
              <a:rPr dirty="0" sz="1300" spc="150" i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62626"/>
                </a:solidFill>
                <a:latin typeface="Arial"/>
                <a:cs typeface="Arial"/>
              </a:rPr>
              <a:t>test</a:t>
            </a:r>
            <a:r>
              <a:rPr dirty="0" sz="1300" i="1">
                <a:solidFill>
                  <a:srgbClr val="525252"/>
                </a:solidFill>
                <a:latin typeface="Arial"/>
                <a:cs typeface="Arial"/>
              </a:rPr>
              <a:t>_</a:t>
            </a:r>
            <a:r>
              <a:rPr dirty="0" sz="1300" i="1">
                <a:solidFill>
                  <a:srgbClr val="262626"/>
                </a:solidFill>
                <a:latin typeface="Arial"/>
                <a:cs typeface="Arial"/>
              </a:rPr>
              <a:t>size=0</a:t>
            </a:r>
            <a:r>
              <a:rPr dirty="0" sz="1300" i="1">
                <a:latin typeface="Arial"/>
                <a:cs typeface="Arial"/>
              </a:rPr>
              <a:t>.</a:t>
            </a:r>
            <a:r>
              <a:rPr dirty="0" sz="1300" i="1">
                <a:solidFill>
                  <a:srgbClr val="262626"/>
                </a:solidFill>
                <a:latin typeface="Arial"/>
                <a:cs typeface="Arial"/>
              </a:rPr>
              <a:t>2</a:t>
            </a:r>
            <a:r>
              <a:rPr dirty="0" sz="1300" i="1">
                <a:solidFill>
                  <a:srgbClr val="525252"/>
                </a:solidFill>
                <a:latin typeface="Arial"/>
                <a:cs typeface="Arial"/>
              </a:rPr>
              <a:t>,</a:t>
            </a:r>
            <a:r>
              <a:rPr dirty="0" sz="1300" spc="125" i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62626"/>
                </a:solidFill>
                <a:latin typeface="Arial"/>
                <a:cs typeface="Arial"/>
              </a:rPr>
              <a:t>random</a:t>
            </a:r>
            <a:r>
              <a:rPr dirty="0" sz="1300" spc="-10" i="1">
                <a:solidFill>
                  <a:srgbClr val="525252"/>
                </a:solidFill>
                <a:latin typeface="Arial"/>
                <a:cs typeface="Arial"/>
              </a:rPr>
              <a:t>_</a:t>
            </a:r>
            <a:r>
              <a:rPr dirty="0" sz="1300" spc="-10" i="1">
                <a:solidFill>
                  <a:srgbClr val="262626"/>
                </a:solidFill>
                <a:latin typeface="Arial"/>
                <a:cs typeface="Arial"/>
              </a:rPr>
              <a:t>state=42</a:t>
            </a:r>
            <a:endParaRPr sz="1300">
              <a:latin typeface="Arial"/>
              <a:cs typeface="Arial"/>
            </a:endParaRPr>
          </a:p>
          <a:p>
            <a:pPr marL="59690">
              <a:lnSpc>
                <a:spcPct val="100000"/>
              </a:lnSpc>
              <a:spcBef>
                <a:spcPts val="75"/>
              </a:spcBef>
            </a:pPr>
            <a:r>
              <a:rPr dirty="0" sz="1300" spc="-50" i="1">
                <a:solidFill>
                  <a:srgbClr val="262626"/>
                </a:solidFill>
                <a:latin typeface="Arial"/>
                <a:cs typeface="Arial"/>
              </a:rPr>
              <a:t>)</a:t>
            </a:r>
            <a:endParaRPr sz="1300">
              <a:latin typeface="Arial"/>
              <a:cs typeface="Arial"/>
            </a:endParaRPr>
          </a:p>
          <a:p>
            <a:pPr marL="33020">
              <a:lnSpc>
                <a:spcPts val="2305"/>
              </a:lnSpc>
              <a:spcBef>
                <a:spcPts val="1205"/>
              </a:spcBef>
            </a:pPr>
            <a:r>
              <a:rPr dirty="0" sz="2050" spc="509">
                <a:solidFill>
                  <a:srgbClr val="262626"/>
                </a:solidFill>
                <a:latin typeface="Courier New"/>
                <a:cs typeface="Courier New"/>
              </a:rPr>
              <a:t>#===================</a:t>
            </a:r>
            <a:endParaRPr sz="2050">
              <a:latin typeface="Courier New"/>
              <a:cs typeface="Courier New"/>
            </a:endParaRPr>
          </a:p>
          <a:p>
            <a:pPr marL="48895">
              <a:lnSpc>
                <a:spcPts val="1185"/>
              </a:lnSpc>
            </a:pPr>
            <a:r>
              <a:rPr dirty="0" sz="1300" spc="125" i="1">
                <a:solidFill>
                  <a:srgbClr val="262626"/>
                </a:solidFill>
                <a:latin typeface="Arial"/>
                <a:cs typeface="Arial"/>
              </a:rPr>
              <a:t>#4.MODEL</a:t>
            </a:r>
            <a:r>
              <a:rPr dirty="0" sz="1300" spc="45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131313"/>
                </a:solidFill>
                <a:latin typeface="Arial"/>
                <a:cs typeface="Arial"/>
              </a:rPr>
              <a:t>TRAINING</a:t>
            </a:r>
            <a:endParaRPr sz="1300">
              <a:latin typeface="Arial"/>
              <a:cs typeface="Arial"/>
            </a:endParaRPr>
          </a:p>
          <a:p>
            <a:pPr marL="33020">
              <a:lnSpc>
                <a:spcPts val="2060"/>
              </a:lnSpc>
            </a:pPr>
            <a:r>
              <a:rPr dirty="0" sz="2050" spc="509">
                <a:solidFill>
                  <a:srgbClr val="262626"/>
                </a:solidFill>
                <a:latin typeface="Courier New"/>
                <a:cs typeface="Courier New"/>
              </a:rPr>
              <a:t>#===================</a:t>
            </a:r>
            <a:endParaRPr sz="2050">
              <a:latin typeface="Courier New"/>
              <a:cs typeface="Courier New"/>
            </a:endParaRPr>
          </a:p>
          <a:p>
            <a:pPr marL="54610">
              <a:lnSpc>
                <a:spcPts val="1440"/>
              </a:lnSpc>
            </a:pPr>
            <a:r>
              <a:rPr dirty="0" sz="1350" spc="75">
                <a:solidFill>
                  <a:srgbClr val="262626"/>
                </a:solidFill>
                <a:latin typeface="Arial"/>
                <a:cs typeface="Arial"/>
              </a:rPr>
              <a:t>#</a:t>
            </a:r>
            <a:r>
              <a:rPr dirty="0" sz="1300" spc="75" i="1">
                <a:solidFill>
                  <a:srgbClr val="131313"/>
                </a:solidFill>
                <a:latin typeface="Arial"/>
                <a:cs typeface="Arial"/>
              </a:rPr>
              <a:t>Linear</a:t>
            </a:r>
            <a:r>
              <a:rPr dirty="0" sz="1300" spc="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131313"/>
                </a:solidFill>
                <a:latin typeface="Arial"/>
                <a:cs typeface="Arial"/>
              </a:rPr>
              <a:t>Regression</a:t>
            </a:r>
            <a:endParaRPr sz="1300">
              <a:latin typeface="Arial"/>
              <a:cs typeface="Arial"/>
            </a:endParaRPr>
          </a:p>
          <a:p>
            <a:pPr marL="52069" marR="3832225" indent="-5080">
              <a:lnSpc>
                <a:spcPts val="1680"/>
              </a:lnSpc>
              <a:spcBef>
                <a:spcPts val="20"/>
              </a:spcBef>
            </a:pPr>
            <a:r>
              <a:rPr dirty="0" sz="1300" i="1">
                <a:solidFill>
                  <a:srgbClr val="131313"/>
                </a:solidFill>
                <a:latin typeface="Arial"/>
                <a:cs typeface="Arial"/>
              </a:rPr>
              <a:t>Ir=</a:t>
            </a:r>
            <a:r>
              <a:rPr dirty="0" sz="1300" spc="38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131313"/>
                </a:solidFill>
                <a:latin typeface="Arial"/>
                <a:cs typeface="Arial"/>
              </a:rPr>
              <a:t>LinearRegression()</a:t>
            </a:r>
            <a:r>
              <a:rPr dirty="0" sz="1300" spc="-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62626"/>
                </a:solidFill>
                <a:latin typeface="Arial"/>
                <a:cs typeface="Arial"/>
              </a:rPr>
              <a:t>lr.fit(X</a:t>
            </a:r>
            <a:r>
              <a:rPr dirty="0" sz="1300" i="1">
                <a:solidFill>
                  <a:srgbClr val="676767"/>
                </a:solidFill>
                <a:latin typeface="Arial"/>
                <a:cs typeface="Arial"/>
              </a:rPr>
              <a:t>_</a:t>
            </a:r>
            <a:r>
              <a:rPr dirty="0" sz="1300" i="1">
                <a:solidFill>
                  <a:srgbClr val="131313"/>
                </a:solidFill>
                <a:latin typeface="Arial"/>
                <a:cs typeface="Arial"/>
              </a:rPr>
              <a:t>train</a:t>
            </a:r>
            <a:r>
              <a:rPr dirty="0" sz="1300" i="1">
                <a:solidFill>
                  <a:srgbClr val="525252"/>
                </a:solidFill>
                <a:latin typeface="Arial"/>
                <a:cs typeface="Arial"/>
              </a:rPr>
              <a:t>,</a:t>
            </a:r>
            <a:r>
              <a:rPr dirty="0" sz="1300" spc="245" i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62626"/>
                </a:solidFill>
                <a:latin typeface="Arial"/>
                <a:cs typeface="Arial"/>
              </a:rPr>
              <a:t>y</a:t>
            </a:r>
            <a:r>
              <a:rPr dirty="0" sz="1300" spc="-10" i="1">
                <a:solidFill>
                  <a:srgbClr val="676767"/>
                </a:solidFill>
                <a:latin typeface="Arial"/>
                <a:cs typeface="Arial"/>
              </a:rPr>
              <a:t>_</a:t>
            </a:r>
            <a:r>
              <a:rPr dirty="0" sz="1300" spc="-10" i="1">
                <a:solidFill>
                  <a:srgbClr val="262626"/>
                </a:solidFill>
                <a:latin typeface="Arial"/>
                <a:cs typeface="Arial"/>
              </a:rPr>
              <a:t>train)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2038" y="846549"/>
            <a:ext cx="5772785" cy="8439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5880">
              <a:lnSpc>
                <a:spcPct val="100000"/>
              </a:lnSpc>
              <a:spcBef>
                <a:spcPts val="100"/>
              </a:spcBef>
            </a:pPr>
            <a:r>
              <a:rPr dirty="0" sz="1500" spc="-25" b="1" i="1">
                <a:solidFill>
                  <a:srgbClr val="131313"/>
                </a:solidFill>
                <a:latin typeface="Arial"/>
                <a:cs typeface="Arial"/>
              </a:rPr>
              <a:t>10</a:t>
            </a:r>
            <a:endParaRPr sz="1500">
              <a:latin typeface="Arial"/>
              <a:cs typeface="Arial"/>
            </a:endParaRPr>
          </a:p>
          <a:p>
            <a:pPr marL="85090">
              <a:lnSpc>
                <a:spcPct val="100000"/>
              </a:lnSpc>
              <a:spcBef>
                <a:spcPts val="1720"/>
              </a:spcBef>
            </a:pPr>
            <a:r>
              <a:rPr dirty="0" sz="1350">
                <a:solidFill>
                  <a:srgbClr val="232323"/>
                </a:solidFill>
                <a:latin typeface="Arial"/>
                <a:cs typeface="Arial"/>
              </a:rPr>
              <a:t>#</a:t>
            </a:r>
            <a:r>
              <a:rPr dirty="0" sz="1350" spc="3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131313"/>
                </a:solidFill>
                <a:latin typeface="Arial"/>
                <a:cs typeface="Arial"/>
              </a:rPr>
              <a:t>Random</a:t>
            </a:r>
            <a:r>
              <a:rPr dirty="0" sz="1300" spc="19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131313"/>
                </a:solidFill>
                <a:latin typeface="Arial"/>
                <a:cs typeface="Arial"/>
              </a:rPr>
              <a:t>Forest</a:t>
            </a:r>
            <a:endParaRPr sz="1300">
              <a:latin typeface="Arial"/>
              <a:cs typeface="Arial"/>
            </a:endParaRPr>
          </a:p>
          <a:p>
            <a:pPr marL="87630" marR="491490">
              <a:lnSpc>
                <a:spcPts val="1639"/>
              </a:lnSpc>
              <a:spcBef>
                <a:spcPts val="55"/>
              </a:spcBef>
            </a:pPr>
            <a:r>
              <a:rPr dirty="0" sz="1300" spc="20" i="1">
                <a:solidFill>
                  <a:srgbClr val="232323"/>
                </a:solidFill>
                <a:latin typeface="Arial"/>
                <a:cs typeface="Arial"/>
              </a:rPr>
              <a:t>rf</a:t>
            </a:r>
            <a:r>
              <a:rPr dirty="0" sz="1300" spc="-75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50">
                <a:solidFill>
                  <a:srgbClr val="232323"/>
                </a:solidFill>
                <a:latin typeface="Arial"/>
                <a:cs typeface="Arial"/>
              </a:rPr>
              <a:t>=</a:t>
            </a:r>
            <a:r>
              <a:rPr dirty="0" sz="1300" spc="65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20" i="1">
                <a:solidFill>
                  <a:srgbClr val="131313"/>
                </a:solidFill>
                <a:latin typeface="Arial"/>
                <a:cs typeface="Arial"/>
              </a:rPr>
              <a:t>RandomForestReg</a:t>
            </a:r>
            <a:r>
              <a:rPr dirty="0" sz="1300" spc="20" i="1">
                <a:solidFill>
                  <a:srgbClr val="363636"/>
                </a:solidFill>
                <a:latin typeface="Arial"/>
                <a:cs typeface="Arial"/>
              </a:rPr>
              <a:t>ressor(</a:t>
            </a:r>
            <a:r>
              <a:rPr dirty="0" sz="1300" spc="20" i="1">
                <a:solidFill>
                  <a:srgbClr val="131313"/>
                </a:solidFill>
                <a:latin typeface="Arial"/>
                <a:cs typeface="Arial"/>
              </a:rPr>
              <a:t>n</a:t>
            </a:r>
            <a:r>
              <a:rPr dirty="0" sz="1300" spc="20" i="1">
                <a:solidFill>
                  <a:srgbClr val="4D4D4D"/>
                </a:solidFill>
                <a:latin typeface="Arial"/>
                <a:cs typeface="Arial"/>
              </a:rPr>
              <a:t>_</a:t>
            </a:r>
            <a:r>
              <a:rPr dirty="0" sz="1300" spc="20" i="1">
                <a:solidFill>
                  <a:srgbClr val="232323"/>
                </a:solidFill>
                <a:latin typeface="Arial"/>
                <a:cs typeface="Arial"/>
              </a:rPr>
              <a:t>estimatorS=100</a:t>
            </a:r>
            <a:r>
              <a:rPr dirty="0" sz="1300" spc="20" i="1">
                <a:solidFill>
                  <a:srgbClr val="4D4D4D"/>
                </a:solidFill>
                <a:latin typeface="Arial"/>
                <a:cs typeface="Arial"/>
              </a:rPr>
              <a:t>,</a:t>
            </a:r>
            <a:r>
              <a:rPr dirty="0" sz="1300" spc="40" i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random</a:t>
            </a:r>
            <a:r>
              <a:rPr dirty="0" sz="1300" spc="-10" i="1">
                <a:solidFill>
                  <a:srgbClr val="4D4D4D"/>
                </a:solidFill>
                <a:latin typeface="Arial"/>
                <a:cs typeface="Arial"/>
              </a:rPr>
              <a:t>_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state=42)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rf.fit(X</a:t>
            </a:r>
            <a:r>
              <a:rPr dirty="0" sz="1300" i="1">
                <a:solidFill>
                  <a:srgbClr val="4D4D4D"/>
                </a:solidFill>
                <a:latin typeface="Arial"/>
                <a:cs typeface="Arial"/>
              </a:rPr>
              <a:t>_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train,</a:t>
            </a:r>
            <a:r>
              <a:rPr dirty="0" sz="1300" spc="160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y</a:t>
            </a:r>
            <a:r>
              <a:rPr dirty="0" sz="1300" spc="-10" i="1">
                <a:solidFill>
                  <a:srgbClr val="4D4D4D"/>
                </a:solidFill>
                <a:latin typeface="Arial"/>
                <a:cs typeface="Arial"/>
              </a:rPr>
              <a:t>_</a:t>
            </a:r>
            <a:r>
              <a:rPr dirty="0" sz="1300" spc="-10" i="1">
                <a:solidFill>
                  <a:srgbClr val="131313"/>
                </a:solidFill>
                <a:latin typeface="Arial"/>
                <a:cs typeface="Arial"/>
              </a:rPr>
              <a:t>train)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300">
              <a:latin typeface="Arial"/>
              <a:cs typeface="Arial"/>
            </a:endParaRPr>
          </a:p>
          <a:p>
            <a:pPr marL="85090">
              <a:lnSpc>
                <a:spcPct val="100000"/>
              </a:lnSpc>
            </a:pPr>
            <a:r>
              <a:rPr dirty="0" sz="1350">
                <a:solidFill>
                  <a:srgbClr val="232323"/>
                </a:solidFill>
                <a:latin typeface="Arial"/>
                <a:cs typeface="Arial"/>
              </a:rPr>
              <a:t>#</a:t>
            </a:r>
            <a:r>
              <a:rPr dirty="0" sz="1350" spc="3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131313"/>
                </a:solidFill>
                <a:latin typeface="Arial"/>
                <a:cs typeface="Arial"/>
              </a:rPr>
              <a:t>Gradient</a:t>
            </a:r>
            <a:r>
              <a:rPr dirty="0" sz="1300" spc="19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131313"/>
                </a:solidFill>
                <a:latin typeface="Arial"/>
                <a:cs typeface="Arial"/>
              </a:rPr>
              <a:t>Boosting</a:t>
            </a:r>
            <a:endParaRPr sz="1300">
              <a:latin typeface="Arial"/>
              <a:cs typeface="Arial"/>
            </a:endParaRPr>
          </a:p>
          <a:p>
            <a:pPr marL="82550" marR="210185">
              <a:lnSpc>
                <a:spcPts val="1639"/>
              </a:lnSpc>
              <a:spcBef>
                <a:spcPts val="55"/>
              </a:spcBef>
            </a:pPr>
            <a:r>
              <a:rPr dirty="0" sz="1300" spc="20" i="1">
                <a:solidFill>
                  <a:srgbClr val="232323"/>
                </a:solidFill>
                <a:latin typeface="Arial"/>
                <a:cs typeface="Arial"/>
              </a:rPr>
              <a:t>gb</a:t>
            </a:r>
            <a:r>
              <a:rPr dirty="0" sz="1300" spc="65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20">
                <a:solidFill>
                  <a:srgbClr val="232323"/>
                </a:solidFill>
                <a:latin typeface="Arial"/>
                <a:cs typeface="Arial"/>
              </a:rPr>
              <a:t>=</a:t>
            </a:r>
            <a:r>
              <a:rPr dirty="0" sz="1300" spc="165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20" i="1">
                <a:solidFill>
                  <a:srgbClr val="232323"/>
                </a:solidFill>
                <a:latin typeface="Arial"/>
                <a:cs typeface="Arial"/>
              </a:rPr>
              <a:t>GradientBoostingRegressor(n</a:t>
            </a:r>
            <a:r>
              <a:rPr dirty="0" sz="1300" spc="20" i="1">
                <a:solidFill>
                  <a:srgbClr val="4D4D4D"/>
                </a:solidFill>
                <a:latin typeface="Arial"/>
                <a:cs typeface="Arial"/>
              </a:rPr>
              <a:t>_</a:t>
            </a:r>
            <a:r>
              <a:rPr dirty="0" sz="1300" spc="20" i="1">
                <a:solidFill>
                  <a:srgbClr val="232323"/>
                </a:solidFill>
                <a:latin typeface="Arial"/>
                <a:cs typeface="Arial"/>
              </a:rPr>
              <a:t>estimators=100</a:t>
            </a:r>
            <a:r>
              <a:rPr dirty="0" sz="1300" spc="20" i="1">
                <a:solidFill>
                  <a:srgbClr val="4D4D4D"/>
                </a:solidFill>
                <a:latin typeface="Arial"/>
                <a:cs typeface="Arial"/>
              </a:rPr>
              <a:t>,</a:t>
            </a:r>
            <a:r>
              <a:rPr dirty="0" sz="1300" spc="125" i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random</a:t>
            </a:r>
            <a:r>
              <a:rPr dirty="0" sz="1300" spc="-10" i="1">
                <a:solidFill>
                  <a:srgbClr val="4D4D4D"/>
                </a:solidFill>
                <a:latin typeface="Arial"/>
                <a:cs typeface="Arial"/>
              </a:rPr>
              <a:t>_s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tate=42)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gb.fit(X</a:t>
            </a:r>
            <a:r>
              <a:rPr dirty="0" sz="1300" i="1">
                <a:solidFill>
                  <a:srgbClr val="4D4D4D"/>
                </a:solidFill>
                <a:latin typeface="Arial"/>
                <a:cs typeface="Arial"/>
              </a:rPr>
              <a:t>_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train</a:t>
            </a:r>
            <a:r>
              <a:rPr dirty="0" sz="1300" i="1">
                <a:solidFill>
                  <a:srgbClr val="4D4D4D"/>
                </a:solidFill>
                <a:latin typeface="Arial"/>
                <a:cs typeface="Arial"/>
              </a:rPr>
              <a:t>,</a:t>
            </a:r>
            <a:r>
              <a:rPr dirty="0" sz="1300" spc="280" i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y</a:t>
            </a:r>
            <a:r>
              <a:rPr dirty="0" sz="1300" spc="-10" i="1">
                <a:solidFill>
                  <a:srgbClr val="4D4D4D"/>
                </a:solidFill>
                <a:latin typeface="Arial"/>
                <a:cs typeface="Arial"/>
              </a:rPr>
              <a:t>_</a:t>
            </a:r>
            <a:r>
              <a:rPr dirty="0" sz="1300" spc="-10" i="1">
                <a:solidFill>
                  <a:srgbClr val="131313"/>
                </a:solidFill>
                <a:latin typeface="Arial"/>
                <a:cs typeface="Arial"/>
              </a:rPr>
              <a:t>train)</a:t>
            </a:r>
            <a:endParaRPr sz="1300">
              <a:latin typeface="Arial"/>
              <a:cs typeface="Arial"/>
            </a:endParaRPr>
          </a:p>
          <a:p>
            <a:pPr marL="63500">
              <a:lnSpc>
                <a:spcPts val="2325"/>
              </a:lnSpc>
              <a:spcBef>
                <a:spcPts val="1130"/>
              </a:spcBef>
            </a:pPr>
            <a:r>
              <a:rPr dirty="0" sz="2050" spc="509">
                <a:solidFill>
                  <a:srgbClr val="232323"/>
                </a:solidFill>
                <a:latin typeface="Courier New"/>
                <a:cs typeface="Courier New"/>
              </a:rPr>
              <a:t>#===================</a:t>
            </a:r>
            <a:endParaRPr sz="2050">
              <a:latin typeface="Courier New"/>
              <a:cs typeface="Courier New"/>
            </a:endParaRPr>
          </a:p>
          <a:p>
            <a:pPr marL="85090">
              <a:lnSpc>
                <a:spcPts val="1240"/>
              </a:lnSpc>
            </a:pPr>
            <a:r>
              <a:rPr dirty="0" sz="1350" spc="130">
                <a:solidFill>
                  <a:srgbClr val="232323"/>
                </a:solidFill>
                <a:latin typeface="Arial"/>
                <a:cs typeface="Arial"/>
              </a:rPr>
              <a:t>#5.</a:t>
            </a:r>
            <a:r>
              <a:rPr dirty="0" sz="1350" spc="-5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131313"/>
                </a:solidFill>
                <a:latin typeface="Arial"/>
                <a:cs typeface="Arial"/>
              </a:rPr>
              <a:t>PREDICTION</a:t>
            </a:r>
            <a:endParaRPr sz="1300">
              <a:latin typeface="Arial"/>
              <a:cs typeface="Arial"/>
            </a:endParaRPr>
          </a:p>
          <a:p>
            <a:pPr marL="63500">
              <a:lnSpc>
                <a:spcPts val="2055"/>
              </a:lnSpc>
            </a:pPr>
            <a:r>
              <a:rPr dirty="0" sz="2050" spc="509">
                <a:solidFill>
                  <a:srgbClr val="232323"/>
                </a:solidFill>
                <a:latin typeface="Courier New"/>
                <a:cs typeface="Courier New"/>
              </a:rPr>
              <a:t>#===================</a:t>
            </a:r>
            <a:endParaRPr sz="2050">
              <a:latin typeface="Courier New"/>
              <a:cs typeface="Courier New"/>
            </a:endParaRPr>
          </a:p>
          <a:p>
            <a:pPr marL="80645">
              <a:lnSpc>
                <a:spcPts val="1405"/>
              </a:lnSpc>
            </a:pP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y</a:t>
            </a:r>
            <a:r>
              <a:rPr dirty="0" sz="1300" i="1">
                <a:solidFill>
                  <a:srgbClr val="4D4D4D"/>
                </a:solidFill>
                <a:latin typeface="Arial"/>
                <a:cs typeface="Arial"/>
              </a:rPr>
              <a:t>_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pred</a:t>
            </a:r>
            <a:r>
              <a:rPr dirty="0" sz="1300" i="1">
                <a:solidFill>
                  <a:srgbClr val="4D4D4D"/>
                </a:solidFill>
                <a:latin typeface="Arial"/>
                <a:cs typeface="Arial"/>
              </a:rPr>
              <a:t>_</a:t>
            </a:r>
            <a:r>
              <a:rPr dirty="0" sz="1300" i="1">
                <a:solidFill>
                  <a:srgbClr val="131313"/>
                </a:solidFill>
                <a:latin typeface="Arial"/>
                <a:cs typeface="Arial"/>
              </a:rPr>
              <a:t>l</a:t>
            </a:r>
            <a:r>
              <a:rPr dirty="0" sz="1300" i="1">
                <a:solidFill>
                  <a:srgbClr val="363636"/>
                </a:solidFill>
                <a:latin typeface="Arial"/>
                <a:cs typeface="Arial"/>
              </a:rPr>
              <a:t>r</a:t>
            </a:r>
            <a:r>
              <a:rPr dirty="0" sz="1300" spc="15" i="1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2323"/>
                </a:solidFill>
                <a:latin typeface="Arial"/>
                <a:cs typeface="Arial"/>
              </a:rPr>
              <a:t>=</a:t>
            </a:r>
            <a:r>
              <a:rPr dirty="0" sz="1200" spc="405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131313"/>
                </a:solidFill>
                <a:latin typeface="Arial"/>
                <a:cs typeface="Arial"/>
              </a:rPr>
              <a:t>lr.predict(X</a:t>
            </a:r>
            <a:r>
              <a:rPr dirty="0" sz="1300" spc="-10" i="1">
                <a:solidFill>
                  <a:srgbClr val="4D4D4D"/>
                </a:solidFill>
                <a:latin typeface="Arial"/>
                <a:cs typeface="Arial"/>
              </a:rPr>
              <a:t>_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test)</a:t>
            </a:r>
            <a:endParaRPr sz="1300">
              <a:latin typeface="Arial"/>
              <a:cs typeface="Arial"/>
            </a:endParaRPr>
          </a:p>
          <a:p>
            <a:pPr marL="80645" marR="3305175">
              <a:lnSpc>
                <a:spcPts val="1680"/>
              </a:lnSpc>
              <a:spcBef>
                <a:spcPts val="30"/>
              </a:spcBef>
            </a:pP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y</a:t>
            </a:r>
            <a:r>
              <a:rPr dirty="0" sz="1300" i="1">
                <a:solidFill>
                  <a:srgbClr val="4D4D4D"/>
                </a:solidFill>
                <a:latin typeface="Arial"/>
                <a:cs typeface="Arial"/>
              </a:rPr>
              <a:t>_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pred</a:t>
            </a:r>
            <a:r>
              <a:rPr dirty="0" sz="1300" i="1">
                <a:solidFill>
                  <a:srgbClr val="4D4D4D"/>
                </a:solidFill>
                <a:latin typeface="Arial"/>
                <a:cs typeface="Arial"/>
              </a:rPr>
              <a:t>_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rf</a:t>
            </a:r>
            <a:r>
              <a:rPr dirty="0" sz="1300" spc="55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363636"/>
                </a:solidFill>
                <a:latin typeface="Arial"/>
                <a:cs typeface="Arial"/>
              </a:rPr>
              <a:t>=</a:t>
            </a:r>
            <a:r>
              <a:rPr dirty="0" sz="1300" spc="24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rf.predict{X</a:t>
            </a:r>
            <a:r>
              <a:rPr dirty="0" sz="1300" spc="-10" i="1">
                <a:solidFill>
                  <a:srgbClr val="4D4D4D"/>
                </a:solidFill>
                <a:latin typeface="Arial"/>
                <a:cs typeface="Arial"/>
              </a:rPr>
              <a:t>_</a:t>
            </a:r>
            <a:r>
              <a:rPr dirty="0" sz="1300" spc="-10" i="1">
                <a:solidFill>
                  <a:srgbClr val="131313"/>
                </a:solidFill>
                <a:latin typeface="Arial"/>
                <a:cs typeface="Arial"/>
              </a:rPr>
              <a:t>te</a:t>
            </a:r>
            <a:r>
              <a:rPr dirty="0" sz="1300" spc="-10" i="1">
                <a:solidFill>
                  <a:srgbClr val="363636"/>
                </a:solidFill>
                <a:latin typeface="Arial"/>
                <a:cs typeface="Arial"/>
              </a:rPr>
              <a:t>s</a:t>
            </a:r>
            <a:r>
              <a:rPr dirty="0" sz="1300" spc="-10" i="1">
                <a:solidFill>
                  <a:srgbClr val="131313"/>
                </a:solidFill>
                <a:latin typeface="Arial"/>
                <a:cs typeface="Arial"/>
              </a:rPr>
              <a:t>t)</a:t>
            </a:r>
            <a:r>
              <a:rPr dirty="0" sz="1300" spc="-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y</a:t>
            </a:r>
            <a:r>
              <a:rPr dirty="0" sz="1300" i="1">
                <a:solidFill>
                  <a:srgbClr val="4D4D4D"/>
                </a:solidFill>
                <a:latin typeface="Arial"/>
                <a:cs typeface="Arial"/>
              </a:rPr>
              <a:t>_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pred</a:t>
            </a:r>
            <a:r>
              <a:rPr dirty="0" sz="1300" i="1">
                <a:solidFill>
                  <a:srgbClr val="4D4D4D"/>
                </a:solidFill>
                <a:latin typeface="Arial"/>
                <a:cs typeface="Arial"/>
              </a:rPr>
              <a:t>_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gb</a:t>
            </a:r>
            <a:r>
              <a:rPr dirty="0" sz="1300" spc="110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232323"/>
                </a:solidFill>
                <a:latin typeface="Arial"/>
                <a:cs typeface="Arial"/>
              </a:rPr>
              <a:t>=</a:t>
            </a:r>
            <a:r>
              <a:rPr dirty="0" sz="1300" spc="21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gb.predict(X</a:t>
            </a:r>
            <a:r>
              <a:rPr dirty="0" sz="1300" spc="-10" i="1">
                <a:solidFill>
                  <a:srgbClr val="4D4D4D"/>
                </a:solidFill>
                <a:latin typeface="Arial"/>
                <a:cs typeface="Arial"/>
              </a:rPr>
              <a:t>_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test)</a:t>
            </a:r>
            <a:endParaRPr sz="1300">
              <a:latin typeface="Arial"/>
              <a:cs typeface="Arial"/>
            </a:endParaRPr>
          </a:p>
          <a:p>
            <a:pPr marL="63500">
              <a:lnSpc>
                <a:spcPts val="2280"/>
              </a:lnSpc>
              <a:spcBef>
                <a:spcPts val="1085"/>
              </a:spcBef>
            </a:pPr>
            <a:r>
              <a:rPr dirty="0" sz="2050" spc="509">
                <a:solidFill>
                  <a:srgbClr val="232323"/>
                </a:solidFill>
                <a:latin typeface="Courier New"/>
                <a:cs typeface="Courier New"/>
              </a:rPr>
              <a:t>#===================</a:t>
            </a:r>
            <a:endParaRPr sz="2050">
              <a:latin typeface="Courier New"/>
              <a:cs typeface="Courier New"/>
            </a:endParaRPr>
          </a:p>
          <a:p>
            <a:pPr marL="85090">
              <a:lnSpc>
                <a:spcPts val="1215"/>
              </a:lnSpc>
            </a:pPr>
            <a:r>
              <a:rPr dirty="0" sz="1350" spc="80">
                <a:solidFill>
                  <a:srgbClr val="232323"/>
                </a:solidFill>
                <a:latin typeface="Arial"/>
                <a:cs typeface="Arial"/>
              </a:rPr>
              <a:t>#</a:t>
            </a:r>
            <a:r>
              <a:rPr dirty="0" sz="1300" spc="80" i="1">
                <a:solidFill>
                  <a:srgbClr val="232323"/>
                </a:solidFill>
                <a:latin typeface="Arial"/>
                <a:cs typeface="Arial"/>
              </a:rPr>
              <a:t>6.</a:t>
            </a:r>
            <a:r>
              <a:rPr dirty="0" sz="1300" spc="80" i="1">
                <a:solidFill>
                  <a:srgbClr val="131313"/>
                </a:solidFill>
                <a:latin typeface="Arial"/>
                <a:cs typeface="Arial"/>
              </a:rPr>
              <a:t>EVALUATION</a:t>
            </a:r>
            <a:r>
              <a:rPr dirty="0" sz="1300" spc="9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METRICS</a:t>
            </a:r>
            <a:endParaRPr sz="1300">
              <a:latin typeface="Arial"/>
              <a:cs typeface="Arial"/>
            </a:endParaRPr>
          </a:p>
          <a:p>
            <a:pPr marL="63500">
              <a:lnSpc>
                <a:spcPts val="2105"/>
              </a:lnSpc>
            </a:pPr>
            <a:r>
              <a:rPr dirty="0" sz="2050" spc="509">
                <a:solidFill>
                  <a:srgbClr val="232323"/>
                </a:solidFill>
                <a:latin typeface="Courier New"/>
                <a:cs typeface="Courier New"/>
              </a:rPr>
              <a:t>#===================</a:t>
            </a:r>
            <a:endParaRPr sz="2050">
              <a:latin typeface="Courier New"/>
              <a:cs typeface="Courier New"/>
            </a:endParaRPr>
          </a:p>
          <a:p>
            <a:pPr marL="84455">
              <a:lnSpc>
                <a:spcPts val="1425"/>
              </a:lnSpc>
            </a:pPr>
            <a:r>
              <a:rPr dirty="0" sz="1300" spc="20" i="1">
                <a:solidFill>
                  <a:srgbClr val="232323"/>
                </a:solidFill>
                <a:latin typeface="Arial"/>
                <a:cs typeface="Arial"/>
              </a:rPr>
              <a:t>def</a:t>
            </a:r>
            <a:r>
              <a:rPr dirty="0" sz="1300" spc="100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20" i="1">
                <a:solidFill>
                  <a:srgbClr val="232323"/>
                </a:solidFill>
                <a:latin typeface="Arial"/>
                <a:cs typeface="Arial"/>
              </a:rPr>
              <a:t>evaluate</a:t>
            </a:r>
            <a:r>
              <a:rPr dirty="0" sz="1300" spc="20" i="1">
                <a:solidFill>
                  <a:srgbClr val="676767"/>
                </a:solidFill>
                <a:latin typeface="Arial"/>
                <a:cs typeface="Arial"/>
              </a:rPr>
              <a:t>_</a:t>
            </a:r>
            <a:r>
              <a:rPr dirty="0" sz="1300" spc="20" i="1">
                <a:solidFill>
                  <a:srgbClr val="232323"/>
                </a:solidFill>
                <a:latin typeface="Arial"/>
                <a:cs typeface="Arial"/>
              </a:rPr>
              <a:t>model(name</a:t>
            </a:r>
            <a:r>
              <a:rPr dirty="0" sz="1300" spc="20" i="1">
                <a:solidFill>
                  <a:srgbClr val="4D4D4D"/>
                </a:solidFill>
                <a:latin typeface="Arial"/>
                <a:cs typeface="Arial"/>
              </a:rPr>
              <a:t>,</a:t>
            </a:r>
            <a:r>
              <a:rPr dirty="0" sz="1300" spc="30" i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300" spc="20" i="1">
                <a:solidFill>
                  <a:srgbClr val="232323"/>
                </a:solidFill>
                <a:latin typeface="Arial"/>
                <a:cs typeface="Arial"/>
              </a:rPr>
              <a:t>y</a:t>
            </a:r>
            <a:r>
              <a:rPr dirty="0" sz="1300" spc="20" i="1">
                <a:solidFill>
                  <a:srgbClr val="676767"/>
                </a:solidFill>
                <a:latin typeface="Arial"/>
                <a:cs typeface="Arial"/>
              </a:rPr>
              <a:t>_</a:t>
            </a:r>
            <a:r>
              <a:rPr dirty="0" sz="1300" spc="20" i="1">
                <a:solidFill>
                  <a:srgbClr val="131313"/>
                </a:solidFill>
                <a:latin typeface="Arial"/>
                <a:cs typeface="Arial"/>
              </a:rPr>
              <a:t>test</a:t>
            </a:r>
            <a:r>
              <a:rPr dirty="0" sz="1300" spc="20" i="1">
                <a:solidFill>
                  <a:srgbClr val="4D4D4D"/>
                </a:solidFill>
                <a:latin typeface="Arial"/>
                <a:cs typeface="Arial"/>
              </a:rPr>
              <a:t>,</a:t>
            </a:r>
            <a:r>
              <a:rPr dirty="0" sz="1300" spc="90" i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y</a:t>
            </a:r>
            <a:r>
              <a:rPr dirty="0" sz="1300" spc="-10" i="1">
                <a:solidFill>
                  <a:srgbClr val="676767"/>
                </a:solidFill>
                <a:latin typeface="Arial"/>
                <a:cs typeface="Arial"/>
              </a:rPr>
              <a:t>_</a:t>
            </a:r>
            <a:r>
              <a:rPr dirty="0" sz="1300" spc="-10" i="1">
                <a:solidFill>
                  <a:srgbClr val="131313"/>
                </a:solidFill>
                <a:latin typeface="Arial"/>
                <a:cs typeface="Arial"/>
              </a:rPr>
              <a:t>pred)</a:t>
            </a:r>
            <a:r>
              <a:rPr dirty="0" sz="1300" spc="-10" i="1">
                <a:solidFill>
                  <a:srgbClr val="363636"/>
                </a:solidFill>
                <a:latin typeface="Arial"/>
                <a:cs typeface="Arial"/>
              </a:rPr>
              <a:t>:</a:t>
            </a:r>
            <a:endParaRPr sz="1300">
              <a:latin typeface="Arial"/>
              <a:cs typeface="Arial"/>
            </a:endParaRPr>
          </a:p>
          <a:p>
            <a:pPr marL="276860" marR="2149475" indent="-5715">
              <a:lnSpc>
                <a:spcPct val="101099"/>
              </a:lnSpc>
              <a:spcBef>
                <a:spcPts val="5"/>
              </a:spcBef>
            </a:pPr>
            <a:r>
              <a:rPr dirty="0" sz="1350" spc="20">
                <a:solidFill>
                  <a:srgbClr val="232323"/>
                </a:solidFill>
                <a:latin typeface="Arial"/>
                <a:cs typeface="Arial"/>
              </a:rPr>
              <a:t>mse</a:t>
            </a:r>
            <a:r>
              <a:rPr dirty="0" sz="1350" spc="-9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20">
                <a:solidFill>
                  <a:srgbClr val="232323"/>
                </a:solidFill>
                <a:latin typeface="Arial"/>
                <a:cs typeface="Arial"/>
              </a:rPr>
              <a:t>=</a:t>
            </a:r>
            <a:r>
              <a:rPr dirty="0" sz="1300" spc="155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20" i="1">
                <a:solidFill>
                  <a:srgbClr val="232323"/>
                </a:solidFill>
                <a:latin typeface="Arial"/>
                <a:cs typeface="Arial"/>
              </a:rPr>
              <a:t>mean</a:t>
            </a:r>
            <a:r>
              <a:rPr dirty="0" sz="1300" spc="20" i="1">
                <a:solidFill>
                  <a:srgbClr val="676767"/>
                </a:solidFill>
                <a:latin typeface="Arial"/>
                <a:cs typeface="Arial"/>
              </a:rPr>
              <a:t>_</a:t>
            </a:r>
            <a:r>
              <a:rPr dirty="0" sz="1300" spc="20" i="1">
                <a:solidFill>
                  <a:srgbClr val="232323"/>
                </a:solidFill>
                <a:latin typeface="Arial"/>
                <a:cs typeface="Arial"/>
              </a:rPr>
              <a:t>squared</a:t>
            </a:r>
            <a:r>
              <a:rPr dirty="0" sz="1300" spc="20" i="1">
                <a:solidFill>
                  <a:srgbClr val="676767"/>
                </a:solidFill>
                <a:latin typeface="Arial"/>
                <a:cs typeface="Arial"/>
              </a:rPr>
              <a:t>_</a:t>
            </a:r>
            <a:r>
              <a:rPr dirty="0" sz="1300" spc="20" i="1">
                <a:solidFill>
                  <a:srgbClr val="232323"/>
                </a:solidFill>
                <a:latin typeface="Arial"/>
                <a:cs typeface="Arial"/>
              </a:rPr>
              <a:t>error(y</a:t>
            </a:r>
            <a:r>
              <a:rPr dirty="0" sz="1300" spc="20" i="1">
                <a:solidFill>
                  <a:srgbClr val="676767"/>
                </a:solidFill>
                <a:latin typeface="Arial"/>
                <a:cs typeface="Arial"/>
              </a:rPr>
              <a:t>_</a:t>
            </a:r>
            <a:r>
              <a:rPr dirty="0" sz="1300" spc="20" i="1">
                <a:solidFill>
                  <a:srgbClr val="232323"/>
                </a:solidFill>
                <a:latin typeface="Arial"/>
                <a:cs typeface="Arial"/>
              </a:rPr>
              <a:t>test,</a:t>
            </a:r>
            <a:r>
              <a:rPr dirty="0" sz="1300" spc="25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y</a:t>
            </a:r>
            <a:r>
              <a:rPr dirty="0" sz="1300" spc="-10" i="1">
                <a:solidFill>
                  <a:srgbClr val="676767"/>
                </a:solidFill>
                <a:latin typeface="Arial"/>
                <a:cs typeface="Arial"/>
              </a:rPr>
              <a:t>_</a:t>
            </a:r>
            <a:r>
              <a:rPr dirty="0" sz="1300" spc="-10" i="1">
                <a:solidFill>
                  <a:srgbClr val="131313"/>
                </a:solidFill>
                <a:latin typeface="Arial"/>
                <a:cs typeface="Arial"/>
              </a:rPr>
              <a:t>pred)</a:t>
            </a:r>
            <a:r>
              <a:rPr dirty="0" sz="1300" spc="-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r2</a:t>
            </a:r>
            <a:r>
              <a:rPr dirty="0" sz="1300" spc="30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32323"/>
                </a:solidFill>
                <a:latin typeface="Arial"/>
                <a:cs typeface="Arial"/>
              </a:rPr>
              <a:t>=</a:t>
            </a:r>
            <a:r>
              <a:rPr dirty="0" sz="1200" spc="39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r2</a:t>
            </a:r>
            <a:r>
              <a:rPr dirty="0" sz="1300" i="1">
                <a:solidFill>
                  <a:srgbClr val="676767"/>
                </a:solidFill>
                <a:latin typeface="Arial"/>
                <a:cs typeface="Arial"/>
              </a:rPr>
              <a:t>_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score(y</a:t>
            </a:r>
            <a:r>
              <a:rPr dirty="0" sz="1300" i="1">
                <a:solidFill>
                  <a:srgbClr val="676767"/>
                </a:solidFill>
                <a:latin typeface="Arial"/>
                <a:cs typeface="Arial"/>
              </a:rPr>
              <a:t>_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test</a:t>
            </a:r>
            <a:r>
              <a:rPr dirty="0" sz="1300" i="1">
                <a:solidFill>
                  <a:srgbClr val="4D4D4D"/>
                </a:solidFill>
                <a:latin typeface="Arial"/>
                <a:cs typeface="Arial"/>
              </a:rPr>
              <a:t>,</a:t>
            </a:r>
            <a:r>
              <a:rPr dirty="0" sz="1300" spc="125" i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y</a:t>
            </a:r>
            <a:r>
              <a:rPr dirty="0" sz="1300" spc="-10" i="1">
                <a:solidFill>
                  <a:srgbClr val="676767"/>
                </a:solidFill>
                <a:latin typeface="Arial"/>
                <a:cs typeface="Arial"/>
              </a:rPr>
              <a:t>_</a:t>
            </a:r>
            <a:r>
              <a:rPr dirty="0" sz="1300" spc="-10" i="1">
                <a:solidFill>
                  <a:srgbClr val="131313"/>
                </a:solidFill>
                <a:latin typeface="Arial"/>
                <a:cs typeface="Arial"/>
              </a:rPr>
              <a:t>pred)</a:t>
            </a:r>
            <a:endParaRPr sz="1300">
              <a:latin typeface="Arial"/>
              <a:cs typeface="Arial"/>
            </a:endParaRPr>
          </a:p>
          <a:p>
            <a:pPr marL="277495">
              <a:lnSpc>
                <a:spcPct val="100000"/>
              </a:lnSpc>
              <a:spcBef>
                <a:spcPts val="125"/>
              </a:spcBef>
            </a:pPr>
            <a:r>
              <a:rPr dirty="0" sz="1300" spc="10" i="1">
                <a:solidFill>
                  <a:srgbClr val="232323"/>
                </a:solidFill>
                <a:latin typeface="Arial"/>
                <a:cs typeface="Arial"/>
              </a:rPr>
              <a:t>mae</a:t>
            </a:r>
            <a:r>
              <a:rPr dirty="0" sz="1300" spc="15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200" spc="10">
                <a:solidFill>
                  <a:srgbClr val="363636"/>
                </a:solidFill>
                <a:latin typeface="Arial"/>
                <a:cs typeface="Arial"/>
              </a:rPr>
              <a:t>=</a:t>
            </a:r>
            <a:r>
              <a:rPr dirty="0" sz="1200" spc="409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dirty="0" sz="1300" spc="10" i="1">
                <a:solidFill>
                  <a:srgbClr val="131313"/>
                </a:solidFill>
                <a:latin typeface="Arial"/>
                <a:cs typeface="Arial"/>
              </a:rPr>
              <a:t>mean</a:t>
            </a:r>
            <a:r>
              <a:rPr dirty="0" sz="1300" spc="10" i="1">
                <a:solidFill>
                  <a:srgbClr val="676767"/>
                </a:solidFill>
                <a:latin typeface="Arial"/>
                <a:cs typeface="Arial"/>
              </a:rPr>
              <a:t>_</a:t>
            </a:r>
            <a:r>
              <a:rPr dirty="0" sz="1300" spc="10" i="1">
                <a:solidFill>
                  <a:srgbClr val="232323"/>
                </a:solidFill>
                <a:latin typeface="Arial"/>
                <a:cs typeface="Arial"/>
              </a:rPr>
              <a:t>absolute</a:t>
            </a:r>
            <a:r>
              <a:rPr dirty="0" sz="1300" spc="10" i="1">
                <a:solidFill>
                  <a:srgbClr val="676767"/>
                </a:solidFill>
                <a:latin typeface="Arial"/>
                <a:cs typeface="Arial"/>
              </a:rPr>
              <a:t>_</a:t>
            </a:r>
            <a:r>
              <a:rPr dirty="0" sz="1300" spc="10" i="1">
                <a:solidFill>
                  <a:srgbClr val="232323"/>
                </a:solidFill>
                <a:latin typeface="Arial"/>
                <a:cs typeface="Arial"/>
              </a:rPr>
              <a:t>error{y</a:t>
            </a:r>
            <a:r>
              <a:rPr dirty="0" sz="1300" spc="10" i="1">
                <a:solidFill>
                  <a:srgbClr val="676767"/>
                </a:solidFill>
                <a:latin typeface="Arial"/>
                <a:cs typeface="Arial"/>
              </a:rPr>
              <a:t>_</a:t>
            </a:r>
            <a:r>
              <a:rPr dirty="0" sz="1300" spc="10" i="1">
                <a:solidFill>
                  <a:srgbClr val="232323"/>
                </a:solidFill>
                <a:latin typeface="Arial"/>
                <a:cs typeface="Arial"/>
              </a:rPr>
              <a:t>test</a:t>
            </a:r>
            <a:r>
              <a:rPr dirty="0" sz="1300" spc="10" i="1">
                <a:solidFill>
                  <a:srgbClr val="4D4D4D"/>
                </a:solidFill>
                <a:latin typeface="Arial"/>
                <a:cs typeface="Arial"/>
              </a:rPr>
              <a:t>,</a:t>
            </a:r>
            <a:r>
              <a:rPr dirty="0" sz="1300" spc="155" i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y</a:t>
            </a:r>
            <a:r>
              <a:rPr dirty="0" sz="1300" spc="-10" i="1">
                <a:solidFill>
                  <a:srgbClr val="676767"/>
                </a:solidFill>
                <a:latin typeface="Arial"/>
                <a:cs typeface="Arial"/>
              </a:rPr>
              <a:t>_</a:t>
            </a:r>
            <a:r>
              <a:rPr dirty="0" sz="1300" spc="-10" i="1">
                <a:solidFill>
                  <a:srgbClr val="131313"/>
                </a:solidFill>
                <a:latin typeface="Arial"/>
                <a:cs typeface="Arial"/>
              </a:rPr>
              <a:t>p</a:t>
            </a:r>
            <a:r>
              <a:rPr dirty="0" sz="1300" spc="-10" i="1">
                <a:solidFill>
                  <a:srgbClr val="363636"/>
                </a:solidFill>
                <a:latin typeface="Arial"/>
                <a:cs typeface="Arial"/>
              </a:rPr>
              <a:t>red)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300">
              <a:latin typeface="Arial"/>
              <a:cs typeface="Arial"/>
            </a:endParaRPr>
          </a:p>
          <a:p>
            <a:pPr marL="271780">
              <a:lnSpc>
                <a:spcPct val="100000"/>
              </a:lnSpc>
            </a:pP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print(f"{name}'')</a:t>
            </a:r>
            <a:endParaRPr sz="1300">
              <a:latin typeface="Arial"/>
              <a:cs typeface="Arial"/>
            </a:endParaRPr>
          </a:p>
          <a:p>
            <a:pPr marL="271780">
              <a:lnSpc>
                <a:spcPct val="100000"/>
              </a:lnSpc>
              <a:spcBef>
                <a:spcPts val="125"/>
              </a:spcBef>
            </a:pP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print(f"MSE:</a:t>
            </a:r>
            <a:r>
              <a:rPr dirty="0" sz="1300" spc="300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363636"/>
                </a:solidFill>
                <a:latin typeface="Arial"/>
                <a:cs typeface="Arial"/>
              </a:rPr>
              <a:t>{mse:.3f}")</a:t>
            </a:r>
            <a:endParaRPr sz="1300">
              <a:latin typeface="Arial"/>
              <a:cs typeface="Arial"/>
            </a:endParaRPr>
          </a:p>
          <a:p>
            <a:pPr marL="271780">
              <a:lnSpc>
                <a:spcPct val="100000"/>
              </a:lnSpc>
              <a:spcBef>
                <a:spcPts val="75"/>
              </a:spcBef>
            </a:pPr>
            <a:r>
              <a:rPr dirty="0" sz="1300" spc="60" i="1">
                <a:solidFill>
                  <a:srgbClr val="232323"/>
                </a:solidFill>
                <a:latin typeface="Arial"/>
                <a:cs typeface="Arial"/>
              </a:rPr>
              <a:t>print(f"R</a:t>
            </a:r>
            <a:r>
              <a:rPr dirty="0" baseline="27777" sz="1200" spc="89" i="1">
                <a:solidFill>
                  <a:srgbClr val="232323"/>
                </a:solidFill>
                <a:latin typeface="Arial"/>
                <a:cs typeface="Arial"/>
              </a:rPr>
              <a:t>2</a:t>
            </a:r>
            <a:r>
              <a:rPr dirty="0" sz="800" spc="60" i="1">
                <a:solidFill>
                  <a:srgbClr val="232323"/>
                </a:solidFill>
                <a:latin typeface="Arial"/>
                <a:cs typeface="Arial"/>
              </a:rPr>
              <a:t>:</a:t>
            </a:r>
            <a:r>
              <a:rPr dirty="0" sz="800" spc="235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{r2:.3f}'')</a:t>
            </a:r>
            <a:endParaRPr sz="1300">
              <a:latin typeface="Arial"/>
              <a:cs typeface="Arial"/>
            </a:endParaRPr>
          </a:p>
          <a:p>
            <a:pPr marL="271780" marR="3700779">
              <a:lnSpc>
                <a:spcPct val="104900"/>
              </a:lnSpc>
            </a:pP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print(f"MAE</a:t>
            </a:r>
            <a:r>
              <a:rPr dirty="0" sz="1300" i="1">
                <a:solidFill>
                  <a:srgbClr val="4D4D4D"/>
                </a:solidFill>
                <a:latin typeface="Arial"/>
                <a:cs typeface="Arial"/>
              </a:rPr>
              <a:t>:</a:t>
            </a:r>
            <a:r>
              <a:rPr dirty="0" sz="1300" spc="305" i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363636"/>
                </a:solidFill>
                <a:latin typeface="Arial"/>
                <a:cs typeface="Arial"/>
              </a:rPr>
              <a:t>{mae:.3f}'')</a:t>
            </a:r>
            <a:r>
              <a:rPr dirty="0" sz="1300" spc="-10" i="1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32323"/>
                </a:solidFill>
                <a:latin typeface="Arial"/>
                <a:cs typeface="Arial"/>
              </a:rPr>
              <a:t>print("-</a:t>
            </a:r>
            <a:r>
              <a:rPr dirty="0" sz="1300" spc="-10" i="1">
                <a:solidFill>
                  <a:srgbClr val="4D4D4D"/>
                </a:solidFill>
                <a:latin typeface="Arial"/>
                <a:cs typeface="Arial"/>
              </a:rPr>
              <a:t>"*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30)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300">
              <a:latin typeface="Arial"/>
              <a:cs typeface="Arial"/>
            </a:endParaRPr>
          </a:p>
          <a:p>
            <a:pPr marL="81915">
              <a:lnSpc>
                <a:spcPct val="100000"/>
              </a:lnSpc>
              <a:spcBef>
                <a:spcPts val="5"/>
              </a:spcBef>
            </a:pPr>
            <a:r>
              <a:rPr dirty="0" sz="1300" i="1">
                <a:solidFill>
                  <a:srgbClr val="131313"/>
                </a:solidFill>
                <a:latin typeface="Arial"/>
                <a:cs typeface="Arial"/>
              </a:rPr>
              <a:t>print(</a:t>
            </a:r>
            <a:r>
              <a:rPr dirty="0" sz="1300" i="1">
                <a:solidFill>
                  <a:srgbClr val="4D4D4D"/>
                </a:solidFill>
                <a:latin typeface="Arial"/>
                <a:cs typeface="Arial"/>
              </a:rPr>
              <a:t>"</a:t>
            </a:r>
            <a:r>
              <a:rPr dirty="0" sz="1300" i="1">
                <a:solidFill>
                  <a:srgbClr val="131313"/>
                </a:solidFill>
                <a:latin typeface="Arial"/>
                <a:cs typeface="Arial"/>
              </a:rPr>
              <a:t>\nModel</a:t>
            </a:r>
            <a:r>
              <a:rPr dirty="0" sz="1300" spc="3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131313"/>
                </a:solidFill>
                <a:latin typeface="Arial"/>
                <a:cs typeface="Arial"/>
              </a:rPr>
              <a:t>Performance:\n")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300">
              <a:latin typeface="Arial"/>
              <a:cs typeface="Arial"/>
            </a:endParaRPr>
          </a:p>
          <a:p>
            <a:pPr marL="84455" marR="1366520">
              <a:lnSpc>
                <a:spcPct val="104900"/>
              </a:lnSpc>
            </a:pPr>
            <a:r>
              <a:rPr dirty="0" sz="1300" spc="10" i="1">
                <a:solidFill>
                  <a:srgbClr val="232323"/>
                </a:solidFill>
                <a:latin typeface="Arial"/>
                <a:cs typeface="Arial"/>
              </a:rPr>
              <a:t>evaluate</a:t>
            </a:r>
            <a:r>
              <a:rPr dirty="0" sz="1300" spc="10" i="1">
                <a:solidFill>
                  <a:srgbClr val="676767"/>
                </a:solidFill>
                <a:latin typeface="Arial"/>
                <a:cs typeface="Arial"/>
              </a:rPr>
              <a:t>_</a:t>
            </a:r>
            <a:r>
              <a:rPr dirty="0" sz="1300" spc="10" i="1">
                <a:solidFill>
                  <a:srgbClr val="232323"/>
                </a:solidFill>
                <a:latin typeface="Arial"/>
                <a:cs typeface="Arial"/>
              </a:rPr>
              <a:t>model("Linear</a:t>
            </a:r>
            <a:r>
              <a:rPr dirty="0" sz="1300" spc="180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10" i="1">
                <a:solidFill>
                  <a:srgbClr val="131313"/>
                </a:solidFill>
                <a:latin typeface="Arial"/>
                <a:cs typeface="Arial"/>
              </a:rPr>
              <a:t>Regression"</a:t>
            </a:r>
            <a:r>
              <a:rPr dirty="0" sz="1300" spc="10" i="1">
                <a:solidFill>
                  <a:srgbClr val="4D4D4D"/>
                </a:solidFill>
                <a:latin typeface="Arial"/>
                <a:cs typeface="Arial"/>
              </a:rPr>
              <a:t>,</a:t>
            </a:r>
            <a:r>
              <a:rPr dirty="0" sz="1300" spc="235" i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300" spc="10" i="1">
                <a:solidFill>
                  <a:srgbClr val="232323"/>
                </a:solidFill>
                <a:latin typeface="Arial"/>
                <a:cs typeface="Arial"/>
              </a:rPr>
              <a:t>y</a:t>
            </a:r>
            <a:r>
              <a:rPr dirty="0" sz="1300" spc="10" i="1">
                <a:solidFill>
                  <a:srgbClr val="676767"/>
                </a:solidFill>
                <a:latin typeface="Arial"/>
                <a:cs typeface="Arial"/>
              </a:rPr>
              <a:t>_</a:t>
            </a:r>
            <a:r>
              <a:rPr dirty="0" sz="1300" spc="10" i="1">
                <a:solidFill>
                  <a:srgbClr val="232323"/>
                </a:solidFill>
                <a:latin typeface="Arial"/>
                <a:cs typeface="Arial"/>
              </a:rPr>
              <a:t>test</a:t>
            </a:r>
            <a:r>
              <a:rPr dirty="0" sz="1300" spc="10" i="1">
                <a:solidFill>
                  <a:srgbClr val="4D4D4D"/>
                </a:solidFill>
                <a:latin typeface="Arial"/>
                <a:cs typeface="Arial"/>
              </a:rPr>
              <a:t>,</a:t>
            </a:r>
            <a:r>
              <a:rPr dirty="0" sz="1300" spc="155" i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y</a:t>
            </a:r>
            <a:r>
              <a:rPr dirty="0" sz="1300" spc="-10" i="1">
                <a:solidFill>
                  <a:srgbClr val="676767"/>
                </a:solidFill>
                <a:latin typeface="Arial"/>
                <a:cs typeface="Arial"/>
              </a:rPr>
              <a:t>_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pred</a:t>
            </a:r>
            <a:r>
              <a:rPr dirty="0" sz="1300" spc="-10" i="1">
                <a:solidFill>
                  <a:srgbClr val="676767"/>
                </a:solidFill>
                <a:latin typeface="Arial"/>
                <a:cs typeface="Arial"/>
              </a:rPr>
              <a:t>_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lr)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10" i="1">
                <a:solidFill>
                  <a:srgbClr val="232323"/>
                </a:solidFill>
                <a:latin typeface="Arial"/>
                <a:cs typeface="Arial"/>
              </a:rPr>
              <a:t>evaluate</a:t>
            </a:r>
            <a:r>
              <a:rPr dirty="0" sz="1300" spc="10" i="1">
                <a:solidFill>
                  <a:srgbClr val="676767"/>
                </a:solidFill>
                <a:latin typeface="Arial"/>
                <a:cs typeface="Arial"/>
              </a:rPr>
              <a:t>_</a:t>
            </a:r>
            <a:r>
              <a:rPr dirty="0" sz="1300" spc="10" i="1">
                <a:solidFill>
                  <a:srgbClr val="232323"/>
                </a:solidFill>
                <a:latin typeface="Arial"/>
                <a:cs typeface="Arial"/>
              </a:rPr>
              <a:t>model("Random</a:t>
            </a:r>
            <a:r>
              <a:rPr dirty="0" sz="1300" spc="210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10" i="1">
                <a:solidFill>
                  <a:srgbClr val="131313"/>
                </a:solidFill>
                <a:latin typeface="Arial"/>
                <a:cs typeface="Arial"/>
              </a:rPr>
              <a:t>Forest",</a:t>
            </a:r>
            <a:r>
              <a:rPr dirty="0" sz="1300" spc="13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300" spc="10" i="1">
                <a:solidFill>
                  <a:srgbClr val="232323"/>
                </a:solidFill>
                <a:latin typeface="Arial"/>
                <a:cs typeface="Arial"/>
              </a:rPr>
              <a:t>y</a:t>
            </a:r>
            <a:r>
              <a:rPr dirty="0" sz="1300" spc="10" i="1">
                <a:solidFill>
                  <a:srgbClr val="676767"/>
                </a:solidFill>
                <a:latin typeface="Arial"/>
                <a:cs typeface="Arial"/>
              </a:rPr>
              <a:t>_</a:t>
            </a:r>
            <a:r>
              <a:rPr dirty="0" sz="1300" spc="10" i="1">
                <a:solidFill>
                  <a:srgbClr val="232323"/>
                </a:solidFill>
                <a:latin typeface="Arial"/>
                <a:cs typeface="Arial"/>
              </a:rPr>
              <a:t>test</a:t>
            </a:r>
            <a:r>
              <a:rPr dirty="0" sz="1300" spc="10" i="1">
                <a:solidFill>
                  <a:srgbClr val="4D4D4D"/>
                </a:solidFill>
                <a:latin typeface="Arial"/>
                <a:cs typeface="Arial"/>
              </a:rPr>
              <a:t>,</a:t>
            </a:r>
            <a:r>
              <a:rPr dirty="0" sz="1300" spc="195" i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y</a:t>
            </a:r>
            <a:r>
              <a:rPr dirty="0" sz="1300" spc="-10" i="1">
                <a:solidFill>
                  <a:srgbClr val="676767"/>
                </a:solidFill>
                <a:latin typeface="Arial"/>
                <a:cs typeface="Arial"/>
              </a:rPr>
              <a:t>_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pred</a:t>
            </a:r>
            <a:r>
              <a:rPr dirty="0" sz="1300" spc="-10" i="1">
                <a:solidFill>
                  <a:srgbClr val="676767"/>
                </a:solidFill>
                <a:latin typeface="Arial"/>
                <a:cs typeface="Arial"/>
              </a:rPr>
              <a:t>_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rf) </a:t>
            </a:r>
            <a:r>
              <a:rPr dirty="0" sz="1300" spc="20" i="1">
                <a:solidFill>
                  <a:srgbClr val="232323"/>
                </a:solidFill>
                <a:latin typeface="Arial"/>
                <a:cs typeface="Arial"/>
              </a:rPr>
              <a:t>evaluate</a:t>
            </a:r>
            <a:r>
              <a:rPr dirty="0" sz="1300" spc="20" i="1">
                <a:solidFill>
                  <a:srgbClr val="4D4D4D"/>
                </a:solidFill>
                <a:latin typeface="Arial"/>
                <a:cs typeface="Arial"/>
              </a:rPr>
              <a:t>_</a:t>
            </a:r>
            <a:r>
              <a:rPr dirty="0" sz="1300" spc="20" i="1">
                <a:solidFill>
                  <a:srgbClr val="232323"/>
                </a:solidFill>
                <a:latin typeface="Arial"/>
                <a:cs typeface="Arial"/>
              </a:rPr>
              <a:t>mode/("Gradient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20" i="1">
                <a:solidFill>
                  <a:srgbClr val="131313"/>
                </a:solidFill>
                <a:latin typeface="Arial"/>
                <a:cs typeface="Arial"/>
              </a:rPr>
              <a:t>Boosting",</a:t>
            </a:r>
            <a:r>
              <a:rPr dirty="0" sz="1300" spc="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300" spc="20" i="1">
                <a:solidFill>
                  <a:srgbClr val="232323"/>
                </a:solidFill>
                <a:latin typeface="Arial"/>
                <a:cs typeface="Arial"/>
              </a:rPr>
              <a:t>y</a:t>
            </a:r>
            <a:r>
              <a:rPr dirty="0" sz="1300" spc="20" i="1">
                <a:solidFill>
                  <a:srgbClr val="4D4D4D"/>
                </a:solidFill>
                <a:latin typeface="Arial"/>
                <a:cs typeface="Arial"/>
              </a:rPr>
              <a:t>_</a:t>
            </a:r>
            <a:r>
              <a:rPr dirty="0" sz="1300" spc="20" i="1">
                <a:solidFill>
                  <a:srgbClr val="232323"/>
                </a:solidFill>
                <a:latin typeface="Arial"/>
                <a:cs typeface="Arial"/>
              </a:rPr>
              <a:t>test</a:t>
            </a:r>
            <a:r>
              <a:rPr dirty="0" sz="1300" spc="20" i="1">
                <a:solidFill>
                  <a:srgbClr val="4D4D4D"/>
                </a:solidFill>
                <a:latin typeface="Arial"/>
                <a:cs typeface="Arial"/>
              </a:rPr>
              <a:t>,</a:t>
            </a:r>
            <a:r>
              <a:rPr dirty="0" sz="1300" spc="55" i="1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y</a:t>
            </a:r>
            <a:r>
              <a:rPr dirty="0" sz="1300" spc="-10" i="1">
                <a:solidFill>
                  <a:srgbClr val="4D4D4D"/>
                </a:solidFill>
                <a:latin typeface="Arial"/>
                <a:cs typeface="Arial"/>
              </a:rPr>
              <a:t>_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pred</a:t>
            </a:r>
            <a:r>
              <a:rPr dirty="0" sz="1300" spc="-10" i="1">
                <a:solidFill>
                  <a:srgbClr val="4D4D4D"/>
                </a:solidFill>
                <a:latin typeface="Arial"/>
                <a:cs typeface="Arial"/>
              </a:rPr>
              <a:t>_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gb)</a:t>
            </a:r>
            <a:endParaRPr sz="1300">
              <a:latin typeface="Arial"/>
              <a:cs typeface="Arial"/>
            </a:endParaRPr>
          </a:p>
          <a:p>
            <a:pPr marL="63500">
              <a:lnSpc>
                <a:spcPts val="2300"/>
              </a:lnSpc>
              <a:spcBef>
                <a:spcPts val="1200"/>
              </a:spcBef>
            </a:pPr>
            <a:r>
              <a:rPr dirty="0" sz="2050" spc="509">
                <a:solidFill>
                  <a:srgbClr val="232323"/>
                </a:solidFill>
                <a:latin typeface="Courier New"/>
                <a:cs typeface="Courier New"/>
              </a:rPr>
              <a:t>#===================</a:t>
            </a:r>
            <a:endParaRPr sz="2050">
              <a:latin typeface="Courier New"/>
              <a:cs typeface="Courier New"/>
            </a:endParaRPr>
          </a:p>
          <a:p>
            <a:pPr marL="85090">
              <a:lnSpc>
                <a:spcPts val="1240"/>
              </a:lnSpc>
            </a:pPr>
            <a:r>
              <a:rPr dirty="0" sz="1350" spc="315">
                <a:solidFill>
                  <a:srgbClr val="232323"/>
                </a:solidFill>
                <a:latin typeface="Arial"/>
                <a:cs typeface="Arial"/>
              </a:rPr>
              <a:t>#</a:t>
            </a:r>
            <a:r>
              <a:rPr dirty="0" sz="1350" spc="-245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32323"/>
                </a:solidFill>
                <a:latin typeface="Arial"/>
                <a:cs typeface="Arial"/>
              </a:rPr>
              <a:t>7.</a:t>
            </a:r>
            <a:r>
              <a:rPr dirty="0" sz="1350" spc="-7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32323"/>
                </a:solidFill>
                <a:latin typeface="Arial"/>
                <a:cs typeface="Arial"/>
              </a:rPr>
              <a:t>VISUALIZATION</a:t>
            </a:r>
            <a:endParaRPr sz="1300">
              <a:latin typeface="Arial"/>
              <a:cs typeface="Arial"/>
            </a:endParaRPr>
          </a:p>
          <a:p>
            <a:pPr marL="63500">
              <a:lnSpc>
                <a:spcPts val="2240"/>
              </a:lnSpc>
            </a:pPr>
            <a:r>
              <a:rPr dirty="0" sz="2050" spc="509">
                <a:solidFill>
                  <a:srgbClr val="232323"/>
                </a:solidFill>
                <a:latin typeface="Courier New"/>
                <a:cs typeface="Courier New"/>
              </a:rPr>
              <a:t>#===================</a:t>
            </a:r>
            <a:endParaRPr sz="20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04551" y="853168"/>
            <a:ext cx="2438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45" b="1" i="1">
                <a:solidFill>
                  <a:srgbClr val="111111"/>
                </a:solidFill>
                <a:latin typeface="Arial"/>
                <a:cs typeface="Arial"/>
              </a:rPr>
              <a:t>11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9983" y="1299759"/>
            <a:ext cx="3832225" cy="314515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3970" marR="1059180" indent="2540">
              <a:lnSpc>
                <a:spcPct val="104900"/>
              </a:lnSpc>
              <a:spcBef>
                <a:spcPts val="25"/>
              </a:spcBef>
            </a:pPr>
            <a:r>
              <a:rPr dirty="0" sz="1300" spc="70">
                <a:solidFill>
                  <a:srgbClr val="262626"/>
                </a:solidFill>
                <a:latin typeface="Arial"/>
                <a:cs typeface="Arial"/>
              </a:rPr>
              <a:t>#</a:t>
            </a:r>
            <a:r>
              <a:rPr dirty="0" sz="1300" spc="-3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62626"/>
                </a:solidFill>
                <a:latin typeface="Arial"/>
                <a:cs typeface="Arial"/>
              </a:rPr>
              <a:t>Scatter</a:t>
            </a:r>
            <a:r>
              <a:rPr dirty="0" sz="1300" spc="130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111111"/>
                </a:solidFill>
                <a:latin typeface="Arial"/>
                <a:cs typeface="Arial"/>
              </a:rPr>
              <a:t>Plot:</a:t>
            </a:r>
            <a:r>
              <a:rPr dirty="0" sz="1300" spc="12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300" spc="50">
                <a:solidFill>
                  <a:srgbClr val="262626"/>
                </a:solidFill>
                <a:latin typeface="Arial"/>
                <a:cs typeface="Arial"/>
              </a:rPr>
              <a:t>CO2</a:t>
            </a:r>
            <a:r>
              <a:rPr dirty="0" sz="1300" spc="14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262626"/>
                </a:solidFill>
                <a:latin typeface="Arial"/>
                <a:cs typeface="Arial"/>
              </a:rPr>
              <a:t>vs</a:t>
            </a:r>
            <a:r>
              <a:rPr dirty="0" sz="1300" spc="-15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111111"/>
                </a:solidFill>
                <a:latin typeface="Arial"/>
                <a:cs typeface="Arial"/>
              </a:rPr>
              <a:t>Temperature</a:t>
            </a:r>
            <a:r>
              <a:rPr dirty="0" sz="1300" spc="-1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62626"/>
                </a:solidFill>
                <a:latin typeface="Arial"/>
                <a:cs typeface="Arial"/>
              </a:rPr>
              <a:t>pit.figure()</a:t>
            </a:r>
            <a:endParaRPr sz="1300">
              <a:latin typeface="Arial"/>
              <a:cs typeface="Arial"/>
            </a:endParaRPr>
          </a:p>
          <a:p>
            <a:pPr marL="13970" marR="114300" indent="-1905">
              <a:lnSpc>
                <a:spcPct val="103299"/>
              </a:lnSpc>
              <a:spcBef>
                <a:spcPts val="75"/>
              </a:spcBef>
            </a:pPr>
            <a:r>
              <a:rPr dirty="0" sz="1300" i="1">
                <a:solidFill>
                  <a:srgbClr val="262626"/>
                </a:solidFill>
                <a:latin typeface="Arial"/>
                <a:cs typeface="Arial"/>
              </a:rPr>
              <a:t>sns.scatterplot(x==df['C021,</a:t>
            </a:r>
            <a:r>
              <a:rPr dirty="0" sz="1300" spc="-5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62626"/>
                </a:solidFill>
                <a:latin typeface="Arial"/>
                <a:cs typeface="Arial"/>
              </a:rPr>
              <a:t>y=df['Temperature1)</a:t>
            </a:r>
            <a:r>
              <a:rPr dirty="0" sz="1300" spc="-10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spc="20" i="1">
                <a:solidFill>
                  <a:srgbClr val="262626"/>
                </a:solidFill>
                <a:latin typeface="Arial"/>
                <a:cs typeface="Arial"/>
              </a:rPr>
              <a:t>plt.xlabel("C02</a:t>
            </a:r>
            <a:r>
              <a:rPr dirty="0" sz="1300" spc="345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111111"/>
                </a:solidFill>
                <a:latin typeface="Arial"/>
                <a:cs typeface="Arial"/>
              </a:rPr>
              <a:t>Levels'')</a:t>
            </a:r>
            <a:r>
              <a:rPr dirty="0" sz="1300" spc="500" i="1">
                <a:solidFill>
                  <a:srgbClr val="111111"/>
                </a:solidFill>
                <a:latin typeface="Arial"/>
                <a:cs typeface="Arial"/>
              </a:rPr>
              <a:t>  </a:t>
            </a:r>
            <a:r>
              <a:rPr dirty="0" sz="1300" spc="-10" i="1">
                <a:solidFill>
                  <a:srgbClr val="262626"/>
                </a:solidFill>
                <a:latin typeface="Arial"/>
                <a:cs typeface="Arial"/>
              </a:rPr>
              <a:t>plt.ylabel("Temperature")</a:t>
            </a:r>
            <a:endParaRPr sz="1300">
              <a:latin typeface="Arial"/>
              <a:cs typeface="Arial"/>
            </a:endParaRPr>
          </a:p>
          <a:p>
            <a:pPr marL="13970" marR="1436370">
              <a:lnSpc>
                <a:spcPct val="104900"/>
              </a:lnSpc>
            </a:pPr>
            <a:r>
              <a:rPr dirty="0" sz="1300" spc="20" i="1">
                <a:solidFill>
                  <a:srgbClr val="262626"/>
                </a:solidFill>
                <a:latin typeface="Arial"/>
                <a:cs typeface="Arial"/>
              </a:rPr>
              <a:t>plt.title("C02</a:t>
            </a:r>
            <a:r>
              <a:rPr dirty="0" sz="1300" spc="290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spc="20">
                <a:solidFill>
                  <a:srgbClr val="262626"/>
                </a:solidFill>
                <a:latin typeface="Arial"/>
                <a:cs typeface="Arial"/>
              </a:rPr>
              <a:t>vs</a:t>
            </a:r>
            <a:r>
              <a:rPr dirty="0" sz="1300" spc="3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111111"/>
                </a:solidFill>
                <a:latin typeface="Arial"/>
                <a:cs typeface="Arial"/>
              </a:rPr>
              <a:t>Temperature'')</a:t>
            </a:r>
            <a:r>
              <a:rPr dirty="0" sz="1300" spc="-1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62626"/>
                </a:solidFill>
                <a:latin typeface="Arial"/>
                <a:cs typeface="Arial"/>
              </a:rPr>
              <a:t>pit.show()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00">
              <a:latin typeface="Arial"/>
              <a:cs typeface="Arial"/>
            </a:endParaRPr>
          </a:p>
          <a:p>
            <a:pPr marL="13970" marR="266065" indent="2540">
              <a:lnSpc>
                <a:spcPct val="111000"/>
              </a:lnSpc>
              <a:spcBef>
                <a:spcPts val="5"/>
              </a:spcBef>
            </a:pPr>
            <a:r>
              <a:rPr dirty="0" sz="1300">
                <a:solidFill>
                  <a:srgbClr val="262626"/>
                </a:solidFill>
                <a:latin typeface="Arial"/>
                <a:cs typeface="Arial"/>
              </a:rPr>
              <a:t>#</a:t>
            </a:r>
            <a:r>
              <a:rPr dirty="0" sz="1300" spc="114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62626"/>
                </a:solidFill>
                <a:latin typeface="Arial"/>
                <a:cs typeface="Arial"/>
              </a:rPr>
              <a:t>Actual</a:t>
            </a:r>
            <a:r>
              <a:rPr dirty="0" sz="1300" spc="275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262626"/>
                </a:solidFill>
                <a:latin typeface="Arial"/>
                <a:cs typeface="Arial"/>
              </a:rPr>
              <a:t>vs</a:t>
            </a:r>
            <a:r>
              <a:rPr dirty="0" sz="1300" spc="7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111111"/>
                </a:solidFill>
                <a:latin typeface="Arial"/>
                <a:cs typeface="Arial"/>
              </a:rPr>
              <a:t>Predicted</a:t>
            </a:r>
            <a:r>
              <a:rPr dirty="0" sz="1300" spc="10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111111"/>
                </a:solidFill>
                <a:latin typeface="Arial"/>
                <a:cs typeface="Arial"/>
              </a:rPr>
              <a:t>Plot</a:t>
            </a:r>
            <a:r>
              <a:rPr dirty="0" sz="1300" spc="4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62626"/>
                </a:solidFill>
                <a:latin typeface="Arial"/>
                <a:cs typeface="Arial"/>
              </a:rPr>
              <a:t>(Linear</a:t>
            </a:r>
            <a:r>
              <a:rPr dirty="0" sz="1300" spc="220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111111"/>
                </a:solidFill>
                <a:latin typeface="Arial"/>
                <a:cs typeface="Arial"/>
              </a:rPr>
              <a:t>Regression)</a:t>
            </a:r>
            <a:r>
              <a:rPr dirty="0" sz="1300" spc="-1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62626"/>
                </a:solidFill>
                <a:latin typeface="Arial"/>
                <a:cs typeface="Arial"/>
              </a:rPr>
              <a:t>pit.figure()</a:t>
            </a:r>
            <a:endParaRPr sz="130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25"/>
              </a:spcBef>
            </a:pPr>
            <a:r>
              <a:rPr dirty="0" sz="1300" spc="10" i="1">
                <a:solidFill>
                  <a:srgbClr val="262626"/>
                </a:solidFill>
                <a:latin typeface="Arial"/>
                <a:cs typeface="Arial"/>
              </a:rPr>
              <a:t>pit.scatter(y</a:t>
            </a:r>
            <a:r>
              <a:rPr dirty="0" sz="1300" spc="10">
                <a:solidFill>
                  <a:srgbClr val="4F4F4F"/>
                </a:solidFill>
                <a:latin typeface="Arial"/>
                <a:cs typeface="Arial"/>
              </a:rPr>
              <a:t>_</a:t>
            </a:r>
            <a:r>
              <a:rPr dirty="0" sz="1300" spc="10" i="1">
                <a:solidFill>
                  <a:srgbClr val="111111"/>
                </a:solidFill>
                <a:latin typeface="Arial"/>
                <a:cs typeface="Arial"/>
              </a:rPr>
              <a:t>test</a:t>
            </a:r>
            <a:r>
              <a:rPr dirty="0" sz="1300" spc="10" i="1">
                <a:solidFill>
                  <a:srgbClr val="4F4F4F"/>
                </a:solidFill>
                <a:latin typeface="Arial"/>
                <a:cs typeface="Arial"/>
              </a:rPr>
              <a:t>,</a:t>
            </a:r>
            <a:r>
              <a:rPr dirty="0" sz="1300" spc="204" i="1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62626"/>
                </a:solidFill>
                <a:latin typeface="Arial"/>
                <a:cs typeface="Arial"/>
              </a:rPr>
              <a:t>y</a:t>
            </a:r>
            <a:r>
              <a:rPr dirty="0" sz="1300" spc="-10" i="1">
                <a:solidFill>
                  <a:srgbClr val="4F4F4F"/>
                </a:solidFill>
                <a:latin typeface="Arial"/>
                <a:cs typeface="Arial"/>
              </a:rPr>
              <a:t>_</a:t>
            </a:r>
            <a:r>
              <a:rPr dirty="0" sz="1300" spc="-10" i="1">
                <a:solidFill>
                  <a:srgbClr val="262626"/>
                </a:solidFill>
                <a:latin typeface="Arial"/>
                <a:cs typeface="Arial"/>
              </a:rPr>
              <a:t>pred</a:t>
            </a:r>
            <a:r>
              <a:rPr dirty="0" sz="1300" spc="-10" i="1">
                <a:solidFill>
                  <a:srgbClr val="4F4F4F"/>
                </a:solidFill>
                <a:latin typeface="Arial"/>
                <a:cs typeface="Arial"/>
              </a:rPr>
              <a:t>_</a:t>
            </a:r>
            <a:r>
              <a:rPr dirty="0" sz="1300" spc="-10" i="1">
                <a:solidFill>
                  <a:srgbClr val="111111"/>
                </a:solidFill>
                <a:latin typeface="Arial"/>
                <a:cs typeface="Arial"/>
              </a:rPr>
              <a:t>lr)</a:t>
            </a:r>
            <a:endParaRPr sz="1300">
              <a:latin typeface="Arial"/>
              <a:cs typeface="Arial"/>
            </a:endParaRPr>
          </a:p>
          <a:p>
            <a:pPr marL="13970" marR="5080">
              <a:lnSpc>
                <a:spcPct val="104900"/>
              </a:lnSpc>
              <a:spcBef>
                <a:spcPts val="50"/>
              </a:spcBef>
            </a:pPr>
            <a:r>
              <a:rPr dirty="0" sz="1300" spc="10" i="1">
                <a:solidFill>
                  <a:srgbClr val="262626"/>
                </a:solidFill>
                <a:latin typeface="Arial"/>
                <a:cs typeface="Arial"/>
              </a:rPr>
              <a:t>plt.xlabel("Actual</a:t>
            </a:r>
            <a:r>
              <a:rPr dirty="0" sz="1300" spc="170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111111"/>
                </a:solidFill>
                <a:latin typeface="Arial"/>
                <a:cs typeface="Arial"/>
              </a:rPr>
              <a:t>Temperature")</a:t>
            </a:r>
            <a:r>
              <a:rPr dirty="0" sz="1300" spc="-1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300" spc="10" i="1">
                <a:solidFill>
                  <a:srgbClr val="262626"/>
                </a:solidFill>
                <a:latin typeface="Arial"/>
                <a:cs typeface="Arial"/>
              </a:rPr>
              <a:t>pit.ylabel("Predicted</a:t>
            </a:r>
            <a:r>
              <a:rPr dirty="0" sz="1300" spc="265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111111"/>
                </a:solidFill>
                <a:latin typeface="Arial"/>
                <a:cs typeface="Arial"/>
              </a:rPr>
              <a:t>Temperature'')</a:t>
            </a:r>
            <a:r>
              <a:rPr dirty="0" sz="1300" spc="500" i="1">
                <a:solidFill>
                  <a:srgbClr val="111111"/>
                </a:solidFill>
                <a:latin typeface="Arial"/>
                <a:cs typeface="Arial"/>
              </a:rPr>
              <a:t>  </a:t>
            </a:r>
            <a:r>
              <a:rPr dirty="0" sz="1300" i="1">
                <a:solidFill>
                  <a:srgbClr val="262626"/>
                </a:solidFill>
                <a:latin typeface="Arial"/>
                <a:cs typeface="Arial"/>
              </a:rPr>
              <a:t>plt.title(''Actual</a:t>
            </a:r>
            <a:r>
              <a:rPr dirty="0" sz="1300" spc="250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262626"/>
                </a:solidFill>
                <a:latin typeface="Arial"/>
                <a:cs typeface="Arial"/>
              </a:rPr>
              <a:t>vs</a:t>
            </a:r>
            <a:r>
              <a:rPr dirty="0" sz="1300" spc="114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111111"/>
                </a:solidFill>
                <a:latin typeface="Arial"/>
                <a:cs typeface="Arial"/>
              </a:rPr>
              <a:t>Predicted</a:t>
            </a:r>
            <a:r>
              <a:rPr dirty="0" sz="1300" spc="16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300" i="1">
                <a:solidFill>
                  <a:srgbClr val="262626"/>
                </a:solidFill>
                <a:latin typeface="Arial"/>
                <a:cs typeface="Arial"/>
              </a:rPr>
              <a:t>(Linear</a:t>
            </a:r>
            <a:r>
              <a:rPr dirty="0" sz="1300" spc="295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111111"/>
                </a:solidFill>
                <a:latin typeface="Arial"/>
                <a:cs typeface="Arial"/>
              </a:rPr>
              <a:t>Regression)'')</a:t>
            </a:r>
            <a:r>
              <a:rPr dirty="0" sz="1300" spc="-1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300" spc="-10" i="1">
                <a:solidFill>
                  <a:srgbClr val="262626"/>
                </a:solidFill>
                <a:latin typeface="Arial"/>
                <a:cs typeface="Arial"/>
              </a:rPr>
              <a:t>pit.show()</a:t>
            </a:r>
            <a:endParaRPr sz="13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3171" y="4617613"/>
            <a:ext cx="2019935" cy="427355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329565" marR="5080" indent="-317500">
              <a:lnSpc>
                <a:spcPts val="1540"/>
              </a:lnSpc>
              <a:spcBef>
                <a:spcPts val="220"/>
              </a:spcBef>
              <a:tabLst>
                <a:tab pos="1678305" algn="l"/>
              </a:tabLst>
            </a:pPr>
            <a:r>
              <a:rPr dirty="0" sz="1350">
                <a:solidFill>
                  <a:srgbClr val="626262"/>
                </a:solidFill>
                <a:latin typeface="Courier New"/>
                <a:cs typeface="Courier New"/>
              </a:rPr>
              <a:t>Dataset</a:t>
            </a:r>
            <a:r>
              <a:rPr dirty="0" sz="1350" spc="5">
                <a:solidFill>
                  <a:srgbClr val="626262"/>
                </a:solidFill>
                <a:latin typeface="Courier New"/>
                <a:cs typeface="Courier New"/>
              </a:rPr>
              <a:t> </a:t>
            </a:r>
            <a:r>
              <a:rPr dirty="0" sz="1350" spc="-10">
                <a:solidFill>
                  <a:srgbClr val="4F4F4F"/>
                </a:solidFill>
                <a:latin typeface="Courier New"/>
                <a:cs typeface="Courier New"/>
              </a:rPr>
              <a:t>Preview</a:t>
            </a:r>
            <a:r>
              <a:rPr dirty="0" sz="1350" spc="-10">
                <a:solidFill>
                  <a:srgbClr val="262626"/>
                </a:solidFill>
                <a:latin typeface="Courier New"/>
                <a:cs typeface="Courier New"/>
              </a:rPr>
              <a:t>: </a:t>
            </a:r>
            <a:r>
              <a:rPr dirty="0" sz="1350" spc="-20">
                <a:solidFill>
                  <a:srgbClr val="626262"/>
                </a:solidFill>
                <a:latin typeface="Courier New"/>
                <a:cs typeface="Courier New"/>
              </a:rPr>
              <a:t>Year</a:t>
            </a:r>
            <a:r>
              <a:rPr dirty="0" sz="1350">
                <a:solidFill>
                  <a:srgbClr val="626262"/>
                </a:solidFill>
                <a:latin typeface="Courier New"/>
                <a:cs typeface="Courier New"/>
              </a:rPr>
              <a:t>	</a:t>
            </a:r>
            <a:r>
              <a:rPr dirty="0" sz="1350" spc="-25">
                <a:solidFill>
                  <a:srgbClr val="626262"/>
                </a:solidFill>
                <a:latin typeface="Courier New"/>
                <a:cs typeface="Courier New"/>
              </a:rPr>
              <a:t>CO2</a:t>
            </a:r>
            <a:endParaRPr sz="13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57946" y="4813155"/>
            <a:ext cx="116078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10">
                <a:solidFill>
                  <a:srgbClr val="626262"/>
                </a:solidFill>
                <a:latin typeface="Courier New"/>
                <a:cs typeface="Courier New"/>
              </a:rPr>
              <a:t>Temperature</a:t>
            </a:r>
            <a:endParaRPr sz="1350">
              <a:latin typeface="Courier New"/>
              <a:cs typeface="Courier New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52917" y="5050182"/>
          <a:ext cx="3491229" cy="975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935"/>
                <a:gridCol w="628650"/>
                <a:gridCol w="1410969"/>
                <a:gridCol w="1134110"/>
              </a:tblGrid>
              <a:tr h="198120">
                <a:tc>
                  <a:txBody>
                    <a:bodyPr/>
                    <a:lstStyle/>
                    <a:p>
                      <a:pPr marL="33020">
                        <a:lnSpc>
                          <a:spcPts val="1445"/>
                        </a:lnSpc>
                      </a:pPr>
                      <a:r>
                        <a:rPr dirty="0" sz="1350" spc="-50">
                          <a:solidFill>
                            <a:srgbClr val="626262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1395"/>
                        </a:lnSpc>
                      </a:pPr>
                      <a:r>
                        <a:rPr dirty="0" sz="1350" spc="-20">
                          <a:solidFill>
                            <a:srgbClr val="626262"/>
                          </a:solidFill>
                          <a:latin typeface="Courier New"/>
                          <a:cs typeface="Courier New"/>
                        </a:rPr>
                        <a:t>1980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395"/>
                        </a:lnSpc>
                      </a:pPr>
                      <a:r>
                        <a:rPr dirty="0" sz="1350" spc="-10">
                          <a:solidFill>
                            <a:srgbClr val="626262"/>
                          </a:solidFill>
                          <a:latin typeface="Courier New"/>
                          <a:cs typeface="Courier New"/>
                        </a:rPr>
                        <a:t>350</a:t>
                      </a:r>
                      <a:r>
                        <a:rPr dirty="0" sz="1350" spc="-10">
                          <a:solidFill>
                            <a:srgbClr val="111111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dirty="0" sz="1350" spc="-10">
                          <a:solidFill>
                            <a:srgbClr val="626262"/>
                          </a:solidFill>
                          <a:latin typeface="Courier New"/>
                          <a:cs typeface="Courier New"/>
                        </a:rPr>
                        <a:t>993428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0480">
                        <a:lnSpc>
                          <a:spcPts val="1395"/>
                        </a:lnSpc>
                      </a:pPr>
                      <a:r>
                        <a:rPr dirty="0" sz="1350" spc="-10">
                          <a:solidFill>
                            <a:srgbClr val="626262"/>
                          </a:solidFill>
                          <a:latin typeface="Courier New"/>
                          <a:cs typeface="Courier New"/>
                        </a:rPr>
                        <a:t>9</a:t>
                      </a:r>
                      <a:r>
                        <a:rPr dirty="0" sz="1350" spc="-10">
                          <a:solidFill>
                            <a:srgbClr val="262626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dirty="0" sz="1350" spc="-10">
                          <a:solidFill>
                            <a:srgbClr val="626262"/>
                          </a:solidFill>
                          <a:latin typeface="Courier New"/>
                          <a:cs typeface="Courier New"/>
                        </a:rPr>
                        <a:t>605034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192405">
                <a:tc>
                  <a:txBody>
                    <a:bodyPr/>
                    <a:lstStyle/>
                    <a:p>
                      <a:pPr marL="33020">
                        <a:lnSpc>
                          <a:spcPts val="1375"/>
                        </a:lnSpc>
                      </a:pPr>
                      <a:r>
                        <a:rPr dirty="0" sz="1350" spc="-50">
                          <a:solidFill>
                            <a:srgbClr val="626262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1375"/>
                        </a:lnSpc>
                      </a:pPr>
                      <a:r>
                        <a:rPr dirty="0" sz="1350" spc="-20">
                          <a:solidFill>
                            <a:srgbClr val="626262"/>
                          </a:solidFill>
                          <a:latin typeface="Courier New"/>
                          <a:cs typeface="Courier New"/>
                        </a:rPr>
                        <a:t>1981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375"/>
                        </a:lnSpc>
                      </a:pPr>
                      <a:r>
                        <a:rPr dirty="0" sz="1350" spc="-10">
                          <a:solidFill>
                            <a:srgbClr val="626262"/>
                          </a:solidFill>
                          <a:latin typeface="Courier New"/>
                          <a:cs typeface="Courier New"/>
                        </a:rPr>
                        <a:t>351</a:t>
                      </a:r>
                      <a:r>
                        <a:rPr dirty="0" sz="1350" spc="-10">
                          <a:solidFill>
                            <a:srgbClr val="111111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dirty="0" sz="1350" spc="-10">
                          <a:solidFill>
                            <a:srgbClr val="626262"/>
                          </a:solidFill>
                          <a:latin typeface="Courier New"/>
                          <a:cs typeface="Courier New"/>
                        </a:rPr>
                        <a:t>223471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375"/>
                        </a:lnSpc>
                      </a:pPr>
                      <a:r>
                        <a:rPr dirty="0" sz="1350" spc="-10">
                          <a:solidFill>
                            <a:srgbClr val="4F4F4F"/>
                          </a:solidFill>
                          <a:latin typeface="Courier New"/>
                          <a:cs typeface="Courier New"/>
                        </a:rPr>
                        <a:t>9</a:t>
                      </a:r>
                      <a:r>
                        <a:rPr dirty="0" sz="1350" spc="-10">
                          <a:solidFill>
                            <a:srgbClr val="262626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dirty="0" sz="1350" spc="-10">
                          <a:solidFill>
                            <a:srgbClr val="626262"/>
                          </a:solidFill>
                          <a:latin typeface="Courier New"/>
                          <a:cs typeface="Courier New"/>
                        </a:rPr>
                        <a:t>571081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194945">
                <a:tc>
                  <a:txBody>
                    <a:bodyPr/>
                    <a:lstStyle/>
                    <a:p>
                      <a:pPr marL="31750">
                        <a:lnSpc>
                          <a:spcPts val="1400"/>
                        </a:lnSpc>
                      </a:pPr>
                      <a:r>
                        <a:rPr dirty="0" sz="1350" spc="-50">
                          <a:solidFill>
                            <a:srgbClr val="626262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1400"/>
                        </a:lnSpc>
                      </a:pPr>
                      <a:r>
                        <a:rPr dirty="0" sz="1350" spc="-20">
                          <a:solidFill>
                            <a:srgbClr val="626262"/>
                          </a:solidFill>
                          <a:latin typeface="Courier New"/>
                          <a:cs typeface="Courier New"/>
                        </a:rPr>
                        <a:t>1982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400"/>
                        </a:lnSpc>
                      </a:pPr>
                      <a:r>
                        <a:rPr dirty="0" sz="1350" spc="-10">
                          <a:solidFill>
                            <a:srgbClr val="626262"/>
                          </a:solidFill>
                          <a:latin typeface="Courier New"/>
                          <a:cs typeface="Courier New"/>
                        </a:rPr>
                        <a:t>354</a:t>
                      </a:r>
                      <a:r>
                        <a:rPr dirty="0" sz="1350" spc="-10">
                          <a:solidFill>
                            <a:srgbClr val="111111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dirty="0" sz="1350" spc="-10">
                          <a:solidFill>
                            <a:srgbClr val="626262"/>
                          </a:solidFill>
                          <a:latin typeface="Courier New"/>
                          <a:cs typeface="Courier New"/>
                        </a:rPr>
                        <a:t>295377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400"/>
                        </a:lnSpc>
                      </a:pPr>
                      <a:r>
                        <a:rPr dirty="0" sz="1350" spc="-10">
                          <a:solidFill>
                            <a:srgbClr val="4F4F4F"/>
                          </a:solidFill>
                          <a:latin typeface="Courier New"/>
                          <a:cs typeface="Courier New"/>
                        </a:rPr>
                        <a:t>9</a:t>
                      </a:r>
                      <a:r>
                        <a:rPr dirty="0" sz="1350" spc="-10">
                          <a:latin typeface="Courier New"/>
                          <a:cs typeface="Courier New"/>
                        </a:rPr>
                        <a:t>.</a:t>
                      </a:r>
                      <a:r>
                        <a:rPr dirty="0" sz="1350" spc="-10">
                          <a:solidFill>
                            <a:srgbClr val="626262"/>
                          </a:solidFill>
                          <a:latin typeface="Courier New"/>
                          <a:cs typeface="Courier New"/>
                        </a:rPr>
                        <a:t>600069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194945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1100" spc="-50">
                          <a:solidFill>
                            <a:srgbClr val="626262"/>
                          </a:solidFill>
                          <a:latin typeface="Arial"/>
                          <a:cs typeface="Arial"/>
                        </a:rPr>
                        <a:t>3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9525"/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400"/>
                        </a:lnSpc>
                      </a:pPr>
                      <a:r>
                        <a:rPr dirty="0" sz="1350" spc="-20">
                          <a:solidFill>
                            <a:srgbClr val="626262"/>
                          </a:solidFill>
                          <a:latin typeface="Courier New"/>
                          <a:cs typeface="Courier New"/>
                        </a:rPr>
                        <a:t>1983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400"/>
                        </a:lnSpc>
                      </a:pPr>
                      <a:r>
                        <a:rPr dirty="0" sz="1350" spc="-10">
                          <a:solidFill>
                            <a:srgbClr val="626262"/>
                          </a:solidFill>
                          <a:latin typeface="Courier New"/>
                          <a:cs typeface="Courier New"/>
                        </a:rPr>
                        <a:t>357</a:t>
                      </a:r>
                      <a:r>
                        <a:rPr dirty="0" sz="1350" spc="-10">
                          <a:solidFill>
                            <a:srgbClr val="111111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dirty="0" sz="1350" spc="-10">
                          <a:solidFill>
                            <a:srgbClr val="626262"/>
                          </a:solidFill>
                          <a:latin typeface="Courier New"/>
                          <a:cs typeface="Courier New"/>
                        </a:rPr>
                        <a:t>546060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0480">
                        <a:lnSpc>
                          <a:spcPts val="1400"/>
                        </a:lnSpc>
                      </a:pPr>
                      <a:r>
                        <a:rPr dirty="0" sz="1350" spc="-10">
                          <a:solidFill>
                            <a:srgbClr val="626262"/>
                          </a:solidFill>
                          <a:latin typeface="Courier New"/>
                          <a:cs typeface="Courier New"/>
                        </a:rPr>
                        <a:t>9</a:t>
                      </a:r>
                      <a:r>
                        <a:rPr dirty="0" sz="1350" spc="-10">
                          <a:latin typeface="Courier New"/>
                          <a:cs typeface="Courier New"/>
                        </a:rPr>
                        <a:t>.</a:t>
                      </a:r>
                      <a:r>
                        <a:rPr dirty="0" sz="1350" spc="-10">
                          <a:solidFill>
                            <a:srgbClr val="4F4F4F"/>
                          </a:solidFill>
                          <a:latin typeface="Courier New"/>
                          <a:cs typeface="Courier New"/>
                        </a:rPr>
                        <a:t>433345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  <a:tr h="194945">
                <a:tc>
                  <a:txBody>
                    <a:bodyPr/>
                    <a:lstStyle/>
                    <a:p>
                      <a:pPr marL="50165">
                        <a:lnSpc>
                          <a:spcPts val="1360"/>
                        </a:lnSpc>
                      </a:pPr>
                      <a:r>
                        <a:rPr dirty="0" sz="1150" spc="-50">
                          <a:solidFill>
                            <a:srgbClr val="626262"/>
                          </a:solidFill>
                          <a:latin typeface="Arial"/>
                          <a:cs typeface="Arial"/>
                        </a:rPr>
                        <a:t>4</a:t>
                      </a:r>
                      <a:endParaRPr sz="11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ts val="1400"/>
                        </a:lnSpc>
                      </a:pPr>
                      <a:r>
                        <a:rPr dirty="0" sz="1350" spc="-20">
                          <a:solidFill>
                            <a:srgbClr val="626262"/>
                          </a:solidFill>
                          <a:latin typeface="Courier New"/>
                          <a:cs typeface="Courier New"/>
                        </a:rPr>
                        <a:t>1984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5250">
                        <a:lnSpc>
                          <a:spcPts val="1400"/>
                        </a:lnSpc>
                      </a:pPr>
                      <a:r>
                        <a:rPr dirty="0" sz="1350" spc="-10">
                          <a:solidFill>
                            <a:srgbClr val="626262"/>
                          </a:solidFill>
                          <a:latin typeface="Courier New"/>
                          <a:cs typeface="Courier New"/>
                        </a:rPr>
                        <a:t>355</a:t>
                      </a:r>
                      <a:r>
                        <a:rPr dirty="0" sz="1350" spc="-10">
                          <a:solidFill>
                            <a:srgbClr val="111111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dirty="0" sz="1350" spc="-10">
                          <a:solidFill>
                            <a:srgbClr val="626262"/>
                          </a:solidFill>
                          <a:latin typeface="Courier New"/>
                          <a:cs typeface="Courier New"/>
                        </a:rPr>
                        <a:t>531693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0480">
                        <a:lnSpc>
                          <a:spcPts val="1400"/>
                        </a:lnSpc>
                      </a:pPr>
                      <a:r>
                        <a:rPr dirty="0" sz="1350" spc="-10">
                          <a:solidFill>
                            <a:srgbClr val="4F4F4F"/>
                          </a:solidFill>
                          <a:latin typeface="Courier New"/>
                          <a:cs typeface="Courier New"/>
                        </a:rPr>
                        <a:t>9</a:t>
                      </a:r>
                      <a:r>
                        <a:rPr dirty="0" sz="1350" spc="-10">
                          <a:solidFill>
                            <a:srgbClr val="262626"/>
                          </a:solidFill>
                          <a:latin typeface="Courier New"/>
                          <a:cs typeface="Courier New"/>
                        </a:rPr>
                        <a:t>.</a:t>
                      </a:r>
                      <a:r>
                        <a:rPr dirty="0" sz="1350" spc="-10">
                          <a:solidFill>
                            <a:srgbClr val="626262"/>
                          </a:solidFill>
                          <a:latin typeface="Courier New"/>
                          <a:cs typeface="Courier New"/>
                        </a:rPr>
                        <a:t>574865</a:t>
                      </a:r>
                      <a:endParaRPr sz="1350">
                        <a:latin typeface="Courier New"/>
                        <a:cs typeface="Courier New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871890" y="6181952"/>
            <a:ext cx="2038985" cy="913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626262"/>
                </a:solidFill>
                <a:latin typeface="Courier New"/>
                <a:cs typeface="Courier New"/>
              </a:rPr>
              <a:t>Model</a:t>
            </a:r>
            <a:r>
              <a:rPr dirty="0" sz="1350" spc="60">
                <a:solidFill>
                  <a:srgbClr val="626262"/>
                </a:solidFill>
                <a:latin typeface="Courier New"/>
                <a:cs typeface="Courier New"/>
              </a:rPr>
              <a:t> </a:t>
            </a:r>
            <a:r>
              <a:rPr dirty="0" sz="1350" spc="-10">
                <a:solidFill>
                  <a:srgbClr val="4F4F4F"/>
                </a:solidFill>
                <a:latin typeface="Courier New"/>
                <a:cs typeface="Courier New"/>
              </a:rPr>
              <a:t>Performance</a:t>
            </a:r>
            <a:r>
              <a:rPr dirty="0" sz="1350" spc="-10">
                <a:solidFill>
                  <a:srgbClr val="262626"/>
                </a:solidFill>
                <a:latin typeface="Courier New"/>
                <a:cs typeface="Courier New"/>
              </a:rPr>
              <a:t>:</a:t>
            </a:r>
            <a:endParaRPr sz="13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350">
              <a:latin typeface="Courier New"/>
              <a:cs typeface="Courier New"/>
            </a:endParaRPr>
          </a:p>
          <a:p>
            <a:pPr marL="12700" marR="5080" indent="1905">
              <a:lnSpc>
                <a:spcPct val="101600"/>
              </a:lnSpc>
            </a:pPr>
            <a:r>
              <a:rPr dirty="0" sz="1500">
                <a:solidFill>
                  <a:srgbClr val="4F4F4F"/>
                </a:solidFill>
                <a:latin typeface="Courier New"/>
                <a:cs typeface="Courier New"/>
              </a:rPr>
              <a:t>Linear</a:t>
            </a:r>
            <a:r>
              <a:rPr dirty="0" sz="1500" spc="185">
                <a:solidFill>
                  <a:srgbClr val="4F4F4F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4F4F4F"/>
                </a:solidFill>
                <a:latin typeface="Courier New"/>
                <a:cs typeface="Courier New"/>
              </a:rPr>
              <a:t>Regression </a:t>
            </a:r>
            <a:r>
              <a:rPr dirty="0" sz="1500" spc="110">
                <a:solidFill>
                  <a:srgbClr val="4F4F4F"/>
                </a:solidFill>
                <a:latin typeface="Courier New"/>
                <a:cs typeface="Courier New"/>
              </a:rPr>
              <a:t>MSE</a:t>
            </a:r>
            <a:r>
              <a:rPr dirty="0" sz="1500" spc="110">
                <a:solidFill>
                  <a:srgbClr val="262626"/>
                </a:solidFill>
                <a:latin typeface="Courier New"/>
                <a:cs typeface="Courier New"/>
              </a:rPr>
              <a:t>:</a:t>
            </a:r>
            <a:r>
              <a:rPr dirty="0" sz="1500" spc="-254">
                <a:solidFill>
                  <a:srgbClr val="262626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4F4F4F"/>
                </a:solidFill>
                <a:latin typeface="Courier New"/>
                <a:cs typeface="Courier New"/>
              </a:rPr>
              <a:t>0</a:t>
            </a:r>
            <a:r>
              <a:rPr dirty="0" sz="1500" spc="-10">
                <a:solidFill>
                  <a:srgbClr val="262626"/>
                </a:solidFill>
                <a:latin typeface="Courier New"/>
                <a:cs typeface="Courier New"/>
              </a:rPr>
              <a:t>.</a:t>
            </a:r>
            <a:r>
              <a:rPr dirty="0" sz="1500" spc="-10">
                <a:solidFill>
                  <a:srgbClr val="4F4F4F"/>
                </a:solidFill>
                <a:latin typeface="Courier New"/>
                <a:cs typeface="Courier New"/>
              </a:rPr>
              <a:t>032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2317" y="7037960"/>
            <a:ext cx="287655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17777" sz="1875" spc="209">
                <a:solidFill>
                  <a:srgbClr val="4F4F4F"/>
                </a:solidFill>
                <a:latin typeface="Arial"/>
                <a:cs typeface="Arial"/>
              </a:rPr>
              <a:t>R</a:t>
            </a:r>
            <a:r>
              <a:rPr dirty="0" sz="750" spc="140">
                <a:solidFill>
                  <a:srgbClr val="4F4F4F"/>
                </a:solidFill>
                <a:latin typeface="Arial"/>
                <a:cs typeface="Arial"/>
              </a:rPr>
              <a:t>2</a:t>
            </a:r>
            <a:endParaRPr sz="7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9268" y="7055018"/>
            <a:ext cx="83121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3360" algn="l"/>
              </a:tabLst>
            </a:pPr>
            <a:r>
              <a:rPr dirty="0" sz="750" spc="-50">
                <a:solidFill>
                  <a:srgbClr val="262626"/>
                </a:solidFill>
                <a:latin typeface="Arial"/>
                <a:cs typeface="Arial"/>
              </a:rPr>
              <a:t>:</a:t>
            </a:r>
            <a:r>
              <a:rPr dirty="0" sz="750">
                <a:solidFill>
                  <a:srgbClr val="262626"/>
                </a:solidFill>
                <a:latin typeface="Arial"/>
                <a:cs typeface="Arial"/>
              </a:rPr>
              <a:t>	</a:t>
            </a:r>
            <a:r>
              <a:rPr dirty="0" sz="1500" spc="-20">
                <a:solidFill>
                  <a:srgbClr val="4F4F4F"/>
                </a:solidFill>
                <a:latin typeface="Courier New"/>
                <a:cs typeface="Courier New"/>
              </a:rPr>
              <a:t>0</a:t>
            </a:r>
            <a:r>
              <a:rPr dirty="0" sz="1500" spc="-20">
                <a:solidFill>
                  <a:srgbClr val="111111"/>
                </a:solidFill>
                <a:latin typeface="Courier New"/>
                <a:cs typeface="Courier New"/>
              </a:rPr>
              <a:t>.</a:t>
            </a:r>
            <a:r>
              <a:rPr dirty="0" sz="1500" spc="-20">
                <a:solidFill>
                  <a:srgbClr val="4F4F4F"/>
                </a:solidFill>
                <a:latin typeface="Courier New"/>
                <a:cs typeface="Courier New"/>
              </a:rPr>
              <a:t>913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1438" y="7281115"/>
            <a:ext cx="2114550" cy="18313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686435" algn="l"/>
              </a:tabLst>
            </a:pPr>
            <a:r>
              <a:rPr dirty="0" sz="1250" spc="110">
                <a:solidFill>
                  <a:srgbClr val="4F4F4F"/>
                </a:solidFill>
                <a:latin typeface="Arial"/>
                <a:cs typeface="Arial"/>
              </a:rPr>
              <a:t>MAE</a:t>
            </a:r>
            <a:r>
              <a:rPr dirty="0" sz="1250" spc="110">
                <a:solidFill>
                  <a:srgbClr val="262626"/>
                </a:solidFill>
                <a:latin typeface="Arial"/>
                <a:cs typeface="Arial"/>
              </a:rPr>
              <a:t>:</a:t>
            </a:r>
            <a:r>
              <a:rPr dirty="0" sz="1250">
                <a:solidFill>
                  <a:srgbClr val="262626"/>
                </a:solidFill>
                <a:latin typeface="Arial"/>
                <a:cs typeface="Arial"/>
              </a:rPr>
              <a:t>	</a:t>
            </a:r>
            <a:r>
              <a:rPr dirty="0" sz="1450" spc="204">
                <a:solidFill>
                  <a:srgbClr val="4F4F4F"/>
                </a:solidFill>
                <a:latin typeface="Times New Roman"/>
                <a:cs typeface="Times New Roman"/>
              </a:rPr>
              <a:t>0</a:t>
            </a:r>
            <a:r>
              <a:rPr dirty="0" sz="1450" spc="204">
                <a:solidFill>
                  <a:srgbClr val="111111"/>
                </a:solidFill>
                <a:latin typeface="Times New Roman"/>
                <a:cs typeface="Times New Roman"/>
              </a:rPr>
              <a:t>.</a:t>
            </a:r>
            <a:r>
              <a:rPr dirty="0" sz="1450" spc="-110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500" spc="-25">
                <a:solidFill>
                  <a:srgbClr val="4F4F4F"/>
                </a:solidFill>
                <a:latin typeface="Courier New"/>
                <a:cs typeface="Courier New"/>
              </a:rPr>
              <a:t>141</a:t>
            </a:r>
            <a:endParaRPr sz="1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1250">
              <a:latin typeface="Courier New"/>
              <a:cs typeface="Courier New"/>
            </a:endParaRPr>
          </a:p>
          <a:p>
            <a:pPr marL="73025" marR="480059">
              <a:lnSpc>
                <a:spcPts val="1780"/>
              </a:lnSpc>
              <a:spcBef>
                <a:spcPts val="5"/>
              </a:spcBef>
            </a:pPr>
            <a:r>
              <a:rPr dirty="0" sz="1500">
                <a:solidFill>
                  <a:srgbClr val="4F4F4F"/>
                </a:solidFill>
                <a:latin typeface="Courier New"/>
                <a:cs typeface="Courier New"/>
              </a:rPr>
              <a:t>Random</a:t>
            </a:r>
            <a:r>
              <a:rPr dirty="0" sz="1500" spc="245">
                <a:solidFill>
                  <a:srgbClr val="4F4F4F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4F4F4F"/>
                </a:solidFill>
                <a:latin typeface="Courier New"/>
                <a:cs typeface="Courier New"/>
              </a:rPr>
              <a:t>Forest </a:t>
            </a:r>
            <a:r>
              <a:rPr dirty="0" sz="1500" spc="110">
                <a:solidFill>
                  <a:srgbClr val="4F4F4F"/>
                </a:solidFill>
                <a:latin typeface="Courier New"/>
                <a:cs typeface="Courier New"/>
              </a:rPr>
              <a:t>MSE</a:t>
            </a:r>
            <a:r>
              <a:rPr dirty="0" sz="1500" spc="110">
                <a:solidFill>
                  <a:srgbClr val="262626"/>
                </a:solidFill>
                <a:latin typeface="Courier New"/>
                <a:cs typeface="Courier New"/>
              </a:rPr>
              <a:t>:</a:t>
            </a:r>
            <a:r>
              <a:rPr dirty="0" sz="1500" spc="-254">
                <a:solidFill>
                  <a:srgbClr val="262626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4F4F4F"/>
                </a:solidFill>
                <a:latin typeface="Courier New"/>
                <a:cs typeface="Courier New"/>
              </a:rPr>
              <a:t>0</a:t>
            </a:r>
            <a:r>
              <a:rPr dirty="0" sz="1500" spc="-10">
                <a:solidFill>
                  <a:srgbClr val="111111"/>
                </a:solidFill>
                <a:latin typeface="Courier New"/>
                <a:cs typeface="Courier New"/>
              </a:rPr>
              <a:t>.</a:t>
            </a:r>
            <a:r>
              <a:rPr dirty="0" sz="1500" spc="-10">
                <a:solidFill>
                  <a:srgbClr val="4F4F4F"/>
                </a:solidFill>
                <a:latin typeface="Courier New"/>
                <a:cs typeface="Courier New"/>
              </a:rPr>
              <a:t>075</a:t>
            </a:r>
            <a:endParaRPr sz="1500">
              <a:latin typeface="Courier New"/>
              <a:cs typeface="Courier New"/>
            </a:endParaRPr>
          </a:p>
          <a:p>
            <a:pPr marL="73025">
              <a:lnSpc>
                <a:spcPts val="1664"/>
              </a:lnSpc>
              <a:tabLst>
                <a:tab pos="671195" algn="l"/>
              </a:tabLst>
            </a:pPr>
            <a:r>
              <a:rPr dirty="0" sz="1500" spc="595">
                <a:solidFill>
                  <a:srgbClr val="4F4F4F"/>
                </a:solidFill>
                <a:latin typeface="Courier New"/>
                <a:cs typeface="Courier New"/>
              </a:rPr>
              <a:t>R</a:t>
            </a:r>
            <a:r>
              <a:rPr dirty="0" baseline="33333" sz="1125" spc="892">
                <a:solidFill>
                  <a:srgbClr val="4F4F4F"/>
                </a:solidFill>
                <a:latin typeface="Arial"/>
                <a:cs typeface="Arial"/>
              </a:rPr>
              <a:t>2</a:t>
            </a:r>
            <a:r>
              <a:rPr dirty="0" sz="750" spc="595">
                <a:solidFill>
                  <a:srgbClr val="111111"/>
                </a:solidFill>
                <a:latin typeface="Arial"/>
                <a:cs typeface="Arial"/>
              </a:rPr>
              <a:t>:</a:t>
            </a:r>
            <a:r>
              <a:rPr dirty="0" sz="750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dirty="0" sz="1500" spc="-10">
                <a:solidFill>
                  <a:srgbClr val="4F4F4F"/>
                </a:solidFill>
                <a:latin typeface="Courier New"/>
                <a:cs typeface="Courier New"/>
              </a:rPr>
              <a:t>0.799</a:t>
            </a:r>
            <a:endParaRPr sz="1500">
              <a:latin typeface="Courier New"/>
              <a:cs typeface="Courier New"/>
            </a:endParaRPr>
          </a:p>
          <a:p>
            <a:pPr marL="63500">
              <a:lnSpc>
                <a:spcPts val="1789"/>
              </a:lnSpc>
              <a:tabLst>
                <a:tab pos="671195" algn="l"/>
              </a:tabLst>
            </a:pPr>
            <a:r>
              <a:rPr dirty="0" sz="1250" spc="110">
                <a:solidFill>
                  <a:srgbClr val="4F4F4F"/>
                </a:solidFill>
                <a:latin typeface="Arial"/>
                <a:cs typeface="Arial"/>
              </a:rPr>
              <a:t>MAE</a:t>
            </a:r>
            <a:r>
              <a:rPr dirty="0" sz="1250" spc="110">
                <a:solidFill>
                  <a:srgbClr val="111111"/>
                </a:solidFill>
                <a:latin typeface="Arial"/>
                <a:cs typeface="Arial"/>
              </a:rPr>
              <a:t>:</a:t>
            </a:r>
            <a:r>
              <a:rPr dirty="0" sz="1250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dirty="0" sz="1500" spc="30">
                <a:solidFill>
                  <a:srgbClr val="4F4F4F"/>
                </a:solidFill>
                <a:latin typeface="Courier New"/>
                <a:cs typeface="Courier New"/>
              </a:rPr>
              <a:t>0</a:t>
            </a:r>
            <a:r>
              <a:rPr dirty="0" sz="1500" spc="30">
                <a:solidFill>
                  <a:srgbClr val="262626"/>
                </a:solidFill>
                <a:latin typeface="Courier New"/>
                <a:cs typeface="Courier New"/>
              </a:rPr>
              <a:t>.</a:t>
            </a:r>
            <a:r>
              <a:rPr dirty="0" sz="1500" spc="30">
                <a:solidFill>
                  <a:srgbClr val="4F4F4F"/>
                </a:solidFill>
                <a:latin typeface="Courier New"/>
                <a:cs typeface="Courier New"/>
              </a:rPr>
              <a:t>221</a:t>
            </a:r>
            <a:endParaRPr sz="1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500">
              <a:latin typeface="Courier New"/>
              <a:cs typeface="Courier New"/>
            </a:endParaRPr>
          </a:p>
          <a:p>
            <a:pPr marL="75565">
              <a:lnSpc>
                <a:spcPct val="100000"/>
              </a:lnSpc>
            </a:pPr>
            <a:r>
              <a:rPr dirty="0" sz="1500">
                <a:solidFill>
                  <a:srgbClr val="4F4F4F"/>
                </a:solidFill>
                <a:latin typeface="Courier New"/>
                <a:cs typeface="Courier New"/>
              </a:rPr>
              <a:t>Gradient</a:t>
            </a:r>
            <a:r>
              <a:rPr dirty="0" sz="1500" spc="245">
                <a:solidFill>
                  <a:srgbClr val="4F4F4F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4F4F4F"/>
                </a:solidFill>
                <a:latin typeface="Courier New"/>
                <a:cs typeface="Courier New"/>
              </a:rPr>
              <a:t>Boosting</a:t>
            </a:r>
            <a:endParaRPr sz="1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51007" y="4392759"/>
            <a:ext cx="0" cy="3336925"/>
          </a:xfrm>
          <a:custGeom>
            <a:avLst/>
            <a:gdLst/>
            <a:ahLst/>
            <a:cxnLst/>
            <a:rect l="l" t="t" r="r" b="b"/>
            <a:pathLst>
              <a:path w="0" h="3336925">
                <a:moveTo>
                  <a:pt x="0" y="3336440"/>
                </a:moveTo>
                <a:lnTo>
                  <a:pt x="0" y="0"/>
                </a:lnTo>
              </a:path>
            </a:pathLst>
          </a:custGeom>
          <a:ln w="122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810467" y="4404981"/>
            <a:ext cx="2336800" cy="0"/>
          </a:xfrm>
          <a:custGeom>
            <a:avLst/>
            <a:gdLst/>
            <a:ahLst/>
            <a:cxnLst/>
            <a:rect l="l" t="t" r="r" b="b"/>
            <a:pathLst>
              <a:path w="2336800" h="0">
                <a:moveTo>
                  <a:pt x="0" y="0"/>
                </a:moveTo>
                <a:lnTo>
                  <a:pt x="2336482" y="0"/>
                </a:lnTo>
              </a:path>
            </a:pathLst>
          </a:custGeom>
          <a:ln w="122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00960" y="8199724"/>
            <a:ext cx="5223510" cy="0"/>
          </a:xfrm>
          <a:custGeom>
            <a:avLst/>
            <a:gdLst/>
            <a:ahLst/>
            <a:cxnLst/>
            <a:rect l="l" t="t" r="r" b="b"/>
            <a:pathLst>
              <a:path w="5223510" h="0">
                <a:moveTo>
                  <a:pt x="0" y="0"/>
                </a:moveTo>
                <a:lnTo>
                  <a:pt x="5223444" y="0"/>
                </a:lnTo>
              </a:path>
            </a:pathLst>
          </a:custGeom>
          <a:ln w="122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810467" y="4447756"/>
            <a:ext cx="0" cy="3251200"/>
          </a:xfrm>
          <a:custGeom>
            <a:avLst/>
            <a:gdLst/>
            <a:ahLst/>
            <a:cxnLst/>
            <a:rect l="l" t="t" r="r" b="b"/>
            <a:pathLst>
              <a:path w="0" h="3251200">
                <a:moveTo>
                  <a:pt x="0" y="3250891"/>
                </a:moveTo>
                <a:lnTo>
                  <a:pt x="0" y="0"/>
                </a:lnTo>
              </a:path>
            </a:pathLst>
          </a:custGeom>
          <a:ln w="183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503792" y="846803"/>
            <a:ext cx="243204" cy="247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50" spc="-25" b="1" i="1">
                <a:solidFill>
                  <a:srgbClr val="131313"/>
                </a:solidFill>
                <a:latin typeface="Arial"/>
                <a:cs typeface="Arial"/>
              </a:rPr>
              <a:t>12</a:t>
            </a:r>
            <a:endParaRPr sz="14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1890" y="1286519"/>
            <a:ext cx="122872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10">
                <a:solidFill>
                  <a:srgbClr val="545454"/>
                </a:solidFill>
                <a:latin typeface="Courier New"/>
                <a:cs typeface="Courier New"/>
              </a:rPr>
              <a:t>MSE</a:t>
            </a:r>
            <a:r>
              <a:rPr dirty="0" sz="1500" spc="110">
                <a:solidFill>
                  <a:srgbClr val="131313"/>
                </a:solidFill>
                <a:latin typeface="Courier New"/>
                <a:cs typeface="Courier New"/>
              </a:rPr>
              <a:t>:</a:t>
            </a:r>
            <a:r>
              <a:rPr dirty="0" sz="1500" spc="-254">
                <a:solidFill>
                  <a:srgbClr val="131313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545454"/>
                </a:solidFill>
                <a:latin typeface="Courier New"/>
                <a:cs typeface="Courier New"/>
              </a:rPr>
              <a:t>0</a:t>
            </a:r>
            <a:r>
              <a:rPr dirty="0" sz="1500" spc="-10">
                <a:solidFill>
                  <a:srgbClr val="262626"/>
                </a:solidFill>
                <a:latin typeface="Courier New"/>
                <a:cs typeface="Courier New"/>
              </a:rPr>
              <a:t>.</a:t>
            </a:r>
            <a:r>
              <a:rPr dirty="0" sz="1500" spc="-10">
                <a:solidFill>
                  <a:srgbClr val="545454"/>
                </a:solidFill>
                <a:latin typeface="Courier New"/>
                <a:cs typeface="Courier New"/>
              </a:rPr>
              <a:t>092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2193" y="1483335"/>
            <a:ext cx="275590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2222" sz="1875" spc="195">
                <a:solidFill>
                  <a:srgbClr val="545454"/>
                </a:solidFill>
                <a:latin typeface="Times New Roman"/>
                <a:cs typeface="Times New Roman"/>
              </a:rPr>
              <a:t>R</a:t>
            </a:r>
            <a:r>
              <a:rPr dirty="0" sz="800" spc="130">
                <a:solidFill>
                  <a:srgbClr val="545454"/>
                </a:solidFill>
                <a:latin typeface="Times New Roman"/>
                <a:cs typeface="Times New Roman"/>
              </a:rPr>
              <a:t>2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69103" y="1512616"/>
            <a:ext cx="823594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3995" algn="l"/>
              </a:tabLst>
            </a:pPr>
            <a:r>
              <a:rPr dirty="0" sz="800">
                <a:solidFill>
                  <a:srgbClr val="131313"/>
                </a:solidFill>
                <a:latin typeface="Times New Roman"/>
                <a:cs typeface="Times New Roman"/>
              </a:rPr>
              <a:t>:	</a:t>
            </a:r>
            <a:r>
              <a:rPr dirty="0" sz="1500" spc="-10">
                <a:solidFill>
                  <a:srgbClr val="545454"/>
                </a:solidFill>
                <a:latin typeface="Courier New"/>
                <a:cs typeface="Courier New"/>
              </a:rPr>
              <a:t>0.752</a:t>
            </a:r>
            <a:endParaRPr sz="15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1890" y="1732600"/>
            <a:ext cx="5705475" cy="17868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10">
                <a:solidFill>
                  <a:srgbClr val="545454"/>
                </a:solidFill>
                <a:latin typeface="Courier New"/>
                <a:cs typeface="Courier New"/>
              </a:rPr>
              <a:t>MAE</a:t>
            </a:r>
            <a:r>
              <a:rPr dirty="0" sz="1500" spc="110">
                <a:solidFill>
                  <a:srgbClr val="131313"/>
                </a:solidFill>
                <a:latin typeface="Courier New"/>
                <a:cs typeface="Courier New"/>
              </a:rPr>
              <a:t>:</a:t>
            </a:r>
            <a:r>
              <a:rPr dirty="0" sz="1500" spc="-254">
                <a:solidFill>
                  <a:srgbClr val="131313"/>
                </a:solidFill>
                <a:latin typeface="Courier New"/>
                <a:cs typeface="Courier New"/>
              </a:rPr>
              <a:t> </a:t>
            </a:r>
            <a:r>
              <a:rPr dirty="0" sz="1500" spc="-10">
                <a:solidFill>
                  <a:srgbClr val="545454"/>
                </a:solidFill>
                <a:latin typeface="Courier New"/>
                <a:cs typeface="Courier New"/>
              </a:rPr>
              <a:t>0.240</a:t>
            </a:r>
            <a:endParaRPr sz="1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455"/>
              </a:spcBef>
            </a:pPr>
            <a:endParaRPr sz="1500">
              <a:latin typeface="Courier New"/>
              <a:cs typeface="Courier New"/>
            </a:endParaRPr>
          </a:p>
          <a:p>
            <a:pPr marL="15875" marR="5080" indent="276225">
              <a:lnSpc>
                <a:spcPct val="100200"/>
              </a:lnSpc>
            </a:pPr>
            <a:r>
              <a:rPr dirty="0" sz="1500" spc="55" i="1">
                <a:solidFill>
                  <a:srgbClr val="262626"/>
                </a:solidFill>
                <a:latin typeface="Arial"/>
                <a:cs typeface="Arial"/>
              </a:rPr>
              <a:t>(The</a:t>
            </a:r>
            <a:r>
              <a:rPr dirty="0" sz="1500" spc="-35" i="1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above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 code</a:t>
            </a:r>
            <a:r>
              <a:rPr dirty="0" sz="1500" spc="-7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is</a:t>
            </a:r>
            <a:r>
              <a:rPr dirty="0" sz="1500" spc="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a</a:t>
            </a:r>
            <a:r>
              <a:rPr dirty="0" sz="1500" spc="5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full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implementation</a:t>
            </a:r>
            <a:r>
              <a:rPr dirty="0" sz="1500" spc="-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of</a:t>
            </a:r>
            <a:r>
              <a:rPr dirty="0" sz="1500" spc="8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the</a:t>
            </a:r>
            <a:r>
              <a:rPr dirty="0" sz="1500" spc="-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60" i="1">
                <a:solidFill>
                  <a:srgbClr val="131313"/>
                </a:solidFill>
                <a:latin typeface="Arial"/>
                <a:cs typeface="Arial"/>
              </a:rPr>
              <a:t>ML</a:t>
            </a:r>
            <a:r>
              <a:rPr dirty="0" sz="1500" spc="8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pipeline</a:t>
            </a:r>
            <a:r>
              <a:rPr dirty="0" sz="1500" spc="10" i="1">
                <a:solidFill>
                  <a:srgbClr val="3D3D3D"/>
                </a:solidFill>
                <a:latin typeface="Arial"/>
                <a:cs typeface="Arial"/>
              </a:rPr>
              <a:t>.</a:t>
            </a:r>
            <a:r>
              <a:rPr dirty="0" sz="1500" spc="15" i="1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dirty="0" sz="1500" spc="-25" i="1">
                <a:latin typeface="Arial"/>
                <a:cs typeface="Arial"/>
              </a:rPr>
              <a:t>It</a:t>
            </a:r>
            <a:r>
              <a:rPr dirty="0" sz="1500" spc="-25" i="1"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generates</a:t>
            </a:r>
            <a:r>
              <a:rPr dirty="0" sz="1500" spc="2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the</a:t>
            </a:r>
            <a:r>
              <a:rPr dirty="0" sz="1500" spc="-3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dataset</a:t>
            </a:r>
            <a:r>
              <a:rPr dirty="0" sz="1500" i="1">
                <a:solidFill>
                  <a:srgbClr val="3D3D3D"/>
                </a:solidFill>
                <a:latin typeface="Arial"/>
                <a:cs typeface="Arial"/>
              </a:rPr>
              <a:t>,</a:t>
            </a:r>
            <a:r>
              <a:rPr dirty="0" sz="1500" spc="125" i="1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preprocesses</a:t>
            </a:r>
            <a:r>
              <a:rPr dirty="0" sz="1500" spc="35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it</a:t>
            </a:r>
            <a:r>
              <a:rPr dirty="0" sz="1500" i="1">
                <a:solidFill>
                  <a:srgbClr val="3D3D3D"/>
                </a:solidFill>
                <a:latin typeface="Arial"/>
                <a:cs typeface="Arial"/>
              </a:rPr>
              <a:t>,</a:t>
            </a:r>
            <a:r>
              <a:rPr dirty="0" sz="1500" spc="190" i="1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trains</a:t>
            </a:r>
            <a:r>
              <a:rPr dirty="0" sz="1500" spc="10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three</a:t>
            </a:r>
            <a:r>
              <a:rPr dirty="0" sz="1500" spc="1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models</a:t>
            </a:r>
            <a:r>
              <a:rPr dirty="0" sz="1500" i="1">
                <a:solidFill>
                  <a:srgbClr val="3D3D3D"/>
                </a:solidFill>
                <a:latin typeface="Arial"/>
                <a:cs typeface="Arial"/>
              </a:rPr>
              <a:t>,</a:t>
            </a:r>
            <a:r>
              <a:rPr dirty="0" sz="1500" spc="85" i="1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dirty="0" sz="1500" spc="-25" i="1">
                <a:solidFill>
                  <a:srgbClr val="131313"/>
                </a:solidFill>
                <a:latin typeface="Arial"/>
                <a:cs typeface="Arial"/>
              </a:rPr>
              <a:t>and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prints</a:t>
            </a:r>
            <a:r>
              <a:rPr dirty="0" sz="1500" spc="17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their</a:t>
            </a:r>
            <a:r>
              <a:rPr dirty="0" sz="1500" spc="13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performance</a:t>
            </a:r>
            <a:r>
              <a:rPr dirty="0" sz="1500" spc="2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metrics.)</a:t>
            </a:r>
            <a:endParaRPr sz="1500">
              <a:latin typeface="Arial"/>
              <a:cs typeface="Arial"/>
            </a:endParaRPr>
          </a:p>
          <a:p>
            <a:pPr marL="247650">
              <a:lnSpc>
                <a:spcPct val="100000"/>
              </a:lnSpc>
              <a:spcBef>
                <a:spcPts val="1215"/>
              </a:spcBef>
            </a:pPr>
            <a:r>
              <a:rPr dirty="0" u="heavy" sz="1900" i="1">
                <a:solidFill>
                  <a:srgbClr val="526EA3"/>
                </a:solidFill>
                <a:uFill>
                  <a:solidFill>
                    <a:srgbClr val="526EA3"/>
                  </a:solidFill>
                </a:uFill>
                <a:latin typeface="Arial"/>
                <a:cs typeface="Arial"/>
              </a:rPr>
              <a:t>Results</a:t>
            </a:r>
            <a:r>
              <a:rPr dirty="0" u="heavy" sz="1900" spc="114" i="1">
                <a:solidFill>
                  <a:srgbClr val="526EA3"/>
                </a:solidFill>
                <a:uFill>
                  <a:solidFill>
                    <a:srgbClr val="526EA3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900" i="1">
                <a:solidFill>
                  <a:srgbClr val="526EA3"/>
                </a:solidFill>
                <a:uFill>
                  <a:solidFill>
                    <a:srgbClr val="526EA3"/>
                  </a:solidFill>
                </a:uFill>
                <a:latin typeface="Arial"/>
                <a:cs typeface="Arial"/>
              </a:rPr>
              <a:t>and</a:t>
            </a:r>
            <a:r>
              <a:rPr dirty="0" u="heavy" sz="1900" spc="65" i="1">
                <a:solidFill>
                  <a:srgbClr val="526EA3"/>
                </a:solidFill>
                <a:uFill>
                  <a:solidFill>
                    <a:srgbClr val="526EA3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900" spc="-10" i="1">
                <a:solidFill>
                  <a:srgbClr val="526EA3"/>
                </a:solidFill>
                <a:uFill>
                  <a:solidFill>
                    <a:srgbClr val="526EA3"/>
                  </a:solidFill>
                </a:uFill>
                <a:latin typeface="Arial"/>
                <a:cs typeface="Arial"/>
              </a:rPr>
              <a:t>Analysis</a:t>
            </a:r>
            <a:endParaRPr sz="1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57431" y="4153455"/>
            <a:ext cx="1541145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-70">
                <a:solidFill>
                  <a:srgbClr val="545454"/>
                </a:solidFill>
                <a:latin typeface="Arial"/>
                <a:cs typeface="Arial"/>
              </a:rPr>
              <a:t>CO2</a:t>
            </a:r>
            <a:r>
              <a:rPr dirty="0" sz="1300" spc="7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45454"/>
                </a:solidFill>
                <a:latin typeface="Arial"/>
                <a:cs typeface="Arial"/>
              </a:rPr>
              <a:t>vs</a:t>
            </a:r>
            <a:r>
              <a:rPr dirty="0" sz="1300" spc="-114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3D3D3D"/>
                </a:solidFill>
                <a:latin typeface="Arial"/>
                <a:cs typeface="Arial"/>
              </a:rPr>
              <a:t>Temperature</a:t>
            </a:r>
            <a:endParaRPr sz="13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986595" y="4388463"/>
            <a:ext cx="112395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 spc="-50">
                <a:solidFill>
                  <a:srgbClr val="2A72A1"/>
                </a:solidFill>
                <a:latin typeface="Arial"/>
                <a:cs typeface="Arial"/>
              </a:rPr>
              <a:t>•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67322" y="4619396"/>
            <a:ext cx="37274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80" b="1">
                <a:solidFill>
                  <a:srgbClr val="545454"/>
                </a:solidFill>
                <a:latin typeface="Times New Roman"/>
                <a:cs typeface="Times New Roman"/>
              </a:rPr>
              <a:t>11.25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93257" y="4571528"/>
            <a:ext cx="13398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85">
                <a:solidFill>
                  <a:srgbClr val="2A72A1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05534" y="4632890"/>
            <a:ext cx="130810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 spc="85">
                <a:solidFill>
                  <a:srgbClr val="2A72A1"/>
                </a:solidFill>
                <a:latin typeface="Arial"/>
                <a:cs typeface="Arial"/>
              </a:rPr>
              <a:t>•</a:t>
            </a:r>
            <a:endParaRPr sz="19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21114" y="4650968"/>
            <a:ext cx="13398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85">
                <a:solidFill>
                  <a:srgbClr val="2A72A1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30717" y="4742628"/>
            <a:ext cx="10858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000" spc="85">
                <a:solidFill>
                  <a:srgbClr val="2A72A1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38253" y="4797879"/>
            <a:ext cx="130810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950" spc="85">
                <a:solidFill>
                  <a:srgbClr val="2A72A1"/>
                </a:solidFill>
                <a:latin typeface="Arial"/>
                <a:cs typeface="Arial"/>
              </a:rPr>
              <a:t>•</a:t>
            </a:r>
            <a:endParaRPr sz="19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67322" y="5010481"/>
            <a:ext cx="35941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60" b="1">
                <a:solidFill>
                  <a:srgbClr val="545454"/>
                </a:solidFill>
                <a:latin typeface="Times New Roman"/>
                <a:cs typeface="Times New Roman"/>
              </a:rPr>
              <a:t>11</a:t>
            </a:r>
            <a:r>
              <a:rPr dirty="0" sz="1000" spc="60" b="1">
                <a:solidFill>
                  <a:srgbClr val="808080"/>
                </a:solidFill>
                <a:latin typeface="Times New Roman"/>
                <a:cs typeface="Times New Roman"/>
              </a:rPr>
              <a:t>.</a:t>
            </a:r>
            <a:r>
              <a:rPr dirty="0" sz="1000" spc="60" b="1">
                <a:solidFill>
                  <a:srgbClr val="545454"/>
                </a:solidFill>
                <a:latin typeface="Times New Roman"/>
                <a:cs typeface="Times New Roman"/>
              </a:rPr>
              <a:t>00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28156" y="4889285"/>
            <a:ext cx="42227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05435" algn="l"/>
              </a:tabLst>
            </a:pPr>
            <a:r>
              <a:rPr dirty="0" sz="1950" spc="50">
                <a:solidFill>
                  <a:srgbClr val="2A72A1"/>
                </a:solidFill>
                <a:latin typeface="Arial"/>
                <a:cs typeface="Arial"/>
              </a:rPr>
              <a:t>•</a:t>
            </a:r>
            <a:r>
              <a:rPr dirty="0" sz="1950">
                <a:solidFill>
                  <a:srgbClr val="2A72A1"/>
                </a:solidFill>
                <a:latin typeface="Arial"/>
                <a:cs typeface="Arial"/>
              </a:rPr>
              <a:t>	</a:t>
            </a:r>
            <a:r>
              <a:rPr dirty="0" baseline="1388" sz="3000" spc="89">
                <a:solidFill>
                  <a:srgbClr val="2A72A1"/>
                </a:solidFill>
                <a:latin typeface="Arial"/>
                <a:cs typeface="Arial"/>
              </a:rPr>
              <a:t>•</a:t>
            </a:r>
            <a:endParaRPr baseline="1388" sz="30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40051" y="5054274"/>
            <a:ext cx="12890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60">
                <a:solidFill>
                  <a:srgbClr val="2A72A1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231306" y="5200930"/>
            <a:ext cx="20701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000" spc="80">
                <a:solidFill>
                  <a:srgbClr val="2A72A1"/>
                </a:solidFill>
                <a:latin typeface="Arial"/>
                <a:cs typeface="Arial"/>
              </a:rPr>
              <a:t>••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34057" y="5158155"/>
            <a:ext cx="26479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dirty="0" baseline="-23611" sz="3000" spc="165">
                <a:solidFill>
                  <a:srgbClr val="2A72A1"/>
                </a:solidFill>
                <a:latin typeface="Arial"/>
                <a:cs typeface="Arial"/>
              </a:rPr>
              <a:t>•</a:t>
            </a:r>
            <a:r>
              <a:rPr dirty="0" sz="2000" spc="110">
                <a:solidFill>
                  <a:srgbClr val="2A72A1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67322" y="5401565"/>
            <a:ext cx="35941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60" b="1">
                <a:solidFill>
                  <a:srgbClr val="545454"/>
                </a:solidFill>
                <a:latin typeface="Times New Roman"/>
                <a:cs typeface="Times New Roman"/>
              </a:rPr>
              <a:t>10</a:t>
            </a:r>
            <a:r>
              <a:rPr dirty="0" sz="1000" spc="60" b="1">
                <a:solidFill>
                  <a:srgbClr val="808080"/>
                </a:solidFill>
                <a:latin typeface="Times New Roman"/>
                <a:cs typeface="Times New Roman"/>
              </a:rPr>
              <a:t>.</a:t>
            </a:r>
            <a:r>
              <a:rPr dirty="0" sz="1000" spc="60" b="1">
                <a:solidFill>
                  <a:srgbClr val="545454"/>
                </a:solidFill>
                <a:latin typeface="Times New Roman"/>
                <a:cs typeface="Times New Roman"/>
              </a:rPr>
              <a:t>75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15292" y="5347587"/>
            <a:ext cx="12890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60">
                <a:solidFill>
                  <a:srgbClr val="2A72A1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52663" y="5550513"/>
            <a:ext cx="193040" cy="293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750" spc="-285">
                <a:solidFill>
                  <a:srgbClr val="545454"/>
                </a:solidFill>
                <a:latin typeface="Arial"/>
                <a:cs typeface="Arial"/>
              </a:rPr>
              <a:t>.</a:t>
            </a:r>
            <a:r>
              <a:rPr dirty="0" baseline="37037" sz="900" spc="-427" b="1">
                <a:solidFill>
                  <a:srgbClr val="545454"/>
                </a:solidFill>
                <a:latin typeface="Arial"/>
                <a:cs typeface="Arial"/>
              </a:rPr>
              <a:t>Q</a:t>
            </a:r>
            <a:r>
              <a:rPr dirty="0" sz="1750" spc="-285">
                <a:solidFill>
                  <a:srgbClr val="545454"/>
                </a:solidFill>
                <a:latin typeface="Arial"/>
                <a:cs typeface="Arial"/>
              </a:rPr>
              <a:t>..</a:t>
            </a:r>
            <a:r>
              <a:rPr dirty="0" baseline="37037" sz="900" spc="-427" b="1">
                <a:solidFill>
                  <a:srgbClr val="545454"/>
                </a:solidFill>
                <a:latin typeface="Arial"/>
                <a:cs typeface="Arial"/>
              </a:rPr>
              <a:t>J</a:t>
            </a:r>
            <a:endParaRPr baseline="37037" sz="9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017231" y="5408694"/>
            <a:ext cx="140335" cy="771525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35"/>
              </a:spcBef>
            </a:pPr>
            <a:r>
              <a:rPr dirty="0" sz="2000" spc="-50">
                <a:solidFill>
                  <a:srgbClr val="2A72A1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marL="85090">
              <a:lnSpc>
                <a:spcPct val="100000"/>
              </a:lnSpc>
              <a:spcBef>
                <a:spcPts val="535"/>
              </a:spcBef>
            </a:pPr>
            <a:r>
              <a:rPr dirty="0" sz="2000" spc="-325">
                <a:solidFill>
                  <a:srgbClr val="2A72A1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420915" y="5543131"/>
            <a:ext cx="5461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000" spc="-325">
                <a:solidFill>
                  <a:srgbClr val="2A72A1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623095" y="5561717"/>
            <a:ext cx="53340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950" spc="-325">
                <a:solidFill>
                  <a:srgbClr val="2A72A1"/>
                </a:solidFill>
                <a:latin typeface="Arial"/>
                <a:cs typeface="Arial"/>
              </a:rPr>
              <a:t>•</a:t>
            </a:r>
            <a:endParaRPr sz="19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189754" y="5745038"/>
            <a:ext cx="57785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60">
                <a:solidFill>
                  <a:srgbClr val="545454"/>
                </a:solidFill>
                <a:latin typeface="Arial"/>
                <a:cs typeface="Arial"/>
              </a:rPr>
              <a:t>:,</a:t>
            </a:r>
            <a:endParaRPr sz="75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42883" y="5709391"/>
            <a:ext cx="608965" cy="293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000" spc="-835">
                <a:solidFill>
                  <a:srgbClr val="545454"/>
                </a:solidFill>
                <a:latin typeface="Times New Roman"/>
                <a:cs typeface="Times New Roman"/>
              </a:rPr>
              <a:t>�</a:t>
            </a:r>
            <a:r>
              <a:rPr dirty="0" baseline="-22222" sz="2625" spc="-277">
                <a:solidFill>
                  <a:srgbClr val="545454"/>
                </a:solidFill>
                <a:latin typeface="Arial"/>
                <a:cs typeface="Arial"/>
              </a:rPr>
              <a:t>..</a:t>
            </a:r>
            <a:r>
              <a:rPr dirty="0" baseline="-22222" sz="2625" spc="-262">
                <a:solidFill>
                  <a:srgbClr val="545454"/>
                </a:solidFill>
                <a:latin typeface="Arial"/>
                <a:cs typeface="Arial"/>
              </a:rPr>
              <a:t>.</a:t>
            </a:r>
            <a:r>
              <a:rPr dirty="0" baseline="-22222" sz="2625" spc="172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1000" spc="60" b="1">
                <a:solidFill>
                  <a:srgbClr val="545454"/>
                </a:solidFill>
                <a:latin typeface="Times New Roman"/>
                <a:cs typeface="Times New Roman"/>
              </a:rPr>
              <a:t>10</a:t>
            </a:r>
            <a:r>
              <a:rPr dirty="0" sz="1000" spc="60" b="1">
                <a:solidFill>
                  <a:srgbClr val="808080"/>
                </a:solidFill>
                <a:latin typeface="Times New Roman"/>
                <a:cs typeface="Times New Roman"/>
              </a:rPr>
              <a:t>.</a:t>
            </a:r>
            <a:r>
              <a:rPr dirty="0" sz="1000" spc="60" b="1">
                <a:solidFill>
                  <a:srgbClr val="545454"/>
                </a:solidFill>
                <a:latin typeface="Times New Roman"/>
                <a:cs typeface="Times New Roman"/>
              </a:rPr>
              <a:t>50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576379" y="5732561"/>
            <a:ext cx="173355" cy="7391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020"/>
              </a:lnSpc>
              <a:spcBef>
                <a:spcPts val="105"/>
              </a:spcBef>
            </a:pPr>
            <a:r>
              <a:rPr dirty="0" sz="2000" spc="60">
                <a:solidFill>
                  <a:srgbClr val="2A72A1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marL="73660">
              <a:lnSpc>
                <a:spcPts val="1635"/>
              </a:lnSpc>
            </a:pPr>
            <a:r>
              <a:rPr dirty="0" sz="2000" spc="-50">
                <a:solidFill>
                  <a:srgbClr val="2A72A1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marL="37465">
              <a:lnSpc>
                <a:spcPts val="1960"/>
              </a:lnSpc>
            </a:pPr>
            <a:r>
              <a:rPr dirty="0" sz="1950" spc="-50">
                <a:solidFill>
                  <a:srgbClr val="2A72A1"/>
                </a:solidFill>
                <a:latin typeface="Arial"/>
                <a:cs typeface="Arial"/>
              </a:rPr>
              <a:t>•</a:t>
            </a:r>
            <a:endParaRPr sz="19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050442" y="5866997"/>
            <a:ext cx="8001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325">
                <a:solidFill>
                  <a:srgbClr val="2A72A1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122750" y="6026893"/>
            <a:ext cx="636270" cy="726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4455">
              <a:lnSpc>
                <a:spcPts val="675"/>
              </a:lnSpc>
              <a:spcBef>
                <a:spcPts val="100"/>
              </a:spcBef>
            </a:pPr>
            <a:r>
              <a:rPr dirty="0" sz="600" spc="-25" b="1">
                <a:solidFill>
                  <a:srgbClr val="545454"/>
                </a:solidFill>
                <a:latin typeface="Arial"/>
                <a:cs typeface="Arial"/>
              </a:rPr>
              <a:t>QJ</a:t>
            </a:r>
            <a:endParaRPr sz="600">
              <a:latin typeface="Arial"/>
              <a:cs typeface="Arial"/>
            </a:endParaRPr>
          </a:p>
          <a:p>
            <a:pPr marL="85090">
              <a:lnSpc>
                <a:spcPts val="120"/>
              </a:lnSpc>
            </a:pPr>
            <a:r>
              <a:rPr dirty="0" sz="600" spc="-25" b="1">
                <a:solidFill>
                  <a:srgbClr val="545454"/>
                </a:solidFill>
                <a:latin typeface="Times New Roman"/>
                <a:cs typeface="Times New Roman"/>
              </a:rPr>
              <a:t>Q.</a:t>
            </a:r>
            <a:endParaRPr sz="600">
              <a:latin typeface="Times New Roman"/>
              <a:cs typeface="Times New Roman"/>
            </a:endParaRPr>
          </a:p>
          <a:p>
            <a:pPr marL="38100">
              <a:lnSpc>
                <a:spcPts val="1845"/>
              </a:lnSpc>
            </a:pPr>
            <a:r>
              <a:rPr dirty="0" baseline="-29166" sz="3000" spc="-1829">
                <a:solidFill>
                  <a:srgbClr val="545454"/>
                </a:solidFill>
                <a:latin typeface="Arial"/>
                <a:cs typeface="Arial"/>
              </a:rPr>
              <a:t>�</a:t>
            </a:r>
            <a:r>
              <a:rPr dirty="0" sz="1000" spc="-85">
                <a:solidFill>
                  <a:srgbClr val="545454"/>
                </a:solidFill>
                <a:latin typeface="Arial"/>
                <a:cs typeface="Arial"/>
              </a:rPr>
              <a:t>E</a:t>
            </a:r>
            <a:r>
              <a:rPr dirty="0" sz="1000" spc="445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545454"/>
                </a:solidFill>
                <a:latin typeface="Arial"/>
                <a:cs typeface="Arial"/>
              </a:rPr>
              <a:t>10</a:t>
            </a:r>
            <a:r>
              <a:rPr dirty="0" sz="1000" spc="-10">
                <a:solidFill>
                  <a:srgbClr val="808080"/>
                </a:solidFill>
                <a:latin typeface="Arial"/>
                <a:cs typeface="Arial"/>
              </a:rPr>
              <a:t>.</a:t>
            </a:r>
            <a:r>
              <a:rPr dirty="0" sz="1000" spc="-10">
                <a:solidFill>
                  <a:srgbClr val="545454"/>
                </a:solidFill>
                <a:latin typeface="Arial"/>
                <a:cs typeface="Arial"/>
              </a:rPr>
              <a:t>25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000">
              <a:latin typeface="Arial"/>
              <a:cs typeface="Arial"/>
            </a:endParaRPr>
          </a:p>
          <a:p>
            <a:pPr marL="257175">
              <a:lnSpc>
                <a:spcPct val="100000"/>
              </a:lnSpc>
            </a:pPr>
            <a:r>
              <a:rPr dirty="0" sz="1000" spc="60" b="1">
                <a:solidFill>
                  <a:srgbClr val="545454"/>
                </a:solidFill>
                <a:latin typeface="Times New Roman"/>
                <a:cs typeface="Times New Roman"/>
              </a:rPr>
              <a:t>10</a:t>
            </a:r>
            <a:r>
              <a:rPr dirty="0" sz="1000" spc="60" b="1">
                <a:solidFill>
                  <a:srgbClr val="808080"/>
                </a:solidFill>
                <a:latin typeface="Times New Roman"/>
                <a:cs typeface="Times New Roman"/>
              </a:rPr>
              <a:t>.</a:t>
            </a:r>
            <a:r>
              <a:rPr dirty="0" sz="1000" spc="60" b="1">
                <a:solidFill>
                  <a:srgbClr val="545454"/>
                </a:solidFill>
                <a:latin typeface="Times New Roman"/>
                <a:cs typeface="Times New Roman"/>
              </a:rPr>
              <a:t>00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914868" y="6068650"/>
            <a:ext cx="34099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2000" spc="-25">
                <a:solidFill>
                  <a:srgbClr val="2A72A1"/>
                </a:solidFill>
                <a:latin typeface="Arial"/>
                <a:cs typeface="Arial"/>
              </a:rPr>
              <a:t>••</a:t>
            </a:r>
            <a:r>
              <a:rPr dirty="0" baseline="-26388" sz="3000" spc="-37">
                <a:solidFill>
                  <a:srgbClr val="2A72A1"/>
                </a:solidFill>
                <a:latin typeface="Arial"/>
                <a:cs typeface="Arial"/>
              </a:rPr>
              <a:t>•</a:t>
            </a:r>
            <a:endParaRPr baseline="-26388" sz="30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980531" y="6123646"/>
            <a:ext cx="19304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000" spc="25">
                <a:solidFill>
                  <a:srgbClr val="2A72A1"/>
                </a:solidFill>
                <a:latin typeface="Arial"/>
                <a:cs typeface="Arial"/>
              </a:rPr>
              <a:t>••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313371" y="6270303"/>
            <a:ext cx="149860" cy="5448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1594">
              <a:lnSpc>
                <a:spcPts val="2039"/>
              </a:lnSpc>
              <a:spcBef>
                <a:spcPts val="105"/>
              </a:spcBef>
            </a:pPr>
            <a:r>
              <a:rPr dirty="0" sz="2000" spc="-55">
                <a:solidFill>
                  <a:srgbClr val="2A72A1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039"/>
              </a:lnSpc>
            </a:pPr>
            <a:r>
              <a:rPr dirty="0" sz="2000" spc="60">
                <a:solidFill>
                  <a:srgbClr val="2A72A1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682444" y="6386407"/>
            <a:ext cx="33909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2A72A1"/>
                </a:solidFill>
                <a:latin typeface="Arial"/>
                <a:cs typeface="Arial"/>
              </a:rPr>
              <a:t>•</a:t>
            </a:r>
            <a:r>
              <a:rPr dirty="0" sz="2000" spc="-10">
                <a:solidFill>
                  <a:srgbClr val="2A72A1"/>
                </a:solidFill>
                <a:latin typeface="Arial"/>
                <a:cs typeface="Arial"/>
              </a:rPr>
              <a:t> </a:t>
            </a:r>
            <a:r>
              <a:rPr dirty="0" baseline="-18055" sz="3000" spc="89">
                <a:solidFill>
                  <a:srgbClr val="2A72A1"/>
                </a:solidFill>
                <a:latin typeface="Arial"/>
                <a:cs typeface="Arial"/>
              </a:rPr>
              <a:t>•</a:t>
            </a:r>
            <a:endParaRPr baseline="-18055" sz="30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695610" y="6685830"/>
            <a:ext cx="36703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aseline="22222" sz="3000" spc="165">
                <a:solidFill>
                  <a:srgbClr val="2A72A1"/>
                </a:solidFill>
                <a:latin typeface="Arial"/>
                <a:cs typeface="Arial"/>
              </a:rPr>
              <a:t>•</a:t>
            </a:r>
            <a:r>
              <a:rPr dirty="0" baseline="22222" sz="3000" spc="-472">
                <a:solidFill>
                  <a:srgbClr val="2A72A1"/>
                </a:solidFill>
                <a:latin typeface="Arial"/>
                <a:cs typeface="Arial"/>
              </a:rPr>
              <a:t> </a:t>
            </a:r>
            <a:r>
              <a:rPr dirty="0" sz="2000" spc="80">
                <a:solidFill>
                  <a:srgbClr val="2A72A1"/>
                </a:solidFill>
                <a:latin typeface="Arial"/>
                <a:cs typeface="Arial"/>
              </a:rPr>
              <a:t>••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445180" y="6965904"/>
            <a:ext cx="28130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0" b="1">
                <a:solidFill>
                  <a:srgbClr val="545454"/>
                </a:solidFill>
                <a:latin typeface="Times New Roman"/>
                <a:cs typeface="Times New Roman"/>
              </a:rPr>
              <a:t>9</a:t>
            </a:r>
            <a:r>
              <a:rPr dirty="0" sz="1000" spc="40" b="1">
                <a:solidFill>
                  <a:srgbClr val="808080"/>
                </a:solidFill>
                <a:latin typeface="Times New Roman"/>
                <a:cs typeface="Times New Roman"/>
              </a:rPr>
              <a:t>.</a:t>
            </a:r>
            <a:r>
              <a:rPr dirty="0" sz="1000" spc="40" b="1">
                <a:solidFill>
                  <a:srgbClr val="545454"/>
                </a:solidFill>
                <a:latin typeface="Times New Roman"/>
                <a:cs typeface="Times New Roman"/>
              </a:rPr>
              <a:t>75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964728" y="7190217"/>
            <a:ext cx="9080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10">
                <a:solidFill>
                  <a:srgbClr val="2A72A1"/>
                </a:solidFill>
                <a:latin typeface="Times New Roman"/>
                <a:cs typeface="Times New Roman"/>
              </a:rPr>
              <a:t>I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156429" y="7144132"/>
            <a:ext cx="35560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2000" spc="-25">
                <a:solidFill>
                  <a:srgbClr val="2A72A1"/>
                </a:solidFill>
                <a:latin typeface="Arial"/>
                <a:cs typeface="Arial"/>
              </a:rPr>
              <a:t>••</a:t>
            </a:r>
            <a:r>
              <a:rPr dirty="0" baseline="27777" sz="3000" spc="-37">
                <a:solidFill>
                  <a:srgbClr val="2A72A1"/>
                </a:solidFill>
                <a:latin typeface="Arial"/>
                <a:cs typeface="Arial"/>
              </a:rPr>
              <a:t>•</a:t>
            </a:r>
            <a:endParaRPr baseline="27777" sz="30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445180" y="7363099"/>
            <a:ext cx="28130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0" b="1">
                <a:solidFill>
                  <a:srgbClr val="545454"/>
                </a:solidFill>
                <a:latin typeface="Times New Roman"/>
                <a:cs typeface="Times New Roman"/>
              </a:rPr>
              <a:t>9</a:t>
            </a:r>
            <a:r>
              <a:rPr dirty="0" sz="1000" spc="40" b="1">
                <a:solidFill>
                  <a:srgbClr val="808080"/>
                </a:solidFill>
                <a:latin typeface="Times New Roman"/>
                <a:cs typeface="Times New Roman"/>
              </a:rPr>
              <a:t>.</a:t>
            </a:r>
            <a:r>
              <a:rPr dirty="0" sz="1000" spc="40" b="1">
                <a:solidFill>
                  <a:srgbClr val="545454"/>
                </a:solidFill>
                <a:latin typeface="Times New Roman"/>
                <a:cs typeface="Times New Roman"/>
              </a:rPr>
              <a:t>50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634446" y="7235793"/>
            <a:ext cx="12763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45">
                <a:solidFill>
                  <a:srgbClr val="2A72A1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797767" y="7388815"/>
            <a:ext cx="723265" cy="3238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10870" algn="l"/>
              </a:tabLst>
            </a:pPr>
            <a:r>
              <a:rPr dirty="0" u="sng" sz="1950">
                <a:solidFill>
                  <a:srgbClr val="2A72A1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u="none" sz="1950" spc="35">
                <a:solidFill>
                  <a:srgbClr val="2A72A1"/>
                </a:solidFill>
                <a:latin typeface="Arial"/>
                <a:cs typeface="Arial"/>
              </a:rPr>
              <a:t>•</a:t>
            </a:r>
            <a:endParaRPr sz="19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826310" y="7754184"/>
            <a:ext cx="90424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73100" algn="l"/>
              </a:tabLst>
            </a:pPr>
            <a:r>
              <a:rPr dirty="0" sz="1000" spc="45" b="1">
                <a:solidFill>
                  <a:srgbClr val="545454"/>
                </a:solidFill>
                <a:latin typeface="Times New Roman"/>
                <a:cs typeface="Times New Roman"/>
              </a:rPr>
              <a:t>350</a:t>
            </a:r>
            <a:r>
              <a:rPr dirty="0" sz="1000" b="1">
                <a:solidFill>
                  <a:srgbClr val="545454"/>
                </a:solidFill>
                <a:latin typeface="Times New Roman"/>
                <a:cs typeface="Times New Roman"/>
              </a:rPr>
              <a:t>	</a:t>
            </a:r>
            <a:r>
              <a:rPr dirty="0" sz="1000" spc="45" b="1">
                <a:solidFill>
                  <a:srgbClr val="545454"/>
                </a:solidFill>
                <a:latin typeface="Times New Roman"/>
                <a:cs typeface="Times New Roman"/>
              </a:rPr>
              <a:t>360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159696" y="7754184"/>
            <a:ext cx="24384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5" b="1">
                <a:solidFill>
                  <a:srgbClr val="545454"/>
                </a:solidFill>
                <a:latin typeface="Times New Roman"/>
                <a:cs typeface="Times New Roman"/>
              </a:rPr>
              <a:t>370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669145" y="7735852"/>
            <a:ext cx="730250" cy="367665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169545">
              <a:lnSpc>
                <a:spcPct val="100000"/>
              </a:lnSpc>
              <a:spcBef>
                <a:spcPts val="245"/>
              </a:spcBef>
            </a:pPr>
            <a:r>
              <a:rPr dirty="0" sz="1000" spc="45" b="1">
                <a:solidFill>
                  <a:srgbClr val="545454"/>
                </a:solidFill>
                <a:latin typeface="Times New Roman"/>
                <a:cs typeface="Times New Roman"/>
              </a:rPr>
              <a:t>380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dirty="0" sz="1000">
                <a:solidFill>
                  <a:srgbClr val="545454"/>
                </a:solidFill>
                <a:latin typeface="Arial"/>
                <a:cs typeface="Arial"/>
              </a:rPr>
              <a:t>CO2</a:t>
            </a:r>
            <a:r>
              <a:rPr dirty="0" sz="1000" spc="30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545454"/>
                </a:solidFill>
                <a:latin typeface="Arial"/>
                <a:cs typeface="Arial"/>
              </a:rPr>
              <a:t>Levels</a:t>
            </a:r>
            <a:endParaRPr sz="10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493082" y="7754184"/>
            <a:ext cx="24384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5" b="1">
                <a:solidFill>
                  <a:srgbClr val="545454"/>
                </a:solidFill>
                <a:latin typeface="Times New Roman"/>
                <a:cs typeface="Times New Roman"/>
              </a:rPr>
              <a:t>390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158626" y="7754184"/>
            <a:ext cx="24384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5" b="1">
                <a:solidFill>
                  <a:srgbClr val="545454"/>
                </a:solidFill>
                <a:latin typeface="Times New Roman"/>
                <a:cs typeface="Times New Roman"/>
              </a:rPr>
              <a:t>400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825320" y="7754184"/>
            <a:ext cx="24384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45" b="1">
                <a:solidFill>
                  <a:srgbClr val="545454"/>
                </a:solidFill>
                <a:latin typeface="Times New Roman"/>
                <a:cs typeface="Times New Roman"/>
              </a:rPr>
              <a:t>410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30954" y="3934457"/>
            <a:ext cx="4440555" cy="3312160"/>
          </a:xfrm>
          <a:custGeom>
            <a:avLst/>
            <a:gdLst/>
            <a:ahLst/>
            <a:cxnLst/>
            <a:rect l="l" t="t" r="r" b="b"/>
            <a:pathLst>
              <a:path w="4440555" h="3312159">
                <a:moveTo>
                  <a:pt x="4434423" y="3311998"/>
                </a:moveTo>
                <a:lnTo>
                  <a:pt x="4434423" y="0"/>
                </a:lnTo>
              </a:path>
              <a:path w="4440555" h="3312159">
                <a:moveTo>
                  <a:pt x="0" y="6110"/>
                </a:moveTo>
                <a:lnTo>
                  <a:pt x="4440539" y="6110"/>
                </a:lnTo>
              </a:path>
            </a:pathLst>
          </a:custGeom>
          <a:ln w="1222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00960" y="7735311"/>
            <a:ext cx="5162550" cy="0"/>
          </a:xfrm>
          <a:custGeom>
            <a:avLst/>
            <a:gdLst/>
            <a:ahLst/>
            <a:cxnLst/>
            <a:rect l="l" t="t" r="r" b="b"/>
            <a:pathLst>
              <a:path w="5162550" h="0">
                <a:moveTo>
                  <a:pt x="0" y="0"/>
                </a:moveTo>
                <a:lnTo>
                  <a:pt x="5162280" y="0"/>
                </a:lnTo>
              </a:path>
            </a:pathLst>
          </a:custGeom>
          <a:ln w="1833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724837" y="4050560"/>
            <a:ext cx="0" cy="3141345"/>
          </a:xfrm>
          <a:custGeom>
            <a:avLst/>
            <a:gdLst/>
            <a:ahLst/>
            <a:cxnLst/>
            <a:rect l="l" t="t" r="r" b="b"/>
            <a:pathLst>
              <a:path w="0" h="3141345">
                <a:moveTo>
                  <a:pt x="0" y="3140898"/>
                </a:moveTo>
                <a:lnTo>
                  <a:pt x="0" y="0"/>
                </a:lnTo>
              </a:path>
            </a:pathLst>
          </a:custGeom>
          <a:ln w="1834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503034" y="846549"/>
            <a:ext cx="25336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5" b="1" i="1">
                <a:latin typeface="Arial"/>
                <a:cs typeface="Arial"/>
              </a:rPr>
              <a:t>13</a:t>
            </a:r>
            <a:endParaRPr sz="1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2581" y="1311471"/>
            <a:ext cx="5178425" cy="1586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100"/>
              </a:spcBef>
            </a:pPr>
            <a:r>
              <a:rPr dirty="0" sz="1400" spc="-65" b="1" i="1">
                <a:solidFill>
                  <a:srgbClr val="5270A5"/>
                </a:solidFill>
                <a:latin typeface="Arial"/>
                <a:cs typeface="Arial"/>
              </a:rPr>
              <a:t>CO2</a:t>
            </a:r>
            <a:r>
              <a:rPr dirty="0" sz="1400" spc="-35" b="1" i="1">
                <a:solidFill>
                  <a:srgbClr val="5270A5"/>
                </a:solidFill>
                <a:latin typeface="Arial"/>
                <a:cs typeface="Arial"/>
              </a:rPr>
              <a:t> </a:t>
            </a:r>
            <a:r>
              <a:rPr dirty="0" sz="1400" spc="-80" b="1" i="1">
                <a:solidFill>
                  <a:srgbClr val="5270A5"/>
                </a:solidFill>
                <a:latin typeface="Arial"/>
                <a:cs typeface="Arial"/>
              </a:rPr>
              <a:t>vs</a:t>
            </a:r>
            <a:r>
              <a:rPr dirty="0" sz="1400" spc="-140" b="1" i="1">
                <a:solidFill>
                  <a:srgbClr val="5270A5"/>
                </a:solidFill>
                <a:latin typeface="Arial"/>
                <a:cs typeface="Arial"/>
              </a:rPr>
              <a:t> </a:t>
            </a:r>
            <a:r>
              <a:rPr dirty="0" sz="1400" spc="-10" b="1" i="1">
                <a:solidFill>
                  <a:srgbClr val="5270A5"/>
                </a:solidFill>
                <a:latin typeface="Arial"/>
                <a:cs typeface="Arial"/>
              </a:rPr>
              <a:t>Temperature</a:t>
            </a:r>
            <a:r>
              <a:rPr dirty="0" sz="1400" spc="-85" b="1" i="1">
                <a:solidFill>
                  <a:srgbClr val="5270A5"/>
                </a:solidFill>
                <a:latin typeface="Arial"/>
                <a:cs typeface="Arial"/>
              </a:rPr>
              <a:t> </a:t>
            </a:r>
            <a:r>
              <a:rPr dirty="0" sz="1400" spc="-20" b="1" i="1">
                <a:solidFill>
                  <a:srgbClr val="5270A5"/>
                </a:solidFill>
                <a:latin typeface="Arial"/>
                <a:cs typeface="Arial"/>
              </a:rPr>
              <a:t>Scatter</a:t>
            </a:r>
            <a:r>
              <a:rPr dirty="0" sz="1400" spc="-35" b="1" i="1">
                <a:solidFill>
                  <a:srgbClr val="5270A5"/>
                </a:solidFill>
                <a:latin typeface="Arial"/>
                <a:cs typeface="Arial"/>
              </a:rPr>
              <a:t> </a:t>
            </a:r>
            <a:r>
              <a:rPr dirty="0" sz="1400" spc="-20" b="1" i="1">
                <a:solidFill>
                  <a:srgbClr val="5270A5"/>
                </a:solidFill>
                <a:latin typeface="Arial"/>
                <a:cs typeface="Arial"/>
              </a:rPr>
              <a:t>Plot</a:t>
            </a:r>
            <a:endParaRPr sz="1400">
              <a:latin typeface="Arial"/>
              <a:cs typeface="Arial"/>
            </a:endParaRPr>
          </a:p>
          <a:p>
            <a:pPr marL="285115" marR="43180" indent="-233679">
              <a:lnSpc>
                <a:spcPts val="1830"/>
              </a:lnSpc>
              <a:spcBef>
                <a:spcPts val="1580"/>
              </a:spcBef>
              <a:buClr>
                <a:srgbClr val="161616"/>
              </a:buClr>
              <a:buSzPct val="63333"/>
              <a:buFont typeface="Arial"/>
              <a:buChar char="✓"/>
              <a:tabLst>
                <a:tab pos="288290" algn="l"/>
              </a:tabLst>
            </a:pPr>
            <a:r>
              <a:rPr dirty="0" sz="1500" i="1">
                <a:latin typeface="Arial"/>
                <a:cs typeface="Arial"/>
              </a:rPr>
              <a:t>Shows</a:t>
            </a:r>
            <a:r>
              <a:rPr dirty="0" sz="1500" spc="145" i="1"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161616"/>
                </a:solidFill>
                <a:latin typeface="Times New Roman"/>
                <a:cs typeface="Times New Roman"/>
              </a:rPr>
              <a:t>a</a:t>
            </a:r>
            <a:r>
              <a:rPr dirty="0" sz="1700" spc="100" b="1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500" b="1" i="1">
                <a:latin typeface="Arial"/>
                <a:cs typeface="Arial"/>
              </a:rPr>
              <a:t>positive</a:t>
            </a:r>
            <a:r>
              <a:rPr dirty="0" sz="1500" spc="85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correlation</a:t>
            </a:r>
            <a:r>
              <a:rPr dirty="0" sz="1500" spc="254" b="1" i="1"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61616"/>
                </a:solidFill>
                <a:latin typeface="Arial"/>
                <a:cs typeface="Arial"/>
              </a:rPr>
              <a:t>between</a:t>
            </a:r>
            <a:r>
              <a:rPr dirty="0" sz="1500" spc="110" i="1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1500" i="1">
                <a:latin typeface="Arial"/>
                <a:cs typeface="Arial"/>
              </a:rPr>
              <a:t>CO</a:t>
            </a:r>
            <a:r>
              <a:rPr dirty="0" baseline="-13888" sz="1500" i="1">
                <a:solidFill>
                  <a:srgbClr val="313131"/>
                </a:solidFill>
                <a:latin typeface="Times New Roman"/>
                <a:cs typeface="Times New Roman"/>
              </a:rPr>
              <a:t>2</a:t>
            </a:r>
            <a:r>
              <a:rPr dirty="0" baseline="-13888" sz="1500" spc="232" i="1">
                <a:solidFill>
                  <a:srgbClr val="313131"/>
                </a:solidFill>
                <a:latin typeface="Times New Roman"/>
                <a:cs typeface="Times New Roman"/>
              </a:rPr>
              <a:t>  </a:t>
            </a:r>
            <a:r>
              <a:rPr dirty="0" sz="1500" i="1">
                <a:latin typeface="Arial"/>
                <a:cs typeface="Arial"/>
              </a:rPr>
              <a:t>levels</a:t>
            </a:r>
            <a:r>
              <a:rPr dirty="0" sz="1500" spc="110" i="1">
                <a:latin typeface="Arial"/>
                <a:cs typeface="Arial"/>
              </a:rPr>
              <a:t> </a:t>
            </a:r>
            <a:r>
              <a:rPr dirty="0" sz="1500" spc="-25" i="1">
                <a:solidFill>
                  <a:srgbClr val="161616"/>
                </a:solidFill>
                <a:latin typeface="Arial"/>
                <a:cs typeface="Arial"/>
              </a:rPr>
              <a:t>and</a:t>
            </a:r>
            <a:r>
              <a:rPr dirty="0" sz="1500" spc="-25" i="1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1500" spc="-25" i="1">
                <a:solidFill>
                  <a:srgbClr val="161616"/>
                </a:solidFill>
                <a:latin typeface="Arial"/>
                <a:cs typeface="Arial"/>
              </a:rPr>
              <a:t>	</a:t>
            </a:r>
            <a:r>
              <a:rPr dirty="0" sz="1500" spc="-10" i="1">
                <a:solidFill>
                  <a:srgbClr val="161616"/>
                </a:solidFill>
                <a:latin typeface="Arial"/>
                <a:cs typeface="Arial"/>
              </a:rPr>
              <a:t>temperature.</a:t>
            </a:r>
            <a:endParaRPr sz="1500">
              <a:latin typeface="Arial"/>
              <a:cs typeface="Arial"/>
            </a:endParaRPr>
          </a:p>
          <a:p>
            <a:pPr marL="290195" indent="-239395">
              <a:lnSpc>
                <a:spcPts val="1650"/>
              </a:lnSpc>
              <a:buSzPct val="66666"/>
              <a:buFont typeface="Arial"/>
              <a:buChar char="✓"/>
              <a:tabLst>
                <a:tab pos="290195" algn="l"/>
              </a:tabLst>
            </a:pPr>
            <a:r>
              <a:rPr dirty="0" sz="1500" spc="50" i="1">
                <a:solidFill>
                  <a:srgbClr val="161616"/>
                </a:solidFill>
                <a:latin typeface="Arial"/>
                <a:cs typeface="Arial"/>
              </a:rPr>
              <a:t>As</a:t>
            </a:r>
            <a:r>
              <a:rPr dirty="0" sz="1500" spc="-5" i="1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1500" i="1">
                <a:latin typeface="Arial"/>
                <a:cs typeface="Arial"/>
              </a:rPr>
              <a:t>CO</a:t>
            </a:r>
            <a:r>
              <a:rPr dirty="0" baseline="-13888" sz="1500" i="1">
                <a:solidFill>
                  <a:srgbClr val="424242"/>
                </a:solidFill>
                <a:latin typeface="Times New Roman"/>
                <a:cs typeface="Times New Roman"/>
              </a:rPr>
              <a:t>2</a:t>
            </a:r>
            <a:r>
              <a:rPr dirty="0" baseline="-13888" sz="1500" spc="202" i="1">
                <a:solidFill>
                  <a:srgbClr val="424242"/>
                </a:solidFill>
                <a:latin typeface="Times New Roman"/>
                <a:cs typeface="Times New Roman"/>
              </a:rPr>
              <a:t>  </a:t>
            </a:r>
            <a:r>
              <a:rPr dirty="0" sz="1500" i="1">
                <a:solidFill>
                  <a:srgbClr val="161616"/>
                </a:solidFill>
                <a:latin typeface="Arial"/>
                <a:cs typeface="Arial"/>
              </a:rPr>
              <a:t>increases</a:t>
            </a:r>
            <a:r>
              <a:rPr dirty="0" sz="1500" i="1">
                <a:solidFill>
                  <a:srgbClr val="545454"/>
                </a:solidFill>
                <a:latin typeface="Arial"/>
                <a:cs typeface="Arial"/>
              </a:rPr>
              <a:t>,</a:t>
            </a:r>
            <a:r>
              <a:rPr dirty="0" sz="1500" spc="180" i="1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61616"/>
                </a:solidFill>
                <a:latin typeface="Arial"/>
                <a:cs typeface="Arial"/>
              </a:rPr>
              <a:t>temperature</a:t>
            </a:r>
            <a:r>
              <a:rPr dirty="0" sz="1500" spc="125" i="1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61616"/>
                </a:solidFill>
                <a:latin typeface="Arial"/>
                <a:cs typeface="Arial"/>
              </a:rPr>
              <a:t>also</a:t>
            </a:r>
            <a:r>
              <a:rPr dirty="0" sz="1500" spc="-10" i="1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61616"/>
                </a:solidFill>
                <a:latin typeface="Arial"/>
                <a:cs typeface="Arial"/>
              </a:rPr>
              <a:t>tends</a:t>
            </a:r>
            <a:r>
              <a:rPr dirty="0" sz="1500" spc="160" i="1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61616"/>
                </a:solidFill>
                <a:latin typeface="Arial"/>
                <a:cs typeface="Arial"/>
              </a:rPr>
              <a:t>to</a:t>
            </a:r>
            <a:r>
              <a:rPr dirty="0" sz="1500" spc="165" i="1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61616"/>
                </a:solidFill>
                <a:latin typeface="Arial"/>
                <a:cs typeface="Arial"/>
              </a:rPr>
              <a:t>rise.</a:t>
            </a:r>
            <a:endParaRPr sz="1500">
              <a:latin typeface="Arial"/>
              <a:cs typeface="Arial"/>
            </a:endParaRPr>
          </a:p>
          <a:p>
            <a:pPr marL="286385" marR="147955" indent="-236220">
              <a:lnSpc>
                <a:spcPts val="1830"/>
              </a:lnSpc>
              <a:spcBef>
                <a:spcPts val="125"/>
              </a:spcBef>
              <a:buChar char="✓"/>
              <a:tabLst>
                <a:tab pos="286385" algn="l"/>
                <a:tab pos="287655" algn="l"/>
              </a:tabLst>
            </a:pPr>
            <a:r>
              <a:rPr dirty="0" sz="1000">
                <a:solidFill>
                  <a:srgbClr val="161616"/>
                </a:solidFill>
                <a:latin typeface="Arial"/>
                <a:cs typeface="Arial"/>
              </a:rPr>
              <a:t>	</a:t>
            </a:r>
            <a:r>
              <a:rPr dirty="0" sz="1500" i="1">
                <a:latin typeface="Arial"/>
                <a:cs typeface="Arial"/>
              </a:rPr>
              <a:t>Indicates</a:t>
            </a:r>
            <a:r>
              <a:rPr dirty="0" sz="1500" spc="105" i="1">
                <a:latin typeface="Arial"/>
                <a:cs typeface="Arial"/>
              </a:rPr>
              <a:t> </a:t>
            </a:r>
            <a:r>
              <a:rPr dirty="0" sz="1700" b="1">
                <a:solidFill>
                  <a:srgbClr val="161616"/>
                </a:solidFill>
                <a:latin typeface="Times New Roman"/>
                <a:cs typeface="Times New Roman"/>
              </a:rPr>
              <a:t>a</a:t>
            </a:r>
            <a:r>
              <a:rPr dirty="0" sz="1700" spc="150" b="1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500" b="1" i="1">
                <a:latin typeface="Arial"/>
                <a:cs typeface="Arial"/>
              </a:rPr>
              <a:t>linear</a:t>
            </a:r>
            <a:r>
              <a:rPr dirty="0" sz="1500" spc="19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relationship,</a:t>
            </a:r>
            <a:r>
              <a:rPr dirty="0" sz="1500" spc="325" b="1" i="1"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61616"/>
                </a:solidFill>
                <a:latin typeface="Arial"/>
                <a:cs typeface="Arial"/>
              </a:rPr>
              <a:t>supporting</a:t>
            </a:r>
            <a:r>
              <a:rPr dirty="0" sz="1500" spc="185" i="1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61616"/>
                </a:solidFill>
                <a:latin typeface="Arial"/>
                <a:cs typeface="Arial"/>
              </a:rPr>
              <a:t>regression</a:t>
            </a:r>
            <a:r>
              <a:rPr dirty="0" sz="1500" spc="-10" i="1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latin typeface="Arial"/>
                <a:cs typeface="Arial"/>
              </a:rPr>
              <a:t>modeling.</a:t>
            </a:r>
            <a:endParaRPr sz="15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83053" y="3695407"/>
            <a:ext cx="2922905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424242"/>
                </a:solidFill>
                <a:latin typeface="Arial"/>
                <a:cs typeface="Arial"/>
              </a:rPr>
              <a:t>Actual</a:t>
            </a:r>
            <a:r>
              <a:rPr dirty="0" sz="1250" spc="85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424242"/>
                </a:solidFill>
                <a:latin typeface="Arial"/>
                <a:cs typeface="Arial"/>
              </a:rPr>
              <a:t>vs</a:t>
            </a:r>
            <a:r>
              <a:rPr dirty="0" sz="1250" spc="6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313131"/>
                </a:solidFill>
                <a:latin typeface="Arial"/>
                <a:cs typeface="Arial"/>
              </a:rPr>
              <a:t>Predicted</a:t>
            </a:r>
            <a:r>
              <a:rPr dirty="0" sz="1250" spc="155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45454"/>
                </a:solidFill>
                <a:latin typeface="Arial"/>
                <a:cs typeface="Arial"/>
              </a:rPr>
              <a:t>(Linear</a:t>
            </a:r>
            <a:r>
              <a:rPr dirty="0" sz="1250" spc="155">
                <a:solidFill>
                  <a:srgbClr val="545454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313131"/>
                </a:solidFill>
                <a:latin typeface="Arial"/>
                <a:cs typeface="Arial"/>
              </a:rPr>
              <a:t>Regression)</a:t>
            </a:r>
            <a:endParaRPr sz="12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96913" y="3878219"/>
            <a:ext cx="140335" cy="4152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550" spc="-50">
                <a:solidFill>
                  <a:srgbClr val="2872A3"/>
                </a:solidFill>
                <a:latin typeface="Arial"/>
                <a:cs typeface="Arial"/>
              </a:rPr>
              <a:t>•</a:t>
            </a:r>
            <a:endParaRPr sz="25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3056" y="4136395"/>
            <a:ext cx="38671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150" b="1">
                <a:solidFill>
                  <a:srgbClr val="545454"/>
                </a:solidFill>
                <a:latin typeface="Times New Roman"/>
                <a:cs typeface="Times New Roman"/>
              </a:rPr>
              <a:t>ll</a:t>
            </a:r>
            <a:r>
              <a:rPr dirty="0" sz="1050" spc="150" b="1">
                <a:solidFill>
                  <a:srgbClr val="7E7E7E"/>
                </a:solidFill>
                <a:latin typeface="Times New Roman"/>
                <a:cs typeface="Times New Roman"/>
              </a:rPr>
              <a:t>.2</a:t>
            </a:r>
            <a:r>
              <a:rPr dirty="0" sz="1050" spc="95" b="1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dirty="0" sz="1050" spc="100">
                <a:solidFill>
                  <a:srgbClr val="545454"/>
                </a:solidFill>
                <a:latin typeface="Times New Roman"/>
                <a:cs typeface="Times New Roman"/>
              </a:rPr>
              <a:t>-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05461" y="4000432"/>
            <a:ext cx="189230" cy="4152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550" spc="345">
                <a:solidFill>
                  <a:srgbClr val="2872A3"/>
                </a:solidFill>
                <a:latin typeface="Arial"/>
                <a:cs typeface="Arial"/>
              </a:rPr>
              <a:t>•</a:t>
            </a:r>
            <a:endParaRPr sz="25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66902" y="4515260"/>
            <a:ext cx="37782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424242"/>
                </a:solidFill>
                <a:latin typeface="Times New Roman"/>
                <a:cs typeface="Times New Roman"/>
              </a:rPr>
              <a:t>11</a:t>
            </a:r>
            <a:r>
              <a:rPr dirty="0" sz="1050" b="1">
                <a:solidFill>
                  <a:srgbClr val="7E7E7E"/>
                </a:solidFill>
                <a:latin typeface="Times New Roman"/>
                <a:cs typeface="Times New Roman"/>
              </a:rPr>
              <a:t>.0</a:t>
            </a:r>
            <a:r>
              <a:rPr dirty="0" sz="1050" spc="270" b="1">
                <a:solidFill>
                  <a:srgbClr val="7E7E7E"/>
                </a:solidFill>
                <a:latin typeface="Times New Roman"/>
                <a:cs typeface="Times New Roman"/>
              </a:rPr>
              <a:t> </a:t>
            </a:r>
            <a:r>
              <a:rPr dirty="0" sz="1050" spc="-50">
                <a:solidFill>
                  <a:srgbClr val="666666"/>
                </a:solidFill>
                <a:latin typeface="Times New Roman"/>
                <a:cs typeface="Times New Roman"/>
              </a:rPr>
              <a:t>-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53823" y="4787185"/>
            <a:ext cx="169545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650" spc="-200">
                <a:solidFill>
                  <a:srgbClr val="424242"/>
                </a:solidFill>
                <a:latin typeface="Arial"/>
                <a:cs typeface="Arial"/>
              </a:rPr>
              <a:t>.</a:t>
            </a:r>
            <a:r>
              <a:rPr dirty="0" baseline="55555" sz="750" spc="-300" b="1" i="1">
                <a:solidFill>
                  <a:srgbClr val="666666"/>
                </a:solidFill>
                <a:latin typeface="Arial"/>
                <a:cs typeface="Arial"/>
              </a:rPr>
              <a:t>Q</a:t>
            </a:r>
            <a:r>
              <a:rPr dirty="0" sz="1650" spc="-200">
                <a:solidFill>
                  <a:srgbClr val="424242"/>
                </a:solidFill>
                <a:latin typeface="Arial"/>
                <a:cs typeface="Arial"/>
              </a:rPr>
              <a:t>..</a:t>
            </a:r>
            <a:r>
              <a:rPr dirty="0" baseline="55555" sz="750" spc="-300" b="1" i="1">
                <a:solidFill>
                  <a:srgbClr val="666666"/>
                </a:solidFill>
                <a:latin typeface="Arial"/>
                <a:cs typeface="Arial"/>
              </a:rPr>
              <a:t>)</a:t>
            </a:r>
            <a:endParaRPr baseline="55555" sz="7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66902" y="4900233"/>
            <a:ext cx="28321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0" b="1">
                <a:solidFill>
                  <a:srgbClr val="424242"/>
                </a:solidFill>
                <a:latin typeface="Times New Roman"/>
                <a:cs typeface="Times New Roman"/>
              </a:rPr>
              <a:t>10</a:t>
            </a:r>
            <a:r>
              <a:rPr dirty="0" sz="1050" spc="-20" b="1">
                <a:solidFill>
                  <a:srgbClr val="7E7E7E"/>
                </a:solidFill>
                <a:latin typeface="Times New Roman"/>
                <a:cs typeface="Times New Roman"/>
              </a:rPr>
              <a:t>.</a:t>
            </a:r>
            <a:r>
              <a:rPr dirty="0" sz="1050" spc="-20" b="1">
                <a:solidFill>
                  <a:srgbClr val="545454"/>
                </a:solidFill>
                <a:latin typeface="Times New Roman"/>
                <a:cs typeface="Times New Roman"/>
              </a:rPr>
              <a:t>8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4489" y="4929005"/>
            <a:ext cx="2057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400" spc="-70">
                <a:solidFill>
                  <a:srgbClr val="545454"/>
                </a:solidFill>
                <a:latin typeface="Arial"/>
                <a:cs typeface="Arial"/>
              </a:rPr>
              <a:t>.</a:t>
            </a:r>
            <a:r>
              <a:rPr dirty="0" baseline="29629" sz="1125" spc="-104">
                <a:solidFill>
                  <a:srgbClr val="545454"/>
                </a:solidFill>
                <a:latin typeface="Arial"/>
                <a:cs typeface="Arial"/>
              </a:rPr>
              <a:t>:,</a:t>
            </a:r>
            <a:r>
              <a:rPr dirty="0" sz="1400" spc="-70">
                <a:solidFill>
                  <a:srgbClr val="545454"/>
                </a:solidFill>
                <a:latin typeface="Arial"/>
                <a:cs typeface="Arial"/>
              </a:rPr>
              <a:t>.,</a:t>
            </a:r>
            <a:endParaRPr sz="14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53823" y="5037724"/>
            <a:ext cx="189865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650" spc="-295">
                <a:solidFill>
                  <a:srgbClr val="545454"/>
                </a:solidFill>
                <a:latin typeface="Arial"/>
                <a:cs typeface="Arial"/>
              </a:rPr>
              <a:t>.</a:t>
            </a:r>
            <a:r>
              <a:rPr dirty="0" baseline="20467" sz="1425" spc="-442" b="1">
                <a:solidFill>
                  <a:srgbClr val="545454"/>
                </a:solidFill>
                <a:latin typeface="Times New Roman"/>
                <a:cs typeface="Times New Roman"/>
              </a:rPr>
              <a:t>r</a:t>
            </a:r>
            <a:r>
              <a:rPr dirty="0" sz="1650" spc="-295">
                <a:solidFill>
                  <a:srgbClr val="545454"/>
                </a:solidFill>
                <a:latin typeface="Arial"/>
                <a:cs typeface="Arial"/>
              </a:rPr>
              <a:t>.</a:t>
            </a:r>
            <a:r>
              <a:rPr dirty="0" baseline="20467" sz="1425" spc="-442" b="1">
                <a:solidFill>
                  <a:srgbClr val="545454"/>
                </a:solidFill>
                <a:latin typeface="Times New Roman"/>
                <a:cs typeface="Times New Roman"/>
              </a:rPr>
              <a:t>o</a:t>
            </a:r>
            <a:r>
              <a:rPr dirty="0" sz="1650" spc="-295">
                <a:solidFill>
                  <a:srgbClr val="545454"/>
                </a:solidFill>
                <a:latin typeface="Arial"/>
                <a:cs typeface="Arial"/>
              </a:rPr>
              <a:t>.</a:t>
            </a:r>
            <a:endParaRPr sz="16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92813" y="5257455"/>
            <a:ext cx="7175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-75" b="1" i="1">
                <a:solidFill>
                  <a:srgbClr val="545454"/>
                </a:solidFill>
                <a:latin typeface="Arial"/>
                <a:cs typeface="Arial"/>
              </a:rPr>
              <a:t>Q)</a:t>
            </a:r>
            <a:endParaRPr sz="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51590" y="5143133"/>
            <a:ext cx="99695" cy="4152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550" spc="-365">
                <a:solidFill>
                  <a:srgbClr val="2872A3"/>
                </a:solidFill>
                <a:latin typeface="Arial"/>
                <a:cs typeface="Arial"/>
              </a:rPr>
              <a:t>•</a:t>
            </a:r>
            <a:endParaRPr sz="25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92335" y="5279096"/>
            <a:ext cx="55118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545454"/>
                </a:solidFill>
                <a:latin typeface="Times New Roman"/>
                <a:cs typeface="Times New Roman"/>
              </a:rPr>
              <a:t>a.</a:t>
            </a:r>
            <a:r>
              <a:rPr dirty="0" sz="1050" spc="140" b="1">
                <a:solidFill>
                  <a:srgbClr val="545454"/>
                </a:solidFill>
                <a:latin typeface="Times New Roman"/>
                <a:cs typeface="Times New Roman"/>
              </a:rPr>
              <a:t>  </a:t>
            </a:r>
            <a:r>
              <a:rPr dirty="0" sz="1050" b="1">
                <a:solidFill>
                  <a:srgbClr val="545454"/>
                </a:solidFill>
                <a:latin typeface="Times New Roman"/>
                <a:cs typeface="Times New Roman"/>
              </a:rPr>
              <a:t>10</a:t>
            </a:r>
            <a:r>
              <a:rPr dirty="0" sz="1050" b="1">
                <a:solidFill>
                  <a:srgbClr val="7E7E7E"/>
                </a:solidFill>
                <a:latin typeface="Times New Roman"/>
                <a:cs typeface="Times New Roman"/>
              </a:rPr>
              <a:t>.</a:t>
            </a:r>
            <a:r>
              <a:rPr dirty="0" sz="1050" b="1">
                <a:solidFill>
                  <a:srgbClr val="545454"/>
                </a:solidFill>
                <a:latin typeface="Times New Roman"/>
                <a:cs typeface="Times New Roman"/>
              </a:rPr>
              <a:t>6</a:t>
            </a:r>
            <a:r>
              <a:rPr dirty="0" sz="1050" spc="55" b="1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1050" spc="-50">
                <a:solidFill>
                  <a:srgbClr val="7E7E7E"/>
                </a:solidFill>
                <a:latin typeface="Times New Roman"/>
                <a:cs typeface="Times New Roman"/>
              </a:rPr>
              <a:t>-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87282" y="5388834"/>
            <a:ext cx="12573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solidFill>
                  <a:srgbClr val="666666"/>
                </a:solidFill>
                <a:latin typeface="Arial"/>
                <a:cs typeface="Arial"/>
              </a:rPr>
              <a:t>E</a:t>
            </a:r>
            <a:endParaRPr sz="11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47022" y="4800284"/>
            <a:ext cx="147320" cy="88011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54610">
              <a:lnSpc>
                <a:spcPct val="100000"/>
              </a:lnSpc>
              <a:spcBef>
                <a:spcPts val="345"/>
              </a:spcBef>
            </a:pPr>
            <a:r>
              <a:rPr dirty="0" sz="2650" spc="-420">
                <a:solidFill>
                  <a:srgbClr val="2872A3"/>
                </a:solidFill>
                <a:latin typeface="Arial"/>
                <a:cs typeface="Arial"/>
              </a:rPr>
              <a:t>•</a:t>
            </a:r>
            <a:endParaRPr sz="2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dirty="0" sz="2550" spc="10">
                <a:solidFill>
                  <a:srgbClr val="2872A3"/>
                </a:solidFill>
                <a:latin typeface="Arial"/>
                <a:cs typeface="Arial"/>
              </a:rPr>
              <a:t>•</a:t>
            </a:r>
            <a:endParaRPr sz="25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62167" y="5542111"/>
            <a:ext cx="13208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10">
                <a:solidFill>
                  <a:srgbClr val="666666"/>
                </a:solidFill>
                <a:latin typeface="Times New Roman"/>
                <a:cs typeface="Times New Roman"/>
              </a:rPr>
              <a:t>�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65958" y="5671709"/>
            <a:ext cx="110489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25">
                <a:solidFill>
                  <a:srgbClr val="545454"/>
                </a:solidFill>
                <a:latin typeface="Arial"/>
                <a:cs typeface="Arial"/>
              </a:rPr>
              <a:t>,:,</a:t>
            </a:r>
            <a:endParaRPr sz="7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66902" y="5664071"/>
            <a:ext cx="29527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45" b="1">
                <a:solidFill>
                  <a:srgbClr val="424242"/>
                </a:solidFill>
                <a:latin typeface="Times New Roman"/>
                <a:cs typeface="Times New Roman"/>
              </a:rPr>
              <a:t>10.4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45648" y="5711683"/>
            <a:ext cx="205740" cy="22415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300" spc="-95">
                <a:solidFill>
                  <a:srgbClr val="424242"/>
                </a:solidFill>
                <a:latin typeface="Arial"/>
                <a:cs typeface="Arial"/>
              </a:rPr>
              <a:t>.</a:t>
            </a:r>
            <a:r>
              <a:rPr dirty="0" baseline="30303" sz="825" spc="-142" b="1" i="1">
                <a:solidFill>
                  <a:srgbClr val="666666"/>
                </a:solidFill>
                <a:latin typeface="Arial"/>
                <a:cs typeface="Arial"/>
              </a:rPr>
              <a:t>Q</a:t>
            </a:r>
            <a:r>
              <a:rPr dirty="0" sz="1300" spc="-95">
                <a:solidFill>
                  <a:srgbClr val="424242"/>
                </a:solidFill>
                <a:latin typeface="Arial"/>
                <a:cs typeface="Arial"/>
              </a:rPr>
              <a:t>.</a:t>
            </a:r>
            <a:r>
              <a:rPr dirty="0" baseline="30303" sz="825" spc="-142" b="1" i="1">
                <a:solidFill>
                  <a:srgbClr val="666666"/>
                </a:solidFill>
                <a:latin typeface="Arial"/>
                <a:cs typeface="Arial"/>
              </a:rPr>
              <a:t>)</a:t>
            </a:r>
            <a:r>
              <a:rPr dirty="0" sz="1300" spc="-95">
                <a:solidFill>
                  <a:srgbClr val="424242"/>
                </a:solidFill>
                <a:latin typeface="Arial"/>
                <a:cs typeface="Arial"/>
              </a:rPr>
              <a:t>,</a:t>
            </a:r>
            <a:endParaRPr sz="13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56050" y="5847901"/>
            <a:ext cx="127635" cy="288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ts val="1000"/>
              </a:lnSpc>
              <a:spcBef>
                <a:spcPts val="100"/>
              </a:spcBef>
            </a:pPr>
            <a:r>
              <a:rPr dirty="0" sz="950" spc="-50" b="1">
                <a:solidFill>
                  <a:srgbClr val="666666"/>
                </a:solidFill>
                <a:latin typeface="Times New Roman"/>
                <a:cs typeface="Times New Roman"/>
              </a:rPr>
              <a:t>u</a:t>
            </a:r>
            <a:endParaRPr sz="950">
              <a:latin typeface="Times New Roman"/>
              <a:cs typeface="Times New Roman"/>
            </a:endParaRPr>
          </a:p>
          <a:p>
            <a:pPr marL="12700">
              <a:lnSpc>
                <a:spcPts val="1060"/>
              </a:lnSpc>
            </a:pPr>
            <a:r>
              <a:rPr dirty="0" sz="1000" spc="-145">
                <a:solidFill>
                  <a:srgbClr val="545454"/>
                </a:solidFill>
                <a:latin typeface="Times New Roman"/>
                <a:cs typeface="Times New Roman"/>
              </a:rPr>
              <a:t>�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80516" y="6079853"/>
            <a:ext cx="11874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15">
                <a:solidFill>
                  <a:srgbClr val="545454"/>
                </a:solidFill>
                <a:latin typeface="Times New Roman"/>
                <a:cs typeface="Times New Roman"/>
              </a:rPr>
              <a:t>�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66902" y="6049043"/>
            <a:ext cx="37782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424242"/>
                </a:solidFill>
                <a:latin typeface="Times New Roman"/>
                <a:cs typeface="Times New Roman"/>
              </a:rPr>
              <a:t>10</a:t>
            </a:r>
            <a:r>
              <a:rPr dirty="0" sz="1050" b="1">
                <a:solidFill>
                  <a:srgbClr val="7E7E7E"/>
                </a:solidFill>
                <a:latin typeface="Times New Roman"/>
                <a:cs typeface="Times New Roman"/>
              </a:rPr>
              <a:t>.</a:t>
            </a:r>
            <a:r>
              <a:rPr dirty="0" sz="1050" b="1">
                <a:solidFill>
                  <a:srgbClr val="545454"/>
                </a:solidFill>
                <a:latin typeface="Times New Roman"/>
                <a:cs typeface="Times New Roman"/>
              </a:rPr>
              <a:t>2</a:t>
            </a:r>
            <a:r>
              <a:rPr dirty="0" sz="1050" spc="270" b="1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1050" spc="-50">
                <a:solidFill>
                  <a:srgbClr val="666666"/>
                </a:solidFill>
                <a:latin typeface="Times New Roman"/>
                <a:cs typeface="Times New Roman"/>
              </a:rPr>
              <a:t>-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76795" y="6191373"/>
            <a:ext cx="99060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00" spc="-25" b="1">
                <a:solidFill>
                  <a:srgbClr val="545454"/>
                </a:solidFill>
                <a:latin typeface="Times New Roman"/>
                <a:cs typeface="Times New Roman"/>
              </a:rPr>
              <a:t>0.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406846" y="5578141"/>
            <a:ext cx="230504" cy="1104900"/>
          </a:xfrm>
          <a:prstGeom prst="rect">
            <a:avLst/>
          </a:prstGeom>
        </p:spPr>
        <p:txBody>
          <a:bodyPr wrap="square" lIns="0" tIns="158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2650" spc="-50">
                <a:solidFill>
                  <a:srgbClr val="2872A3"/>
                </a:solidFill>
                <a:latin typeface="Arial"/>
                <a:cs typeface="Arial"/>
              </a:rPr>
              <a:t>•</a:t>
            </a:r>
            <a:endParaRPr sz="2650">
              <a:latin typeface="Arial"/>
              <a:cs typeface="Arial"/>
            </a:endParaRPr>
          </a:p>
          <a:p>
            <a:pPr marL="86360">
              <a:lnSpc>
                <a:spcPct val="100000"/>
              </a:lnSpc>
              <a:spcBef>
                <a:spcPts val="1110"/>
              </a:spcBef>
            </a:pPr>
            <a:r>
              <a:rPr dirty="0" sz="2550" spc="90">
                <a:solidFill>
                  <a:srgbClr val="2872A3"/>
                </a:solidFill>
                <a:latin typeface="Arial"/>
                <a:cs typeface="Arial"/>
              </a:rPr>
              <a:t>•</a:t>
            </a:r>
            <a:endParaRPr sz="25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66902" y="6434019"/>
            <a:ext cx="295275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45" b="1">
                <a:solidFill>
                  <a:srgbClr val="424242"/>
                </a:solidFill>
                <a:latin typeface="Times New Roman"/>
                <a:cs typeface="Times New Roman"/>
              </a:rPr>
              <a:t>10.0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444983" y="6818993"/>
            <a:ext cx="29845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b="1">
                <a:solidFill>
                  <a:srgbClr val="545454"/>
                </a:solidFill>
                <a:latin typeface="Times New Roman"/>
                <a:cs typeface="Times New Roman"/>
              </a:rPr>
              <a:t>9</a:t>
            </a:r>
            <a:r>
              <a:rPr dirty="0" sz="1050" b="1">
                <a:solidFill>
                  <a:srgbClr val="7E7E7E"/>
                </a:solidFill>
                <a:latin typeface="Times New Roman"/>
                <a:cs typeface="Times New Roman"/>
              </a:rPr>
              <a:t>.</a:t>
            </a:r>
            <a:r>
              <a:rPr dirty="0" sz="1050" b="1">
                <a:solidFill>
                  <a:srgbClr val="545454"/>
                </a:solidFill>
                <a:latin typeface="Times New Roman"/>
                <a:cs typeface="Times New Roman"/>
              </a:rPr>
              <a:t>8</a:t>
            </a:r>
            <a:r>
              <a:rPr dirty="0" sz="1050" spc="185" b="1">
                <a:solidFill>
                  <a:srgbClr val="545454"/>
                </a:solidFill>
                <a:latin typeface="Times New Roman"/>
                <a:cs typeface="Times New Roman"/>
              </a:rPr>
              <a:t> </a:t>
            </a:r>
            <a:r>
              <a:rPr dirty="0" sz="1050" spc="-50">
                <a:solidFill>
                  <a:srgbClr val="7E7E7E"/>
                </a:solidFill>
                <a:latin typeface="Times New Roman"/>
                <a:cs typeface="Times New Roman"/>
              </a:rPr>
              <a:t>-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884992" y="6560815"/>
            <a:ext cx="219710" cy="7270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ts val="2755"/>
              </a:lnSpc>
              <a:spcBef>
                <a:spcPts val="105"/>
              </a:spcBef>
            </a:pPr>
            <a:r>
              <a:rPr dirty="0" sz="2550" spc="90">
                <a:solidFill>
                  <a:srgbClr val="2872A3"/>
                </a:solidFill>
                <a:latin typeface="Arial"/>
                <a:cs typeface="Arial"/>
              </a:rPr>
              <a:t>•</a:t>
            </a:r>
            <a:endParaRPr sz="2550">
              <a:latin typeface="Arial"/>
              <a:cs typeface="Arial"/>
            </a:endParaRPr>
          </a:p>
          <a:p>
            <a:pPr marL="97790">
              <a:lnSpc>
                <a:spcPts val="2755"/>
              </a:lnSpc>
            </a:pPr>
            <a:r>
              <a:rPr dirty="0" sz="2550" spc="10">
                <a:solidFill>
                  <a:srgbClr val="2872A3"/>
                </a:solidFill>
                <a:latin typeface="Arial"/>
                <a:cs typeface="Arial"/>
              </a:rPr>
              <a:t>•</a:t>
            </a:r>
            <a:endParaRPr sz="255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745155" y="7277295"/>
            <a:ext cx="259079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 spc="-20" b="1">
                <a:solidFill>
                  <a:srgbClr val="545454"/>
                </a:solidFill>
                <a:latin typeface="Times New Roman"/>
                <a:cs typeface="Times New Roman"/>
              </a:rPr>
              <a:t>9</a:t>
            </a:r>
            <a:r>
              <a:rPr dirty="0" sz="1050" spc="-20" b="1">
                <a:solidFill>
                  <a:srgbClr val="7E7E7E"/>
                </a:solidFill>
                <a:latin typeface="Times New Roman"/>
                <a:cs typeface="Times New Roman"/>
              </a:rPr>
              <a:t>.</a:t>
            </a:r>
            <a:r>
              <a:rPr dirty="0" sz="1050" spc="-20" b="1">
                <a:solidFill>
                  <a:srgbClr val="545454"/>
                </a:solidFill>
                <a:latin typeface="Times New Roman"/>
                <a:cs typeface="Times New Roman"/>
              </a:rPr>
              <a:t>50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282935" y="7231974"/>
            <a:ext cx="295275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5875">
              <a:lnSpc>
                <a:spcPts val="390"/>
              </a:lnSpc>
              <a:spcBef>
                <a:spcPts val="100"/>
              </a:spcBef>
            </a:pPr>
            <a:r>
              <a:rPr dirty="0" sz="350" spc="-50">
                <a:solidFill>
                  <a:srgbClr val="424242"/>
                </a:solidFill>
                <a:latin typeface="Arial"/>
                <a:cs typeface="Arial"/>
              </a:rPr>
              <a:t>I</a:t>
            </a:r>
            <a:endParaRPr sz="350">
              <a:latin typeface="Arial"/>
              <a:cs typeface="Arial"/>
            </a:endParaRPr>
          </a:p>
          <a:p>
            <a:pPr algn="ctr">
              <a:lnSpc>
                <a:spcPts val="1230"/>
              </a:lnSpc>
            </a:pPr>
            <a:r>
              <a:rPr dirty="0" sz="1050" spc="45" b="1">
                <a:solidFill>
                  <a:srgbClr val="545454"/>
                </a:solidFill>
                <a:latin typeface="Times New Roman"/>
                <a:cs typeface="Times New Roman"/>
              </a:rPr>
              <a:t>9.75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798150" y="7231974"/>
            <a:ext cx="35687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390"/>
              </a:lnSpc>
              <a:spcBef>
                <a:spcPts val="100"/>
              </a:spcBef>
            </a:pPr>
            <a:r>
              <a:rPr dirty="0" sz="350" spc="-50">
                <a:solidFill>
                  <a:srgbClr val="545454"/>
                </a:solidFill>
                <a:latin typeface="Arial"/>
                <a:cs typeface="Arial"/>
              </a:rPr>
              <a:t>I</a:t>
            </a:r>
            <a:endParaRPr sz="350">
              <a:latin typeface="Arial"/>
              <a:cs typeface="Arial"/>
            </a:endParaRPr>
          </a:p>
          <a:p>
            <a:pPr algn="ctr">
              <a:lnSpc>
                <a:spcPts val="1230"/>
              </a:lnSpc>
            </a:pPr>
            <a:r>
              <a:rPr dirty="0" sz="1050" spc="-10" b="1">
                <a:solidFill>
                  <a:srgbClr val="545454"/>
                </a:solidFill>
                <a:latin typeface="Times New Roman"/>
                <a:cs typeface="Times New Roman"/>
              </a:rPr>
              <a:t>10</a:t>
            </a:r>
            <a:r>
              <a:rPr dirty="0" sz="1050" spc="-10" b="1">
                <a:solidFill>
                  <a:srgbClr val="8C8C8C"/>
                </a:solidFill>
                <a:latin typeface="Times New Roman"/>
                <a:cs typeface="Times New Roman"/>
              </a:rPr>
              <a:t>.</a:t>
            </a:r>
            <a:r>
              <a:rPr dirty="0" sz="1050" spc="-10" b="1">
                <a:solidFill>
                  <a:srgbClr val="545454"/>
                </a:solidFill>
                <a:latin typeface="Times New Roman"/>
                <a:cs typeface="Times New Roman"/>
              </a:rPr>
              <a:t>00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348630" y="7231974"/>
            <a:ext cx="36322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270">
              <a:lnSpc>
                <a:spcPts val="390"/>
              </a:lnSpc>
              <a:spcBef>
                <a:spcPts val="100"/>
              </a:spcBef>
            </a:pPr>
            <a:r>
              <a:rPr dirty="0" sz="350" spc="-50">
                <a:solidFill>
                  <a:srgbClr val="666666"/>
                </a:solidFill>
                <a:latin typeface="Arial"/>
                <a:cs typeface="Arial"/>
              </a:rPr>
              <a:t>I</a:t>
            </a:r>
            <a:endParaRPr sz="350">
              <a:latin typeface="Arial"/>
              <a:cs typeface="Arial"/>
            </a:endParaRPr>
          </a:p>
          <a:p>
            <a:pPr algn="ctr">
              <a:lnSpc>
                <a:spcPts val="1230"/>
              </a:lnSpc>
            </a:pPr>
            <a:r>
              <a:rPr dirty="0" sz="1050" spc="45" b="1">
                <a:solidFill>
                  <a:srgbClr val="545454"/>
                </a:solidFill>
                <a:latin typeface="Times New Roman"/>
                <a:cs typeface="Times New Roman"/>
              </a:rPr>
              <a:t>10</a:t>
            </a:r>
            <a:r>
              <a:rPr dirty="0" sz="1050" spc="45" b="1">
                <a:solidFill>
                  <a:srgbClr val="7E7E7E"/>
                </a:solidFill>
                <a:latin typeface="Times New Roman"/>
                <a:cs typeface="Times New Roman"/>
              </a:rPr>
              <a:t>.</a:t>
            </a:r>
            <a:r>
              <a:rPr dirty="0" sz="1050" spc="45" b="1">
                <a:solidFill>
                  <a:srgbClr val="545454"/>
                </a:solidFill>
                <a:latin typeface="Times New Roman"/>
                <a:cs typeface="Times New Roman"/>
              </a:rPr>
              <a:t>25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899110" y="7225608"/>
            <a:ext cx="377825" cy="237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445"/>
              </a:lnSpc>
              <a:spcBef>
                <a:spcPts val="100"/>
              </a:spcBef>
            </a:pPr>
            <a:r>
              <a:rPr dirty="0" sz="400" spc="-50">
                <a:solidFill>
                  <a:srgbClr val="666666"/>
                </a:solidFill>
                <a:latin typeface="Times New Roman"/>
                <a:cs typeface="Times New Roman"/>
              </a:rPr>
              <a:t>I</a:t>
            </a:r>
            <a:endParaRPr sz="400">
              <a:latin typeface="Times New Roman"/>
              <a:cs typeface="Times New Roman"/>
            </a:endParaRPr>
          </a:p>
          <a:p>
            <a:pPr algn="ctr">
              <a:lnSpc>
                <a:spcPts val="1225"/>
              </a:lnSpc>
            </a:pPr>
            <a:r>
              <a:rPr dirty="0" sz="1050" spc="70" b="1">
                <a:solidFill>
                  <a:srgbClr val="424242"/>
                </a:solidFill>
                <a:latin typeface="Times New Roman"/>
                <a:cs typeface="Times New Roman"/>
              </a:rPr>
              <a:t>10.50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455707" y="7231974"/>
            <a:ext cx="37211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390"/>
              </a:lnSpc>
              <a:spcBef>
                <a:spcPts val="100"/>
              </a:spcBef>
            </a:pPr>
            <a:r>
              <a:rPr dirty="0" sz="350" spc="-50">
                <a:solidFill>
                  <a:srgbClr val="666666"/>
                </a:solidFill>
                <a:latin typeface="Arial"/>
                <a:cs typeface="Arial"/>
              </a:rPr>
              <a:t>I</a:t>
            </a:r>
            <a:endParaRPr sz="350">
              <a:latin typeface="Arial"/>
              <a:cs typeface="Arial"/>
            </a:endParaRPr>
          </a:p>
          <a:p>
            <a:pPr algn="ctr">
              <a:lnSpc>
                <a:spcPts val="1230"/>
              </a:lnSpc>
            </a:pPr>
            <a:r>
              <a:rPr dirty="0" sz="1050" spc="60" b="1">
                <a:solidFill>
                  <a:srgbClr val="545454"/>
                </a:solidFill>
                <a:latin typeface="Times New Roman"/>
                <a:cs typeface="Times New Roman"/>
              </a:rPr>
              <a:t>10.75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012303" y="7231974"/>
            <a:ext cx="35687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390"/>
              </a:lnSpc>
              <a:spcBef>
                <a:spcPts val="100"/>
              </a:spcBef>
            </a:pPr>
            <a:r>
              <a:rPr dirty="0" sz="350" spc="-50">
                <a:solidFill>
                  <a:srgbClr val="545454"/>
                </a:solidFill>
                <a:latin typeface="Arial"/>
                <a:cs typeface="Arial"/>
              </a:rPr>
              <a:t>I</a:t>
            </a:r>
            <a:endParaRPr sz="350">
              <a:latin typeface="Arial"/>
              <a:cs typeface="Arial"/>
            </a:endParaRPr>
          </a:p>
          <a:p>
            <a:pPr algn="ctr">
              <a:lnSpc>
                <a:spcPts val="1230"/>
              </a:lnSpc>
            </a:pPr>
            <a:r>
              <a:rPr dirty="0" sz="1050" spc="-10" b="1">
                <a:solidFill>
                  <a:srgbClr val="424242"/>
                </a:solidFill>
                <a:latin typeface="Times New Roman"/>
                <a:cs typeface="Times New Roman"/>
              </a:rPr>
              <a:t>11</a:t>
            </a:r>
            <a:r>
              <a:rPr dirty="0" sz="1050" spc="-10" b="1">
                <a:solidFill>
                  <a:srgbClr val="7E7E7E"/>
                </a:solidFill>
                <a:latin typeface="Times New Roman"/>
                <a:cs typeface="Times New Roman"/>
              </a:rPr>
              <a:t>.</a:t>
            </a:r>
            <a:r>
              <a:rPr dirty="0" sz="1050" spc="-10" b="1">
                <a:solidFill>
                  <a:srgbClr val="545454"/>
                </a:solidFill>
                <a:latin typeface="Times New Roman"/>
                <a:cs typeface="Times New Roman"/>
              </a:rPr>
              <a:t>00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562784" y="7231974"/>
            <a:ext cx="36322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175">
              <a:lnSpc>
                <a:spcPts val="390"/>
              </a:lnSpc>
              <a:spcBef>
                <a:spcPts val="100"/>
              </a:spcBef>
            </a:pPr>
            <a:r>
              <a:rPr dirty="0" sz="350" spc="-50">
                <a:solidFill>
                  <a:srgbClr val="666666"/>
                </a:solidFill>
                <a:latin typeface="Arial"/>
                <a:cs typeface="Arial"/>
              </a:rPr>
              <a:t>I</a:t>
            </a:r>
            <a:endParaRPr sz="350">
              <a:latin typeface="Arial"/>
              <a:cs typeface="Arial"/>
            </a:endParaRPr>
          </a:p>
          <a:p>
            <a:pPr algn="ctr">
              <a:lnSpc>
                <a:spcPts val="1230"/>
              </a:lnSpc>
            </a:pPr>
            <a:r>
              <a:rPr dirty="0" sz="1050" spc="45" b="1">
                <a:solidFill>
                  <a:srgbClr val="545454"/>
                </a:solidFill>
                <a:latin typeface="Times New Roman"/>
                <a:cs typeface="Times New Roman"/>
              </a:rPr>
              <a:t>11</a:t>
            </a:r>
            <a:r>
              <a:rPr dirty="0" sz="1050" spc="45" b="1">
                <a:solidFill>
                  <a:srgbClr val="7E7E7E"/>
                </a:solidFill>
                <a:latin typeface="Times New Roman"/>
                <a:cs typeface="Times New Roman"/>
              </a:rPr>
              <a:t>.</a:t>
            </a:r>
            <a:r>
              <a:rPr dirty="0" sz="1050" spc="45" b="1">
                <a:solidFill>
                  <a:srgbClr val="545454"/>
                </a:solidFill>
                <a:latin typeface="Times New Roman"/>
                <a:cs typeface="Times New Roman"/>
              </a:rPr>
              <a:t>25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327083" y="7448394"/>
            <a:ext cx="123952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666666"/>
                </a:solidFill>
                <a:latin typeface="Arial"/>
                <a:cs typeface="Arial"/>
              </a:rPr>
              <a:t>Actual</a:t>
            </a:r>
            <a:r>
              <a:rPr dirty="0" sz="1050" spc="100">
                <a:solidFill>
                  <a:srgbClr val="666666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424242"/>
                </a:solidFill>
                <a:latin typeface="Arial"/>
                <a:cs typeface="Arial"/>
              </a:rPr>
              <a:t>Temperature</a:t>
            </a:r>
            <a:endParaRPr sz="10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90681" y="8192117"/>
            <a:ext cx="4858385" cy="889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1400" spc="-25" b="1" i="1">
                <a:solidFill>
                  <a:srgbClr val="5270A5"/>
                </a:solidFill>
                <a:latin typeface="Arial"/>
                <a:cs typeface="Arial"/>
              </a:rPr>
              <a:t>Actual</a:t>
            </a:r>
            <a:r>
              <a:rPr dirty="0" sz="1400" spc="-75" b="1" i="1">
                <a:solidFill>
                  <a:srgbClr val="5270A5"/>
                </a:solidFill>
                <a:latin typeface="Arial"/>
                <a:cs typeface="Arial"/>
              </a:rPr>
              <a:t> </a:t>
            </a:r>
            <a:r>
              <a:rPr dirty="0" sz="1400" spc="-80" b="1" i="1">
                <a:solidFill>
                  <a:srgbClr val="5270A5"/>
                </a:solidFill>
                <a:latin typeface="Arial"/>
                <a:cs typeface="Arial"/>
              </a:rPr>
              <a:t>vs</a:t>
            </a:r>
            <a:r>
              <a:rPr dirty="0" sz="1400" spc="-130" b="1" i="1">
                <a:solidFill>
                  <a:srgbClr val="5270A5"/>
                </a:solidFill>
                <a:latin typeface="Arial"/>
                <a:cs typeface="Arial"/>
              </a:rPr>
              <a:t> </a:t>
            </a:r>
            <a:r>
              <a:rPr dirty="0" sz="1400" spc="-35" b="1" i="1">
                <a:solidFill>
                  <a:srgbClr val="5270A5"/>
                </a:solidFill>
                <a:latin typeface="Arial"/>
                <a:cs typeface="Arial"/>
              </a:rPr>
              <a:t>Predicted</a:t>
            </a:r>
            <a:r>
              <a:rPr dirty="0" sz="1400" spc="-60" b="1" i="1">
                <a:solidFill>
                  <a:srgbClr val="5270A5"/>
                </a:solidFill>
                <a:latin typeface="Arial"/>
                <a:cs typeface="Arial"/>
              </a:rPr>
              <a:t> </a:t>
            </a:r>
            <a:r>
              <a:rPr dirty="0" sz="1400" spc="-20" b="1" i="1">
                <a:solidFill>
                  <a:srgbClr val="5270A5"/>
                </a:solidFill>
                <a:latin typeface="Arial"/>
                <a:cs typeface="Arial"/>
              </a:rPr>
              <a:t>(Linear</a:t>
            </a:r>
            <a:r>
              <a:rPr dirty="0" sz="1400" b="1" i="1">
                <a:solidFill>
                  <a:srgbClr val="5270A5"/>
                </a:solidFill>
                <a:latin typeface="Arial"/>
                <a:cs typeface="Arial"/>
              </a:rPr>
              <a:t> </a:t>
            </a:r>
            <a:r>
              <a:rPr dirty="0" sz="1400" spc="-10" b="1" i="1">
                <a:solidFill>
                  <a:srgbClr val="5270A5"/>
                </a:solidFill>
                <a:latin typeface="Arial"/>
                <a:cs typeface="Arial"/>
              </a:rPr>
              <a:t>Regression)</a:t>
            </a:r>
            <a:endParaRPr sz="1400">
              <a:latin typeface="Arial"/>
              <a:cs typeface="Arial"/>
            </a:endParaRPr>
          </a:p>
          <a:p>
            <a:pPr marL="250190" marR="5080" indent="-238125">
              <a:lnSpc>
                <a:spcPct val="101600"/>
              </a:lnSpc>
              <a:spcBef>
                <a:spcPts val="1465"/>
              </a:spcBef>
              <a:buChar char="✓"/>
              <a:tabLst>
                <a:tab pos="250190" algn="l"/>
                <a:tab pos="252729" algn="l"/>
              </a:tabLst>
            </a:pPr>
            <a:r>
              <a:rPr dirty="0" sz="1000">
                <a:solidFill>
                  <a:srgbClr val="313131"/>
                </a:solidFill>
                <a:latin typeface="Arial"/>
                <a:cs typeface="Arial"/>
              </a:rPr>
              <a:t>	</a:t>
            </a:r>
            <a:r>
              <a:rPr dirty="0" sz="1500" i="1">
                <a:latin typeface="Arial"/>
                <a:cs typeface="Arial"/>
              </a:rPr>
              <a:t>Points</a:t>
            </a:r>
            <a:r>
              <a:rPr dirty="0" sz="1500" spc="210" i="1"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61616"/>
                </a:solidFill>
                <a:latin typeface="Arial"/>
                <a:cs typeface="Arial"/>
              </a:rPr>
              <a:t>lie</a:t>
            </a:r>
            <a:r>
              <a:rPr dirty="0" sz="1500" spc="15" i="1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61616"/>
                </a:solidFill>
                <a:latin typeface="Arial"/>
                <a:cs typeface="Arial"/>
              </a:rPr>
              <a:t>close</a:t>
            </a:r>
            <a:r>
              <a:rPr dirty="0" sz="1500" spc="15" i="1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1500" i="1">
                <a:latin typeface="Arial"/>
                <a:cs typeface="Arial"/>
              </a:rPr>
              <a:t>to</a:t>
            </a:r>
            <a:r>
              <a:rPr dirty="0" sz="1500" spc="155" i="1"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61616"/>
                </a:solidFill>
                <a:latin typeface="Arial"/>
                <a:cs typeface="Arial"/>
              </a:rPr>
              <a:t>the</a:t>
            </a:r>
            <a:r>
              <a:rPr dirty="0" sz="1500" spc="-45" i="1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diagonal</a:t>
            </a:r>
            <a:r>
              <a:rPr dirty="0" sz="1500" spc="160" b="1" i="1">
                <a:latin typeface="Arial"/>
                <a:cs typeface="Arial"/>
              </a:rPr>
              <a:t> </a:t>
            </a:r>
            <a:r>
              <a:rPr dirty="0" sz="1500" b="1" i="1">
                <a:latin typeface="Arial"/>
                <a:cs typeface="Arial"/>
              </a:rPr>
              <a:t>line</a:t>
            </a:r>
            <a:r>
              <a:rPr dirty="0" sz="1500" b="1" i="1">
                <a:solidFill>
                  <a:srgbClr val="313131"/>
                </a:solidFill>
                <a:latin typeface="Arial"/>
                <a:cs typeface="Arial"/>
              </a:rPr>
              <a:t>,</a:t>
            </a:r>
            <a:r>
              <a:rPr dirty="0" sz="1500" spc="180" b="1" i="1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61616"/>
                </a:solidFill>
                <a:latin typeface="Arial"/>
                <a:cs typeface="Arial"/>
              </a:rPr>
              <a:t>indicating</a:t>
            </a:r>
            <a:r>
              <a:rPr dirty="0" sz="1500" spc="75" i="1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1500" spc="-20" i="1">
                <a:solidFill>
                  <a:srgbClr val="161616"/>
                </a:solidFill>
                <a:latin typeface="Arial"/>
                <a:cs typeface="Arial"/>
              </a:rPr>
              <a:t>good</a:t>
            </a:r>
            <a:r>
              <a:rPr dirty="0" sz="1500" spc="-20" i="1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61616"/>
                </a:solidFill>
                <a:latin typeface="Arial"/>
                <a:cs typeface="Arial"/>
              </a:rPr>
              <a:t>prediction</a:t>
            </a:r>
            <a:r>
              <a:rPr dirty="0" sz="1500" spc="204" i="1">
                <a:solidFill>
                  <a:srgbClr val="161616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61616"/>
                </a:solidFill>
                <a:latin typeface="Arial"/>
                <a:cs typeface="Arial"/>
              </a:rPr>
              <a:t>accuracy.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74651" y="5446855"/>
          <a:ext cx="6028055" cy="19361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86535"/>
                <a:gridCol w="1486535"/>
                <a:gridCol w="1480184"/>
                <a:gridCol w="1486535"/>
              </a:tblGrid>
              <a:tr h="287020">
                <a:tc>
                  <a:txBody>
                    <a:bodyPr/>
                    <a:lstStyle/>
                    <a:p>
                      <a:pPr marL="3016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500" spc="55" i="1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Model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591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500" spc="-25" i="1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MSE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591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500" spc="-25" i="1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MAE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6545">
                        <a:lnSpc>
                          <a:spcPts val="1745"/>
                        </a:lnSpc>
                      </a:pPr>
                      <a:r>
                        <a:rPr dirty="0" sz="1500" spc="-25" i="1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R2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 marL="30353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500" spc="-10" i="1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Linear</a:t>
                      </a:r>
                      <a:endParaRPr sz="1500">
                        <a:latin typeface="Arial"/>
                        <a:cs typeface="Arial"/>
                      </a:endParaRPr>
                    </a:p>
                    <a:p>
                      <a:pPr marL="30861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500" spc="-10" i="1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Regression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73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650" spc="55" i="1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0.060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702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650" spc="70" i="1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0.193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73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dirty="0" sz="1650" spc="60" i="1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0.708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01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49910">
                <a:tc>
                  <a:txBody>
                    <a:bodyPr/>
                    <a:lstStyle/>
                    <a:p>
                      <a:pPr marL="309245" marR="431165" indent="-6985">
                        <a:lnSpc>
                          <a:spcPts val="2170"/>
                        </a:lnSpc>
                      </a:pPr>
                      <a:r>
                        <a:rPr dirty="0" sz="1500" spc="-10" i="1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Random</a:t>
                      </a:r>
                      <a:r>
                        <a:rPr dirty="0" sz="1500" spc="-10" i="1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Forest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73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650" spc="55" i="1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0.049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702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650" spc="60" i="1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0.181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73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650" spc="45" i="1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1650" spc="45" i="1">
                          <a:solidFill>
                            <a:srgbClr val="494949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1650" spc="45" i="1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761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marL="309245" marR="387350" indent="-16510">
                        <a:lnSpc>
                          <a:spcPts val="2120"/>
                        </a:lnSpc>
                        <a:spcBef>
                          <a:spcPts val="35"/>
                        </a:spcBef>
                      </a:pPr>
                      <a:r>
                        <a:rPr dirty="0" sz="1500" spc="45" i="1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Gradient</a:t>
                      </a:r>
                      <a:r>
                        <a:rPr dirty="0" sz="1500" spc="45" i="1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00" spc="-10" i="1">
                          <a:solidFill>
                            <a:srgbClr val="111111"/>
                          </a:solidFill>
                          <a:latin typeface="Arial"/>
                          <a:cs typeface="Arial"/>
                        </a:rPr>
                        <a:t>Boosting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B="0" marT="44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73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650" spc="55" i="1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0.043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87020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650" spc="60" i="1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0.168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73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1650" spc="60" i="1">
                          <a:solidFill>
                            <a:srgbClr val="111111"/>
                          </a:solidFill>
                          <a:latin typeface="Times New Roman"/>
                          <a:cs typeface="Times New Roman"/>
                        </a:rPr>
                        <a:t>0.791</a:t>
                      </a:r>
                      <a:endParaRPr sz="16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65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090681" y="840438"/>
            <a:ext cx="5659120" cy="1171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500" spc="-25" b="1" i="1">
                <a:solidFill>
                  <a:srgbClr val="111111"/>
                </a:solidFill>
                <a:latin typeface="Arial"/>
                <a:cs typeface="Arial"/>
              </a:rPr>
              <a:t>14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500">
              <a:latin typeface="Arial"/>
              <a:cs typeface="Arial"/>
            </a:endParaRPr>
          </a:p>
          <a:p>
            <a:pPr marL="246379" marR="533400" indent="-234315">
              <a:lnSpc>
                <a:spcPts val="1780"/>
              </a:lnSpc>
              <a:buSzPct val="66666"/>
              <a:buFont typeface="Arial"/>
              <a:buChar char="✓"/>
              <a:tabLst>
                <a:tab pos="246379" algn="l"/>
              </a:tabLst>
            </a:pP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Small</a:t>
            </a:r>
            <a:r>
              <a:rPr dirty="0" sz="1500" spc="14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deviations</a:t>
            </a:r>
            <a:r>
              <a:rPr dirty="0" sz="1500" spc="21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show</a:t>
            </a:r>
            <a:r>
              <a:rPr dirty="0" sz="1500" spc="9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111111"/>
                </a:solidFill>
                <a:latin typeface="Arial"/>
                <a:cs typeface="Arial"/>
              </a:rPr>
              <a:t>minor</a:t>
            </a:r>
            <a:r>
              <a:rPr dirty="0" sz="1500" spc="245" b="1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111111"/>
                </a:solidFill>
                <a:latin typeface="Arial"/>
                <a:cs typeface="Arial"/>
              </a:rPr>
              <a:t>prediction</a:t>
            </a:r>
            <a:r>
              <a:rPr dirty="0" sz="1500" spc="225" b="1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111111"/>
                </a:solidFill>
                <a:latin typeface="Arial"/>
                <a:cs typeface="Arial"/>
              </a:rPr>
              <a:t>errors</a:t>
            </a:r>
            <a:r>
              <a:rPr dirty="0" sz="1500" spc="180" b="1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111111"/>
                </a:solidFill>
                <a:latin typeface="Arial"/>
                <a:cs typeface="Arial"/>
              </a:rPr>
              <a:t>due</a:t>
            </a:r>
            <a:r>
              <a:rPr dirty="0" sz="1500" spc="85" b="1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40" b="1" i="1">
                <a:solidFill>
                  <a:srgbClr val="111111"/>
                </a:solidFill>
                <a:latin typeface="Arial"/>
                <a:cs typeface="Arial"/>
              </a:rPr>
              <a:t>to</a:t>
            </a:r>
            <a:r>
              <a:rPr dirty="0" sz="1500" spc="40" b="1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-10" b="1" i="1">
                <a:solidFill>
                  <a:srgbClr val="111111"/>
                </a:solidFill>
                <a:latin typeface="Arial"/>
                <a:cs typeface="Arial"/>
              </a:rPr>
              <a:t>noise.</a:t>
            </a:r>
            <a:endParaRPr sz="1500">
              <a:latin typeface="Arial"/>
              <a:cs typeface="Arial"/>
            </a:endParaRPr>
          </a:p>
          <a:p>
            <a:pPr marL="243204" indent="-230504">
              <a:lnSpc>
                <a:spcPts val="1775"/>
              </a:lnSpc>
              <a:buSzPct val="66666"/>
              <a:buFont typeface="Arial"/>
              <a:buChar char="✓"/>
              <a:tabLst>
                <a:tab pos="243204" algn="l"/>
              </a:tabLst>
            </a:pP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Confirms</a:t>
            </a:r>
            <a:r>
              <a:rPr dirty="0" sz="1500" spc="19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that</a:t>
            </a:r>
            <a:r>
              <a:rPr dirty="0" sz="1500" spc="12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dirty="0" sz="1500" spc="-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model</a:t>
            </a:r>
            <a:r>
              <a:rPr dirty="0" sz="1500" spc="8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fits</a:t>
            </a:r>
            <a:r>
              <a:rPr dirty="0" sz="1500" spc="7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dirty="0" sz="1500" spc="1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data</a:t>
            </a:r>
            <a:r>
              <a:rPr dirty="0" sz="1500" spc="3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-10" b="1" i="1">
                <a:solidFill>
                  <a:srgbClr val="111111"/>
                </a:solidFill>
                <a:latin typeface="Arial"/>
                <a:cs typeface="Arial"/>
              </a:rPr>
              <a:t>effectively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1153" y="3639138"/>
            <a:ext cx="5165090" cy="143446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6510" marR="5080" indent="-4445">
              <a:lnSpc>
                <a:spcPct val="102499"/>
              </a:lnSpc>
              <a:spcBef>
                <a:spcPts val="55"/>
              </a:spcBef>
            </a:pPr>
            <a:r>
              <a:rPr dirty="0" sz="1500" spc="65" i="1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dirty="0" sz="1500" spc="-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evaluation</a:t>
            </a:r>
            <a:r>
              <a:rPr dirty="0" sz="1500" spc="13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metrics</a:t>
            </a:r>
            <a:r>
              <a:rPr dirty="0" sz="1500" spc="16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for</a:t>
            </a:r>
            <a:r>
              <a:rPr dirty="0" sz="1500" spc="5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each</a:t>
            </a:r>
            <a:r>
              <a:rPr dirty="0" sz="1500" spc="8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model</a:t>
            </a:r>
            <a:r>
              <a:rPr dirty="0" sz="1500" spc="10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11111"/>
                </a:solidFill>
                <a:latin typeface="Arial"/>
                <a:cs typeface="Arial"/>
              </a:rPr>
              <a:t>(on</a:t>
            </a:r>
            <a:r>
              <a:rPr dirty="0" sz="1500" spc="5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dirty="0" sz="1500" spc="-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test</a:t>
            </a:r>
            <a:r>
              <a:rPr dirty="0" sz="1500" spc="6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set)</a:t>
            </a:r>
            <a:r>
              <a:rPr dirty="0" sz="1500" spc="-8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25" i="1">
                <a:solidFill>
                  <a:srgbClr val="111111"/>
                </a:solidFill>
                <a:latin typeface="Arial"/>
                <a:cs typeface="Arial"/>
              </a:rPr>
              <a:t>are</a:t>
            </a:r>
            <a:r>
              <a:rPr dirty="0" sz="1500" spc="2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summarized</a:t>
            </a:r>
            <a:r>
              <a:rPr dirty="0" sz="1500" spc="28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in</a:t>
            </a:r>
            <a:r>
              <a:rPr dirty="0" sz="1500" spc="15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Table</a:t>
            </a:r>
            <a:r>
              <a:rPr dirty="0" sz="1500" spc="17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1.</a:t>
            </a:r>
            <a:r>
              <a:rPr dirty="0" sz="1500" spc="6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All</a:t>
            </a:r>
            <a:r>
              <a:rPr dirty="0" sz="1500" spc="10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models</a:t>
            </a:r>
            <a:r>
              <a:rPr dirty="0" sz="1500" spc="12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capture</a:t>
            </a:r>
            <a:r>
              <a:rPr dirty="0" sz="1500" spc="12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dirty="0" sz="1500" spc="7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11111"/>
                </a:solidFill>
                <a:latin typeface="Arial"/>
                <a:cs typeface="Arial"/>
              </a:rPr>
              <a:t>upward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temperature</a:t>
            </a:r>
            <a:r>
              <a:rPr dirty="0" sz="1500" spc="20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trend</a:t>
            </a:r>
            <a:r>
              <a:rPr dirty="0" sz="1500" i="1">
                <a:solidFill>
                  <a:srgbClr val="494949"/>
                </a:solidFill>
                <a:latin typeface="Arial"/>
                <a:cs typeface="Arial"/>
              </a:rPr>
              <a:t>,</a:t>
            </a:r>
            <a:r>
              <a:rPr dirty="0" sz="1500" spc="170" i="1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with</a:t>
            </a:r>
            <a:r>
              <a:rPr dirty="0" sz="1500" spc="13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ensemble</a:t>
            </a:r>
            <a:r>
              <a:rPr dirty="0" sz="1500" spc="16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methods</a:t>
            </a:r>
            <a:r>
              <a:rPr dirty="0" sz="1500" spc="23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11111"/>
                </a:solidFill>
                <a:latin typeface="Arial"/>
                <a:cs typeface="Arial"/>
              </a:rPr>
              <a:t>outperforming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simple</a:t>
            </a:r>
            <a:r>
              <a:rPr dirty="0" sz="1500" spc="11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linear</a:t>
            </a:r>
            <a:r>
              <a:rPr dirty="0" sz="1500" spc="19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regression</a:t>
            </a:r>
            <a:r>
              <a:rPr dirty="0" sz="1500" spc="9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60" i="1">
                <a:solidFill>
                  <a:srgbClr val="111111"/>
                </a:solidFill>
                <a:latin typeface="Arial"/>
                <a:cs typeface="Arial"/>
              </a:rPr>
              <a:t>on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this</a:t>
            </a:r>
            <a:r>
              <a:rPr dirty="0" sz="1500" spc="7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11111"/>
                </a:solidFill>
                <a:latin typeface="Arial"/>
                <a:cs typeface="Arial"/>
              </a:rPr>
              <a:t>dataset.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Table</a:t>
            </a:r>
            <a:r>
              <a:rPr dirty="0" sz="1500" spc="18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1:</a:t>
            </a:r>
            <a:r>
              <a:rPr dirty="0" sz="1500" spc="1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Model</a:t>
            </a:r>
            <a:r>
              <a:rPr dirty="0" sz="1500" spc="114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Evaluation</a:t>
            </a:r>
            <a:r>
              <a:rPr dirty="0" sz="1500" spc="14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Metrics</a:t>
            </a:r>
            <a:r>
              <a:rPr dirty="0" sz="1500" spc="14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60" i="1">
                <a:solidFill>
                  <a:srgbClr val="111111"/>
                </a:solidFill>
                <a:latin typeface="Arial"/>
                <a:cs typeface="Arial"/>
              </a:rPr>
              <a:t>on</a:t>
            </a:r>
            <a:r>
              <a:rPr dirty="0" sz="1500" spc="-2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11111"/>
                </a:solidFill>
                <a:latin typeface="Arial"/>
                <a:cs typeface="Arial"/>
              </a:rPr>
              <a:t>Test</a:t>
            </a:r>
            <a:r>
              <a:rPr dirty="0" sz="1500" spc="5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-20" i="1">
                <a:solidFill>
                  <a:srgbClr val="111111"/>
                </a:solidFill>
                <a:latin typeface="Arial"/>
                <a:cs typeface="Arial"/>
              </a:rPr>
              <a:t>Data</a:t>
            </a:r>
            <a:endParaRPr sz="1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68785" y="7378886"/>
            <a:ext cx="5676265" cy="142811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43815" marR="30480" indent="-6350">
              <a:lnSpc>
                <a:spcPct val="102600"/>
              </a:lnSpc>
              <a:spcBef>
                <a:spcPts val="55"/>
              </a:spcBef>
            </a:pP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Gradient</a:t>
            </a:r>
            <a:r>
              <a:rPr dirty="0" sz="1500" spc="13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Boosting</a:t>
            </a:r>
            <a:r>
              <a:rPr dirty="0" sz="1500" spc="16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achieved</a:t>
            </a:r>
            <a:r>
              <a:rPr dirty="0" sz="1500" spc="9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11111"/>
                </a:solidFill>
                <a:latin typeface="Arial"/>
                <a:cs typeface="Arial"/>
              </a:rPr>
              <a:t>the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highest</a:t>
            </a:r>
            <a:r>
              <a:rPr dirty="0" sz="1500" spc="17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11111"/>
                </a:solidFill>
                <a:latin typeface="Arial"/>
                <a:cs typeface="Arial"/>
              </a:rPr>
              <a:t>R</a:t>
            </a:r>
            <a:r>
              <a:rPr dirty="0" baseline="39215" sz="1275" spc="75" i="1">
                <a:solidFill>
                  <a:srgbClr val="2B2B2B"/>
                </a:solidFill>
                <a:latin typeface="Arial"/>
                <a:cs typeface="Arial"/>
              </a:rPr>
              <a:t>2</a:t>
            </a:r>
            <a:r>
              <a:rPr dirty="0" baseline="39215" sz="1275" spc="247" i="1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dirty="0" sz="1500" spc="-114" i="1">
                <a:solidFill>
                  <a:srgbClr val="111111"/>
                </a:solidFill>
                <a:latin typeface="Arial"/>
                <a:cs typeface="Arial"/>
              </a:rPr>
              <a:t>(=::O.79)</a:t>
            </a:r>
            <a:r>
              <a:rPr dirty="0" sz="1500" spc="1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dirty="0" sz="1500" spc="4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11111"/>
                </a:solidFill>
                <a:latin typeface="Arial"/>
                <a:cs typeface="Arial"/>
              </a:rPr>
              <a:t>lowest</a:t>
            </a:r>
            <a:r>
              <a:rPr dirty="0" sz="1500" spc="-1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errors</a:t>
            </a:r>
            <a:r>
              <a:rPr dirty="0" sz="1500" i="1">
                <a:solidFill>
                  <a:srgbClr val="494949"/>
                </a:solidFill>
                <a:latin typeface="Arial"/>
                <a:cs typeface="Arial"/>
              </a:rPr>
              <a:t>,</a:t>
            </a:r>
            <a:r>
              <a:rPr dirty="0" sz="1500" spc="250" i="1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likely</a:t>
            </a:r>
            <a:r>
              <a:rPr dirty="0" sz="1500" spc="12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due</a:t>
            </a:r>
            <a:r>
              <a:rPr dirty="0" sz="1500" spc="3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to</a:t>
            </a:r>
            <a:r>
              <a:rPr dirty="0" sz="1500" spc="7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its</a:t>
            </a:r>
            <a:r>
              <a:rPr dirty="0" sz="1500" spc="4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sequential</a:t>
            </a:r>
            <a:r>
              <a:rPr dirty="0" sz="1500" spc="229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tree</a:t>
            </a:r>
            <a:r>
              <a:rPr dirty="0" sz="1500" spc="3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building</a:t>
            </a:r>
            <a:r>
              <a:rPr dirty="0" sz="1500" spc="4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optimizing</a:t>
            </a:r>
            <a:r>
              <a:rPr dirty="0" sz="1500" spc="229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-25" i="1">
                <a:solidFill>
                  <a:srgbClr val="111111"/>
                </a:solidFill>
                <a:latin typeface="Arial"/>
                <a:cs typeface="Arial"/>
              </a:rPr>
              <a:t>for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residual</a:t>
            </a:r>
            <a:r>
              <a:rPr dirty="0" sz="1500" spc="17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errors.</a:t>
            </a:r>
            <a:r>
              <a:rPr dirty="0" sz="1500" spc="16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Random</a:t>
            </a:r>
            <a:r>
              <a:rPr dirty="0" sz="1500" spc="23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Forest</a:t>
            </a:r>
            <a:r>
              <a:rPr dirty="0" sz="1500" spc="13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also</a:t>
            </a:r>
            <a:r>
              <a:rPr dirty="0" sz="1500" spc="7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performed</a:t>
            </a:r>
            <a:r>
              <a:rPr dirty="0" sz="1500" spc="18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well</a:t>
            </a:r>
            <a:r>
              <a:rPr dirty="0" sz="1500" spc="13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-55" i="1">
                <a:solidFill>
                  <a:srgbClr val="2B2B2B"/>
                </a:solidFill>
                <a:latin typeface="Arial"/>
                <a:cs typeface="Arial"/>
              </a:rPr>
              <a:t>(RZ::::.O.</a:t>
            </a:r>
            <a:r>
              <a:rPr dirty="0" sz="1500" spc="-55" i="1">
                <a:solidFill>
                  <a:srgbClr val="111111"/>
                </a:solidFill>
                <a:latin typeface="Arial"/>
                <a:cs typeface="Arial"/>
              </a:rPr>
              <a:t>76),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benefiting</a:t>
            </a:r>
            <a:r>
              <a:rPr dirty="0" sz="1500" spc="21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from</a:t>
            </a:r>
            <a:r>
              <a:rPr dirty="0" sz="1500" spc="10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ensemble</a:t>
            </a:r>
            <a:r>
              <a:rPr dirty="0" sz="1500" spc="14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averaging</a:t>
            </a:r>
            <a:r>
              <a:rPr dirty="0" sz="1500" spc="22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to</a:t>
            </a:r>
            <a:r>
              <a:rPr dirty="0" sz="1500" spc="20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reduce</a:t>
            </a:r>
            <a:r>
              <a:rPr dirty="0" sz="1500" spc="114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variance.</a:t>
            </a:r>
            <a:r>
              <a:rPr dirty="0" sz="1500" spc="204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11111"/>
                </a:solidFill>
                <a:latin typeface="Arial"/>
                <a:cs typeface="Arial"/>
              </a:rPr>
              <a:t>Linear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Regression,</a:t>
            </a:r>
            <a:r>
              <a:rPr dirty="0" sz="1500" spc="27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while</a:t>
            </a:r>
            <a:r>
              <a:rPr dirty="0" sz="1500" spc="4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simplest,</a:t>
            </a:r>
            <a:r>
              <a:rPr dirty="0" sz="1500" spc="15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had</a:t>
            </a:r>
            <a:r>
              <a:rPr dirty="0" sz="1500" spc="15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11111"/>
                </a:solidFill>
                <a:latin typeface="Arial"/>
                <a:cs typeface="Arial"/>
              </a:rPr>
              <a:t>a</a:t>
            </a:r>
            <a:r>
              <a:rPr dirty="0" sz="1500" spc="7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moderately</a:t>
            </a:r>
            <a:r>
              <a:rPr dirty="0" sz="1500" spc="20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good</a:t>
            </a:r>
            <a:r>
              <a:rPr dirty="0" sz="1500" spc="11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fit</a:t>
            </a:r>
            <a:r>
              <a:rPr dirty="0" sz="1500" spc="3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-110" i="1">
                <a:solidFill>
                  <a:srgbClr val="111111"/>
                </a:solidFill>
                <a:latin typeface="Arial"/>
                <a:cs typeface="Arial"/>
              </a:rPr>
              <a:t>(RZ::::.O.71)</a:t>
            </a:r>
            <a:r>
              <a:rPr dirty="0" sz="1500" spc="-11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given</a:t>
            </a:r>
            <a:r>
              <a:rPr dirty="0" sz="1500" spc="7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dirty="0" sz="1500" spc="-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synthetic</a:t>
            </a:r>
            <a:r>
              <a:rPr dirty="0" sz="1500" spc="15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linear</a:t>
            </a:r>
            <a:r>
              <a:rPr dirty="0" sz="1500" spc="12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trend.</a:t>
            </a:r>
            <a:r>
              <a:rPr dirty="0" sz="1500" spc="8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These</a:t>
            </a:r>
            <a:r>
              <a:rPr dirty="0" sz="1500" spc="13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results</a:t>
            </a:r>
            <a:r>
              <a:rPr dirty="0" sz="1500" spc="13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60" i="1">
                <a:solidFill>
                  <a:srgbClr val="111111"/>
                </a:solidFill>
                <a:latin typeface="Arial"/>
                <a:cs typeface="Arial"/>
              </a:rPr>
              <a:t>are</a:t>
            </a:r>
            <a:r>
              <a:rPr dirty="0" sz="1500" spc="5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11111"/>
                </a:solidFill>
                <a:latin typeface="Arial"/>
                <a:cs typeface="Arial"/>
              </a:rPr>
              <a:t>qualitatively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0960" y="3274503"/>
            <a:ext cx="3266182" cy="300646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17327" y="3274503"/>
            <a:ext cx="1186590" cy="2994242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403840" y="3280612"/>
            <a:ext cx="0" cy="2982595"/>
          </a:xfrm>
          <a:custGeom>
            <a:avLst/>
            <a:gdLst/>
            <a:ahLst/>
            <a:cxnLst/>
            <a:rect l="l" t="t" r="r" b="b"/>
            <a:pathLst>
              <a:path w="0" h="2982595">
                <a:moveTo>
                  <a:pt x="0" y="2982020"/>
                </a:moveTo>
                <a:lnTo>
                  <a:pt x="0" y="0"/>
                </a:lnTo>
              </a:path>
            </a:pathLst>
          </a:custGeom>
          <a:ln w="4893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666848" y="3280612"/>
            <a:ext cx="0" cy="2982595"/>
          </a:xfrm>
          <a:custGeom>
            <a:avLst/>
            <a:gdLst/>
            <a:ahLst/>
            <a:cxnLst/>
            <a:rect l="l" t="t" r="r" b="b"/>
            <a:pathLst>
              <a:path w="0" h="2982595">
                <a:moveTo>
                  <a:pt x="0" y="2982020"/>
                </a:moveTo>
                <a:lnTo>
                  <a:pt x="0" y="0"/>
                </a:lnTo>
              </a:path>
            </a:pathLst>
          </a:custGeom>
          <a:ln w="244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807526" y="3280612"/>
            <a:ext cx="0" cy="2982595"/>
          </a:xfrm>
          <a:custGeom>
            <a:avLst/>
            <a:gdLst/>
            <a:ahLst/>
            <a:cxnLst/>
            <a:rect l="l" t="t" r="r" b="b"/>
            <a:pathLst>
              <a:path w="0" h="2982595">
                <a:moveTo>
                  <a:pt x="0" y="2982020"/>
                </a:moveTo>
                <a:lnTo>
                  <a:pt x="0" y="0"/>
                </a:lnTo>
              </a:path>
            </a:pathLst>
          </a:custGeom>
          <a:ln w="6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887040" y="3280612"/>
            <a:ext cx="0" cy="2982595"/>
          </a:xfrm>
          <a:custGeom>
            <a:avLst/>
            <a:gdLst/>
            <a:ahLst/>
            <a:cxnLst/>
            <a:rect l="l" t="t" r="r" b="b"/>
            <a:pathLst>
              <a:path w="0" h="2982595">
                <a:moveTo>
                  <a:pt x="0" y="2982020"/>
                </a:moveTo>
                <a:lnTo>
                  <a:pt x="0" y="0"/>
                </a:lnTo>
              </a:path>
            </a:pathLst>
          </a:custGeom>
          <a:ln w="2446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003252" y="3280612"/>
            <a:ext cx="0" cy="2982595"/>
          </a:xfrm>
          <a:custGeom>
            <a:avLst/>
            <a:gdLst/>
            <a:ahLst/>
            <a:cxnLst/>
            <a:rect l="l" t="t" r="r" b="b"/>
            <a:pathLst>
              <a:path w="0" h="2982595">
                <a:moveTo>
                  <a:pt x="0" y="2982020"/>
                </a:moveTo>
                <a:lnTo>
                  <a:pt x="0" y="0"/>
                </a:lnTo>
              </a:path>
            </a:pathLst>
          </a:custGeom>
          <a:ln w="550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104124" y="852914"/>
            <a:ext cx="5643245" cy="211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450" spc="-25" b="1" i="1">
                <a:solidFill>
                  <a:srgbClr val="131313"/>
                </a:solidFill>
                <a:latin typeface="Arial"/>
                <a:cs typeface="Arial"/>
              </a:rPr>
              <a:t>15</a:t>
            </a:r>
            <a:endParaRPr sz="1450">
              <a:latin typeface="Arial"/>
              <a:cs typeface="Arial"/>
            </a:endParaRPr>
          </a:p>
          <a:p>
            <a:pPr marL="16510" marR="257175">
              <a:lnSpc>
                <a:spcPct val="104299"/>
              </a:lnSpc>
              <a:spcBef>
                <a:spcPts val="1645"/>
              </a:spcBef>
            </a:pP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consistent</a:t>
            </a:r>
            <a:r>
              <a:rPr dirty="0" sz="1500" spc="18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with</a:t>
            </a:r>
            <a:r>
              <a:rPr dirty="0" sz="1500" spc="7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other</a:t>
            </a:r>
            <a:r>
              <a:rPr dirty="0" sz="1500" spc="1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studies</a:t>
            </a:r>
            <a:r>
              <a:rPr dirty="0" sz="1500" spc="2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that</a:t>
            </a:r>
            <a:r>
              <a:rPr dirty="0" sz="1500" spc="1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found</a:t>
            </a:r>
            <a:r>
              <a:rPr dirty="0" sz="1500" spc="13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ensemble</a:t>
            </a:r>
            <a:r>
              <a:rPr dirty="0" sz="1500" spc="1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80" i="1">
                <a:solidFill>
                  <a:srgbClr val="131313"/>
                </a:solidFill>
                <a:latin typeface="Arial"/>
                <a:cs typeface="Arial"/>
              </a:rPr>
              <a:t>ML</a:t>
            </a:r>
            <a:r>
              <a:rPr dirty="0" sz="1500" spc="8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models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can</a:t>
            </a:r>
            <a:r>
              <a:rPr dirty="0" sz="1500" spc="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exceed</a:t>
            </a:r>
            <a:r>
              <a:rPr dirty="0" sz="1500" spc="13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linear</a:t>
            </a:r>
            <a:r>
              <a:rPr dirty="0" sz="1500" spc="8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models</a:t>
            </a:r>
            <a:r>
              <a:rPr dirty="0" sz="1500" spc="2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in</a:t>
            </a:r>
            <a:r>
              <a:rPr dirty="0" sz="1500" spc="1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predictive</a:t>
            </a:r>
            <a:r>
              <a:rPr dirty="0" sz="1500" spc="4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skill.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500">
              <a:latin typeface="Arial"/>
              <a:cs typeface="Arial"/>
            </a:endParaRPr>
          </a:p>
          <a:p>
            <a:pPr marL="16510" marR="15240" indent="-4445">
              <a:lnSpc>
                <a:spcPct val="103400"/>
              </a:lnSpc>
            </a:pP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Figure</a:t>
            </a:r>
            <a:r>
              <a:rPr dirty="0" sz="1500" spc="-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2</a:t>
            </a:r>
            <a:r>
              <a:rPr dirty="0" sz="1500" spc="27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(below)</a:t>
            </a:r>
            <a:r>
              <a:rPr dirty="0" sz="1500" spc="1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further</a:t>
            </a:r>
            <a:r>
              <a:rPr dirty="0" sz="1500" spc="1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illustrates</a:t>
            </a:r>
            <a:r>
              <a:rPr dirty="0" sz="1500" spc="1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the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actual</a:t>
            </a:r>
            <a:r>
              <a:rPr dirty="0" sz="1500" spc="1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versus</a:t>
            </a:r>
            <a:r>
              <a:rPr dirty="0" sz="1500" spc="13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predicted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temperatures</a:t>
            </a:r>
            <a:r>
              <a:rPr dirty="0" sz="1500" spc="3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for</a:t>
            </a:r>
            <a:r>
              <a:rPr dirty="0" sz="1500" spc="13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the</a:t>
            </a:r>
            <a:r>
              <a:rPr dirty="0" sz="1500" spc="4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Linear</a:t>
            </a:r>
            <a:r>
              <a:rPr dirty="0" sz="1500" spc="2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Regression</a:t>
            </a:r>
            <a:r>
              <a:rPr dirty="0" sz="1500" spc="1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model</a:t>
            </a:r>
            <a:r>
              <a:rPr dirty="0" sz="1500" spc="9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60" i="1">
                <a:solidFill>
                  <a:srgbClr val="131313"/>
                </a:solidFill>
                <a:latin typeface="Arial"/>
                <a:cs typeface="Arial"/>
              </a:rPr>
              <a:t>on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test</a:t>
            </a:r>
            <a:r>
              <a:rPr dirty="0" sz="1500" spc="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data.</a:t>
            </a:r>
            <a:r>
              <a:rPr dirty="0" sz="1500" spc="7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5" i="1">
                <a:solidFill>
                  <a:srgbClr val="131313"/>
                </a:solidFill>
                <a:latin typeface="Arial"/>
                <a:cs typeface="Arial"/>
              </a:rPr>
              <a:t>The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points</a:t>
            </a:r>
            <a:r>
              <a:rPr dirty="0" sz="1500" spc="4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050505"/>
                </a:solidFill>
                <a:latin typeface="Arial"/>
                <a:cs typeface="Arial"/>
              </a:rPr>
              <a:t>lie</a:t>
            </a:r>
            <a:r>
              <a:rPr dirty="0" sz="1500" spc="15" i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close</a:t>
            </a:r>
            <a:r>
              <a:rPr dirty="0" sz="1500" spc="5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to</a:t>
            </a:r>
            <a:r>
              <a:rPr dirty="0" sz="1500" spc="1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the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 ideal</a:t>
            </a:r>
            <a:r>
              <a:rPr dirty="0" sz="1500" spc="8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diagonal</a:t>
            </a:r>
            <a:r>
              <a:rPr dirty="0" sz="1500" spc="19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050505"/>
                </a:solidFill>
                <a:latin typeface="Arial"/>
                <a:cs typeface="Arial"/>
              </a:rPr>
              <a:t>line</a:t>
            </a:r>
            <a:r>
              <a:rPr dirty="0" sz="1500" i="1">
                <a:solidFill>
                  <a:srgbClr val="484848"/>
                </a:solidFill>
                <a:latin typeface="Arial"/>
                <a:cs typeface="Arial"/>
              </a:rPr>
              <a:t>,</a:t>
            </a:r>
            <a:r>
              <a:rPr dirty="0" sz="1500" spc="105" i="1">
                <a:solidFill>
                  <a:srgbClr val="484848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indicating</a:t>
            </a:r>
            <a:r>
              <a:rPr dirty="0" sz="1500" spc="19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reasonable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predictive</a:t>
            </a:r>
            <a:r>
              <a:rPr dirty="0" sz="1500" spc="1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performance</a:t>
            </a:r>
            <a:r>
              <a:rPr dirty="0" sz="1500" spc="18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5" i="1">
                <a:solidFill>
                  <a:srgbClr val="131313"/>
                </a:solidFill>
                <a:latin typeface="Arial"/>
                <a:cs typeface="Arial"/>
              </a:rPr>
              <a:t>by 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the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050505"/>
                </a:solidFill>
                <a:latin typeface="Arial"/>
                <a:cs typeface="Arial"/>
              </a:rPr>
              <a:t>linear</a:t>
            </a:r>
            <a:r>
              <a:rPr dirty="0" sz="1500" spc="165" i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00" spc="-20" i="1">
                <a:solidFill>
                  <a:srgbClr val="131313"/>
                </a:solidFill>
                <a:latin typeface="Arial"/>
                <a:cs typeface="Arial"/>
              </a:rPr>
              <a:t>fit.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8068" y="6480612"/>
            <a:ext cx="5849620" cy="2637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35585">
              <a:lnSpc>
                <a:spcPct val="100000"/>
              </a:lnSpc>
              <a:spcBef>
                <a:spcPts val="100"/>
              </a:spcBef>
            </a:pPr>
            <a:r>
              <a:rPr dirty="0" sz="1500" i="1">
                <a:solidFill>
                  <a:srgbClr val="050505"/>
                </a:solidFill>
                <a:latin typeface="Arial"/>
                <a:cs typeface="Arial"/>
              </a:rPr>
              <a:t>Figure</a:t>
            </a:r>
            <a:r>
              <a:rPr dirty="0" sz="1500" spc="5" i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2:</a:t>
            </a:r>
            <a:r>
              <a:rPr dirty="0" sz="1500" spc="30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Climate</a:t>
            </a:r>
            <a:r>
              <a:rPr dirty="0" sz="1500" spc="7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stripes</a:t>
            </a:r>
            <a:r>
              <a:rPr dirty="0" sz="1500" spc="204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representing</a:t>
            </a:r>
            <a:r>
              <a:rPr dirty="0" sz="1500" spc="14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global</a:t>
            </a:r>
            <a:r>
              <a:rPr dirty="0" sz="1500" spc="1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temperature</a:t>
            </a:r>
            <a:r>
              <a:rPr dirty="0" sz="1500" spc="254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20" i="1">
                <a:solidFill>
                  <a:srgbClr val="131313"/>
                </a:solidFill>
                <a:latin typeface="Arial"/>
                <a:cs typeface="Arial"/>
              </a:rPr>
              <a:t>rise</a:t>
            </a:r>
            <a:r>
              <a:rPr dirty="0" sz="1500" spc="-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over</a:t>
            </a:r>
            <a:r>
              <a:rPr dirty="0" sz="1500" spc="1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nearly</a:t>
            </a:r>
            <a:r>
              <a:rPr dirty="0" sz="1500" spc="1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5" i="1">
                <a:solidFill>
                  <a:srgbClr val="131313"/>
                </a:solidFill>
                <a:latin typeface="Arial"/>
                <a:cs typeface="Arial"/>
              </a:rPr>
              <a:t>two</a:t>
            </a:r>
            <a:r>
              <a:rPr dirty="0" sz="1500" spc="-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centuries</a:t>
            </a:r>
            <a:r>
              <a:rPr dirty="0" sz="1500" spc="8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313131"/>
                </a:solidFill>
                <a:latin typeface="Arial"/>
                <a:cs typeface="Arial"/>
              </a:rPr>
              <a:t>.</a:t>
            </a:r>
            <a:r>
              <a:rPr dirty="0" sz="1500" spc="28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050505"/>
                </a:solidFill>
                <a:latin typeface="Arial"/>
                <a:cs typeface="Arial"/>
              </a:rPr>
              <a:t>Each</a:t>
            </a:r>
            <a:r>
              <a:rPr dirty="0" sz="1500" spc="55" i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vertical</a:t>
            </a:r>
            <a:r>
              <a:rPr dirty="0" sz="1500" spc="9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bar</a:t>
            </a:r>
            <a:r>
              <a:rPr dirty="0" sz="1500" spc="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corresponds</a:t>
            </a:r>
            <a:r>
              <a:rPr dirty="0" sz="1500" spc="24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to</a:t>
            </a:r>
            <a:r>
              <a:rPr dirty="0" sz="1500" spc="15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25" i="1">
                <a:solidFill>
                  <a:srgbClr val="131313"/>
                </a:solidFill>
                <a:latin typeface="Arial"/>
                <a:cs typeface="Arial"/>
              </a:rPr>
              <a:t>one</a:t>
            </a:r>
            <a:r>
              <a:rPr dirty="0" sz="1500" spc="-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year's</a:t>
            </a:r>
            <a:r>
              <a:rPr dirty="0" sz="1500" spc="2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050505"/>
                </a:solidFill>
                <a:latin typeface="Arial"/>
                <a:cs typeface="Arial"/>
              </a:rPr>
              <a:t>average</a:t>
            </a:r>
            <a:r>
              <a:rPr dirty="0" sz="1500" spc="165" i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temperature</a:t>
            </a:r>
            <a:r>
              <a:rPr dirty="0" sz="1500" spc="34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(blue=cooler</a:t>
            </a:r>
            <a:r>
              <a:rPr dirty="0" sz="1500" i="1">
                <a:solidFill>
                  <a:srgbClr val="484848"/>
                </a:solidFill>
                <a:latin typeface="Arial"/>
                <a:cs typeface="Arial"/>
              </a:rPr>
              <a:t>,</a:t>
            </a:r>
            <a:r>
              <a:rPr dirty="0" sz="1500" spc="325" i="1">
                <a:solidFill>
                  <a:srgbClr val="484848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red=warmer)</a:t>
            </a:r>
            <a:r>
              <a:rPr dirty="0" sz="1500" i="1">
                <a:solidFill>
                  <a:srgbClr val="484848"/>
                </a:solidFill>
                <a:latin typeface="Arial"/>
                <a:cs typeface="Arial"/>
              </a:rPr>
              <a:t>.</a:t>
            </a:r>
            <a:r>
              <a:rPr dirty="0" sz="1500" spc="200" i="1">
                <a:solidFill>
                  <a:srgbClr val="484848"/>
                </a:solidFill>
                <a:latin typeface="Arial"/>
                <a:cs typeface="Arial"/>
              </a:rPr>
              <a:t> </a:t>
            </a:r>
            <a:r>
              <a:rPr dirty="0" sz="1500" spc="-25" i="1">
                <a:solidFill>
                  <a:srgbClr val="131313"/>
                </a:solidFill>
                <a:latin typeface="Arial"/>
                <a:cs typeface="Arial"/>
              </a:rPr>
              <a:t>The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graphic</a:t>
            </a:r>
            <a:r>
              <a:rPr dirty="0" sz="1500" spc="10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vividly</a:t>
            </a:r>
            <a:r>
              <a:rPr dirty="0" sz="1500" spc="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shows</a:t>
            </a:r>
            <a:r>
              <a:rPr dirty="0" sz="1500" spc="2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rapid</a:t>
            </a:r>
            <a:r>
              <a:rPr dirty="0" sz="1500" spc="9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warming</a:t>
            </a:r>
            <a:r>
              <a:rPr dirty="0" sz="1500" spc="114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in</a:t>
            </a:r>
            <a:r>
              <a:rPr dirty="0" sz="1500" spc="17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recent</a:t>
            </a:r>
            <a:r>
              <a:rPr dirty="0" sz="1500" spc="7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decades</a:t>
            </a:r>
            <a:r>
              <a:rPr dirty="0" sz="1500" i="1">
                <a:solidFill>
                  <a:srgbClr val="484848"/>
                </a:solidFill>
                <a:latin typeface="Arial"/>
                <a:cs typeface="Arial"/>
              </a:rPr>
              <a:t>,</a:t>
            </a:r>
            <a:r>
              <a:rPr dirty="0" sz="1500" spc="220" i="1">
                <a:solidFill>
                  <a:srgbClr val="484848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reinforcing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the</a:t>
            </a:r>
            <a:r>
              <a:rPr dirty="0" sz="1500" spc="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need</a:t>
            </a:r>
            <a:r>
              <a:rPr dirty="0" sz="1500" spc="13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for</a:t>
            </a:r>
            <a:r>
              <a:rPr dirty="0" sz="1500" spc="9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effective</a:t>
            </a:r>
            <a:r>
              <a:rPr dirty="0" sz="1500" spc="15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predictive</a:t>
            </a:r>
            <a:r>
              <a:rPr dirty="0" sz="1500" spc="13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models.</a:t>
            </a:r>
            <a:r>
              <a:rPr dirty="0" sz="1500" spc="1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(Source:</a:t>
            </a:r>
            <a:r>
              <a:rPr dirty="0" sz="1500" spc="19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050505"/>
                </a:solidFill>
                <a:latin typeface="Arial"/>
                <a:cs typeface="Arial"/>
              </a:rPr>
              <a:t>Ed</a:t>
            </a:r>
            <a:r>
              <a:rPr dirty="0" sz="1500" spc="165" i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Hawkins,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Univ.</a:t>
            </a:r>
            <a:r>
              <a:rPr dirty="0" sz="1500" spc="1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Reading)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1500">
              <a:latin typeface="Arial"/>
              <a:cs typeface="Arial"/>
            </a:endParaRPr>
          </a:p>
          <a:p>
            <a:pPr marL="29209" marR="15240" indent="228600">
              <a:lnSpc>
                <a:spcPct val="102899"/>
              </a:lnSpc>
              <a:spcBef>
                <a:spcPts val="5"/>
              </a:spcBef>
            </a:pP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In</a:t>
            </a:r>
            <a:r>
              <a:rPr dirty="0" sz="1500" spc="1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terms</a:t>
            </a:r>
            <a:r>
              <a:rPr dirty="0" sz="1500" spc="7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of</a:t>
            </a:r>
            <a:r>
              <a:rPr dirty="0" sz="1500" spc="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computation,</a:t>
            </a:r>
            <a:r>
              <a:rPr dirty="0" sz="1500" spc="3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training</a:t>
            </a:r>
            <a:r>
              <a:rPr dirty="0" sz="1500" spc="10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times</a:t>
            </a:r>
            <a:r>
              <a:rPr dirty="0" sz="1500" spc="17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were</a:t>
            </a:r>
            <a:r>
              <a:rPr dirty="0" sz="1500" spc="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negligible</a:t>
            </a:r>
            <a:r>
              <a:rPr dirty="0" sz="1500" spc="1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for</a:t>
            </a:r>
            <a:r>
              <a:rPr dirty="0" sz="1500" spc="7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these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small</a:t>
            </a:r>
            <a:r>
              <a:rPr dirty="0" sz="1500" spc="14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models.</a:t>
            </a:r>
            <a:r>
              <a:rPr dirty="0" sz="1500" spc="2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050505"/>
                </a:solidFill>
                <a:latin typeface="Arial"/>
                <a:cs typeface="Arial"/>
              </a:rPr>
              <a:t>For</a:t>
            </a:r>
            <a:r>
              <a:rPr dirty="0" sz="1500" spc="75" i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real-world</a:t>
            </a:r>
            <a:r>
              <a:rPr dirty="0" sz="1500" spc="1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datasets,</a:t>
            </a:r>
            <a:r>
              <a:rPr dirty="0" sz="1500" spc="14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scalability</a:t>
            </a:r>
            <a:r>
              <a:rPr dirty="0" sz="1500" spc="2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considerations 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(e</a:t>
            </a:r>
            <a:r>
              <a:rPr dirty="0" sz="1500" spc="10" i="1">
                <a:solidFill>
                  <a:srgbClr val="484848"/>
                </a:solidFill>
                <a:latin typeface="Arial"/>
                <a:cs typeface="Arial"/>
              </a:rPr>
              <a:t>.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g</a:t>
            </a:r>
            <a:r>
              <a:rPr dirty="0" sz="1500" spc="10" i="1">
                <a:solidFill>
                  <a:srgbClr val="484848"/>
                </a:solidFill>
                <a:latin typeface="Arial"/>
                <a:cs typeface="Arial"/>
              </a:rPr>
              <a:t>.,</a:t>
            </a:r>
            <a:r>
              <a:rPr dirty="0" sz="1500" spc="140" i="1">
                <a:solidFill>
                  <a:srgbClr val="484848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tree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count</a:t>
            </a:r>
            <a:r>
              <a:rPr dirty="0" sz="1500" spc="10" i="1">
                <a:solidFill>
                  <a:srgbClr val="484848"/>
                </a:solidFill>
                <a:latin typeface="Arial"/>
                <a:cs typeface="Arial"/>
              </a:rPr>
              <a:t>,</a:t>
            </a:r>
            <a:r>
              <a:rPr dirty="0" sz="1500" spc="175" i="1">
                <a:solidFill>
                  <a:srgbClr val="484848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feature</a:t>
            </a:r>
            <a:r>
              <a:rPr dirty="0" sz="1500" spc="19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dimensionality)</a:t>
            </a:r>
            <a:r>
              <a:rPr dirty="0" sz="1500" spc="-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become</a:t>
            </a:r>
            <a:r>
              <a:rPr dirty="0" sz="1500" spc="1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important.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1830" y="846549"/>
            <a:ext cx="5872480" cy="1177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500" spc="-25" b="1" i="1">
                <a:solidFill>
                  <a:srgbClr val="131313"/>
                </a:solidFill>
                <a:latin typeface="Arial"/>
                <a:cs typeface="Arial"/>
              </a:rPr>
              <a:t>16</a:t>
            </a:r>
            <a:endParaRPr sz="1500">
              <a:latin typeface="Arial"/>
              <a:cs typeface="Arial"/>
            </a:endParaRPr>
          </a:p>
          <a:p>
            <a:pPr algn="just" marL="12700" marR="302895" indent="1905">
              <a:lnSpc>
                <a:spcPct val="104299"/>
              </a:lnSpc>
              <a:spcBef>
                <a:spcPts val="1635"/>
              </a:spcBef>
            </a:pP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Nonetheless</a:t>
            </a:r>
            <a:r>
              <a:rPr dirty="0" sz="1500" i="1">
                <a:solidFill>
                  <a:srgbClr val="3F3F3F"/>
                </a:solidFill>
                <a:latin typeface="Arial"/>
                <a:cs typeface="Arial"/>
              </a:rPr>
              <a:t>,</a:t>
            </a:r>
            <a:r>
              <a:rPr dirty="0" sz="1500" spc="135" i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this</a:t>
            </a:r>
            <a:r>
              <a:rPr dirty="0" sz="1500" spc="9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controlled</a:t>
            </a:r>
            <a:r>
              <a:rPr dirty="0" sz="1500" spc="17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experiment</a:t>
            </a:r>
            <a:r>
              <a:rPr dirty="0" sz="1500" spc="28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shows</a:t>
            </a:r>
            <a:r>
              <a:rPr dirty="0" sz="1500" spc="2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that</a:t>
            </a:r>
            <a:r>
              <a:rPr dirty="0" sz="1500" spc="3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80" i="1">
                <a:solidFill>
                  <a:srgbClr val="131313"/>
                </a:solidFill>
                <a:latin typeface="Arial"/>
                <a:cs typeface="Arial"/>
              </a:rPr>
              <a:t>ML</a:t>
            </a:r>
            <a:r>
              <a:rPr dirty="0" sz="1500" spc="7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models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65" i="1">
                <a:solidFill>
                  <a:srgbClr val="131313"/>
                </a:solidFill>
                <a:latin typeface="Arial"/>
                <a:cs typeface="Arial"/>
              </a:rPr>
              <a:t>can</a:t>
            </a:r>
            <a:r>
              <a:rPr dirty="0" sz="1500" spc="7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learn</a:t>
            </a:r>
            <a:r>
              <a:rPr dirty="0" sz="1500" spc="7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climate-like</a:t>
            </a:r>
            <a:r>
              <a:rPr dirty="0" sz="1500" spc="17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trends</a:t>
            </a:r>
            <a:r>
              <a:rPr dirty="0" sz="1500" spc="13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from</a:t>
            </a:r>
            <a:r>
              <a:rPr dirty="0" sz="1500" spc="8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data</a:t>
            </a:r>
            <a:r>
              <a:rPr dirty="0" sz="1500" i="1">
                <a:solidFill>
                  <a:srgbClr val="525252"/>
                </a:solidFill>
                <a:latin typeface="Arial"/>
                <a:cs typeface="Arial"/>
              </a:rPr>
              <a:t>,</a:t>
            </a:r>
            <a:r>
              <a:rPr dirty="0" sz="1500" spc="95" i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supporting</a:t>
            </a:r>
            <a:r>
              <a:rPr dirty="0" sz="1500" spc="19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the</a:t>
            </a:r>
            <a:r>
              <a:rPr dirty="0" sz="1500" spc="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idea</a:t>
            </a:r>
            <a:r>
              <a:rPr dirty="0" sz="1500" spc="9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20" i="1">
                <a:solidFill>
                  <a:srgbClr val="131313"/>
                </a:solidFill>
                <a:latin typeface="Arial"/>
                <a:cs typeface="Arial"/>
              </a:rPr>
              <a:t>that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advanced</a:t>
            </a:r>
            <a:r>
              <a:rPr dirty="0" sz="1500" spc="2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data</a:t>
            </a:r>
            <a:r>
              <a:rPr dirty="0" sz="1500" spc="9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science</a:t>
            </a:r>
            <a:r>
              <a:rPr dirty="0" sz="1500" spc="14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65" i="1">
                <a:solidFill>
                  <a:srgbClr val="131313"/>
                </a:solidFill>
                <a:latin typeface="Arial"/>
                <a:cs typeface="Arial"/>
              </a:rPr>
              <a:t>can</a:t>
            </a:r>
            <a:r>
              <a:rPr dirty="0" sz="1500" spc="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enhance</a:t>
            </a:r>
            <a:r>
              <a:rPr dirty="0" sz="1500" spc="13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climate</a:t>
            </a:r>
            <a:r>
              <a:rPr dirty="0" sz="1500" spc="9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forecasting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5713" y="3173451"/>
            <a:ext cx="5861685" cy="58781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9685">
              <a:lnSpc>
                <a:spcPct val="100000"/>
              </a:lnSpc>
              <a:spcBef>
                <a:spcPts val="105"/>
              </a:spcBef>
            </a:pPr>
            <a:r>
              <a:rPr dirty="0" u="heavy" sz="1750" spc="65" i="1">
                <a:solidFill>
                  <a:srgbClr val="26464D"/>
                </a:solidFill>
                <a:uFill>
                  <a:solidFill>
                    <a:srgbClr val="26464D"/>
                  </a:solidFill>
                </a:uFill>
                <a:latin typeface="Arial"/>
                <a:cs typeface="Arial"/>
              </a:rPr>
              <a:t>Discussion</a:t>
            </a:r>
            <a:endParaRPr sz="17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750">
              <a:latin typeface="Arial"/>
              <a:cs typeface="Arial"/>
            </a:endParaRPr>
          </a:p>
          <a:p>
            <a:pPr marL="12700" marR="5080" indent="5080">
              <a:lnSpc>
                <a:spcPct val="102200"/>
              </a:lnSpc>
            </a:pPr>
            <a:r>
              <a:rPr dirty="0" sz="1500" spc="65" i="1">
                <a:solidFill>
                  <a:srgbClr val="131313"/>
                </a:solidFill>
                <a:latin typeface="Arial"/>
                <a:cs typeface="Arial"/>
              </a:rPr>
              <a:t>The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results</a:t>
            </a:r>
            <a:r>
              <a:rPr dirty="0" sz="1500" spc="2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indicate</a:t>
            </a:r>
            <a:r>
              <a:rPr dirty="0" sz="1500" spc="9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that</a:t>
            </a:r>
            <a:r>
              <a:rPr dirty="0" sz="1500" spc="7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even</a:t>
            </a:r>
            <a:r>
              <a:rPr dirty="0" sz="1500" spc="3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31313"/>
                </a:solidFill>
                <a:latin typeface="Arial"/>
                <a:cs typeface="Arial"/>
              </a:rPr>
              <a:t>a</a:t>
            </a:r>
            <a:r>
              <a:rPr dirty="0" sz="1550" spc="6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simple</a:t>
            </a:r>
            <a:r>
              <a:rPr dirty="0" sz="1500" spc="17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linear</a:t>
            </a:r>
            <a:r>
              <a:rPr dirty="0" sz="1500" spc="1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regression</a:t>
            </a:r>
            <a:r>
              <a:rPr dirty="0" sz="1500" spc="5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40" i="1">
                <a:solidFill>
                  <a:srgbClr val="131313"/>
                </a:solidFill>
                <a:latin typeface="Arial"/>
                <a:cs typeface="Arial"/>
              </a:rPr>
              <a:t>can</a:t>
            </a:r>
            <a:r>
              <a:rPr dirty="0" sz="1500" spc="4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effectively</a:t>
            </a:r>
            <a:r>
              <a:rPr dirty="0" sz="1500" spc="2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capture</a:t>
            </a:r>
            <a:r>
              <a:rPr dirty="0" sz="1500" spc="7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climate</a:t>
            </a:r>
            <a:r>
              <a:rPr dirty="0" sz="1500" spc="10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trends</a:t>
            </a:r>
            <a:r>
              <a:rPr dirty="0" sz="1500" spc="1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when</a:t>
            </a:r>
            <a:r>
              <a:rPr dirty="0" sz="1500" spc="1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the</a:t>
            </a:r>
            <a:r>
              <a:rPr dirty="0" sz="1500" spc="3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underlying</a:t>
            </a:r>
            <a:r>
              <a:rPr dirty="0" sz="1500" spc="2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pattern</a:t>
            </a:r>
            <a:r>
              <a:rPr dirty="0" sz="1500" spc="204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25" i="1">
                <a:solidFill>
                  <a:srgbClr val="131313"/>
                </a:solidFill>
                <a:latin typeface="Arial"/>
                <a:cs typeface="Arial"/>
              </a:rPr>
              <a:t>is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nearly</a:t>
            </a:r>
            <a:r>
              <a:rPr dirty="0" sz="1500" spc="17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linear</a:t>
            </a:r>
            <a:r>
              <a:rPr dirty="0" sz="1500" spc="1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(as</a:t>
            </a:r>
            <a:r>
              <a:rPr dirty="0" sz="1500" spc="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in</a:t>
            </a:r>
            <a:r>
              <a:rPr dirty="0" sz="1500" spc="1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our</a:t>
            </a:r>
            <a:r>
              <a:rPr dirty="0" sz="1500" spc="3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synthetic</a:t>
            </a:r>
            <a:r>
              <a:rPr dirty="0" sz="1500" spc="21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data).</a:t>
            </a:r>
            <a:r>
              <a:rPr dirty="0" sz="1500" spc="1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The</a:t>
            </a:r>
            <a:r>
              <a:rPr dirty="0" sz="1500" spc="8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strength</a:t>
            </a:r>
            <a:r>
              <a:rPr dirty="0" sz="1500" spc="170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of</a:t>
            </a:r>
            <a:r>
              <a:rPr dirty="0" sz="1500" spc="13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20" i="1">
                <a:solidFill>
                  <a:srgbClr val="131313"/>
                </a:solidFill>
                <a:latin typeface="Arial"/>
                <a:cs typeface="Arial"/>
              </a:rPr>
              <a:t>this</a:t>
            </a:r>
            <a:r>
              <a:rPr dirty="0" sz="1500" spc="-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approach</a:t>
            </a:r>
            <a:r>
              <a:rPr dirty="0" sz="1500" spc="14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is</a:t>
            </a:r>
            <a:r>
              <a:rPr dirty="0" sz="1500" spc="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its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simplicity</a:t>
            </a:r>
            <a:r>
              <a:rPr dirty="0" sz="1500" spc="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60" i="1">
                <a:solidFill>
                  <a:srgbClr val="131313"/>
                </a:solidFill>
                <a:latin typeface="Arial"/>
                <a:cs typeface="Arial"/>
              </a:rPr>
              <a:t>and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 interpretability:</a:t>
            </a:r>
            <a:r>
              <a:rPr dirty="0" sz="1500" spc="-8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50" spc="10">
                <a:solidFill>
                  <a:srgbClr val="131313"/>
                </a:solidFill>
                <a:latin typeface="Arial"/>
                <a:cs typeface="Arial"/>
              </a:rPr>
              <a:t>a</a:t>
            </a:r>
            <a:r>
              <a:rPr dirty="0" sz="1550" spc="10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050505"/>
                </a:solidFill>
                <a:latin typeface="Arial"/>
                <a:cs typeface="Arial"/>
              </a:rPr>
              <a:t>linear</a:t>
            </a:r>
            <a:r>
              <a:rPr dirty="0" sz="1500" spc="105" i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model</a:t>
            </a:r>
            <a:r>
              <a:rPr dirty="0" sz="1500" spc="1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20" i="1">
                <a:solidFill>
                  <a:srgbClr val="131313"/>
                </a:solidFill>
                <a:latin typeface="Arial"/>
                <a:cs typeface="Arial"/>
              </a:rPr>
              <a:t>with</a:t>
            </a:r>
            <a:r>
              <a:rPr dirty="0" sz="1500" spc="-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5" i="1">
                <a:solidFill>
                  <a:srgbClr val="131313"/>
                </a:solidFill>
                <a:latin typeface="Arial"/>
                <a:cs typeface="Arial"/>
              </a:rPr>
              <a:t>two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 features</a:t>
            </a:r>
            <a:r>
              <a:rPr dirty="0" sz="1500" spc="1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explained</a:t>
            </a:r>
            <a:r>
              <a:rPr dirty="0" sz="1500" spc="204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31313"/>
                </a:solidFill>
                <a:latin typeface="Arial"/>
                <a:cs typeface="Arial"/>
              </a:rPr>
              <a:t>97%</a:t>
            </a:r>
            <a:r>
              <a:rPr dirty="0" sz="1500" spc="-1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of</a:t>
            </a:r>
            <a:r>
              <a:rPr dirty="0" sz="1500" spc="1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the</a:t>
            </a:r>
            <a:r>
              <a:rPr dirty="0" sz="1500" spc="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variance.</a:t>
            </a:r>
            <a:r>
              <a:rPr dirty="0" sz="1500" spc="15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050505"/>
                </a:solidFill>
                <a:latin typeface="Arial"/>
                <a:cs typeface="Arial"/>
              </a:rPr>
              <a:t>However</a:t>
            </a:r>
            <a:r>
              <a:rPr dirty="0" sz="1500" i="1">
                <a:solidFill>
                  <a:srgbClr val="3F3F3F"/>
                </a:solidFill>
                <a:latin typeface="Arial"/>
                <a:cs typeface="Arial"/>
              </a:rPr>
              <a:t>,</a:t>
            </a:r>
            <a:r>
              <a:rPr dirty="0" sz="1500" spc="170" i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this</a:t>
            </a:r>
            <a:r>
              <a:rPr dirty="0" sz="1500" spc="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20" i="1">
                <a:solidFill>
                  <a:srgbClr val="131313"/>
                </a:solidFill>
                <a:latin typeface="Arial"/>
                <a:cs typeface="Arial"/>
              </a:rPr>
              <a:t>also</a:t>
            </a:r>
            <a:r>
              <a:rPr dirty="0" sz="1500" spc="-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highlights</a:t>
            </a:r>
            <a:r>
              <a:rPr dirty="0" sz="1500" spc="19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31313"/>
                </a:solidFill>
                <a:latin typeface="Arial"/>
                <a:cs typeface="Arial"/>
              </a:rPr>
              <a:t>a</a:t>
            </a:r>
            <a:r>
              <a:rPr dirty="0" sz="1550" spc="17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050505"/>
                </a:solidFill>
                <a:latin typeface="Arial"/>
                <a:cs typeface="Arial"/>
              </a:rPr>
              <a:t>limitation:</a:t>
            </a:r>
            <a:r>
              <a:rPr dirty="0" sz="1500" spc="280" i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real</a:t>
            </a:r>
            <a:r>
              <a:rPr dirty="0" sz="1500" spc="5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climate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systems</a:t>
            </a:r>
            <a:r>
              <a:rPr dirty="0" sz="1500" spc="114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60" i="1">
                <a:solidFill>
                  <a:srgbClr val="131313"/>
                </a:solidFill>
                <a:latin typeface="Arial"/>
                <a:cs typeface="Arial"/>
              </a:rPr>
              <a:t>are</a:t>
            </a:r>
            <a:r>
              <a:rPr dirty="0" sz="1500" spc="8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more</a:t>
            </a:r>
            <a:r>
              <a:rPr dirty="0" sz="1500" spc="7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complex</a:t>
            </a:r>
            <a:r>
              <a:rPr dirty="0" sz="1500" i="1">
                <a:solidFill>
                  <a:srgbClr val="3F3F3F"/>
                </a:solidFill>
                <a:latin typeface="Arial"/>
                <a:cs typeface="Arial"/>
              </a:rPr>
              <a:t>,</a:t>
            </a:r>
            <a:r>
              <a:rPr dirty="0" sz="1500" spc="80" i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500" spc="-25" i="1">
                <a:solidFill>
                  <a:srgbClr val="131313"/>
                </a:solidFill>
                <a:latin typeface="Arial"/>
                <a:cs typeface="Arial"/>
              </a:rPr>
              <a:t>and</a:t>
            </a:r>
            <a:r>
              <a:rPr dirty="0" sz="1500" spc="-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our</a:t>
            </a:r>
            <a:r>
              <a:rPr dirty="0" sz="1500" spc="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synthetic</a:t>
            </a:r>
            <a:r>
              <a:rPr dirty="0" sz="1500" spc="1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dataset</a:t>
            </a:r>
            <a:r>
              <a:rPr dirty="0" sz="1500" spc="1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may</a:t>
            </a:r>
            <a:r>
              <a:rPr dirty="0" sz="1500" spc="15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not</a:t>
            </a:r>
            <a:r>
              <a:rPr dirty="0" sz="1500" spc="114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reflect</a:t>
            </a:r>
            <a:r>
              <a:rPr dirty="0" sz="1500" spc="1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all</a:t>
            </a:r>
            <a:r>
              <a:rPr dirty="0" sz="1500" spc="2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variabilities</a:t>
            </a:r>
            <a:r>
              <a:rPr dirty="0" sz="1500" spc="19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(e.g.</a:t>
            </a:r>
            <a:r>
              <a:rPr dirty="0" sz="1500" i="1">
                <a:solidFill>
                  <a:srgbClr val="3F3F3F"/>
                </a:solidFill>
                <a:latin typeface="Arial"/>
                <a:cs typeface="Arial"/>
              </a:rPr>
              <a:t>,</a:t>
            </a:r>
            <a:r>
              <a:rPr dirty="0" sz="1500" spc="105" i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seasonal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effects</a:t>
            </a:r>
            <a:r>
              <a:rPr dirty="0" sz="1500" i="1">
                <a:solidFill>
                  <a:srgbClr val="525252"/>
                </a:solidFill>
                <a:latin typeface="Arial"/>
                <a:cs typeface="Arial"/>
              </a:rPr>
              <a:t>,</a:t>
            </a:r>
            <a:r>
              <a:rPr dirty="0" sz="1500" spc="200" i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extreme</a:t>
            </a:r>
            <a:r>
              <a:rPr dirty="0" sz="1500" spc="10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events)</a:t>
            </a:r>
            <a:r>
              <a:rPr dirty="0" sz="1500" i="1">
                <a:solidFill>
                  <a:srgbClr val="3F3F3F"/>
                </a:solidFill>
                <a:latin typeface="Arial"/>
                <a:cs typeface="Arial"/>
              </a:rPr>
              <a:t>.</a:t>
            </a:r>
            <a:r>
              <a:rPr dirty="0" sz="1500" spc="50" i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Consequently</a:t>
            </a:r>
            <a:r>
              <a:rPr dirty="0" sz="1500" i="1">
                <a:solidFill>
                  <a:srgbClr val="3F3F3F"/>
                </a:solidFill>
                <a:latin typeface="Arial"/>
                <a:cs typeface="Arial"/>
              </a:rPr>
              <a:t>,</a:t>
            </a:r>
            <a:r>
              <a:rPr dirty="0" sz="1500" spc="270" i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the</a:t>
            </a:r>
            <a:r>
              <a:rPr dirty="0" sz="1500" spc="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models</a:t>
            </a:r>
            <a:r>
              <a:rPr dirty="0" sz="1500" spc="2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here</a:t>
            </a:r>
            <a:r>
              <a:rPr dirty="0" sz="1500" spc="8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might</a:t>
            </a:r>
            <a:r>
              <a:rPr dirty="0" sz="1500" spc="500" i="1">
                <a:solidFill>
                  <a:srgbClr val="131313"/>
                </a:solidFill>
                <a:latin typeface="Arial"/>
                <a:cs typeface="Arial"/>
              </a:rPr>
              <a:t>  </a:t>
            </a: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fail </a:t>
            </a:r>
            <a:r>
              <a:rPr dirty="0" sz="1500" spc="60" i="1">
                <a:solidFill>
                  <a:srgbClr val="131313"/>
                </a:solidFill>
                <a:latin typeface="Arial"/>
                <a:cs typeface="Arial"/>
              </a:rPr>
              <a:t>on</a:t>
            </a:r>
            <a:r>
              <a:rPr dirty="0" sz="1500" spc="1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real-world</a:t>
            </a:r>
            <a:r>
              <a:rPr dirty="0" sz="1500" spc="114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data</a:t>
            </a:r>
            <a:r>
              <a:rPr dirty="0" sz="1500" spc="10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without</a:t>
            </a:r>
            <a:r>
              <a:rPr dirty="0" sz="1500" spc="8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additional</a:t>
            </a:r>
            <a:r>
              <a:rPr dirty="0" sz="1500" spc="18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features</a:t>
            </a:r>
            <a:r>
              <a:rPr dirty="0" sz="1500" spc="1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or</a:t>
            </a:r>
            <a:r>
              <a:rPr dirty="0" sz="1500" spc="3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model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 complexity.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500">
              <a:latin typeface="Arial"/>
              <a:cs typeface="Arial"/>
            </a:endParaRPr>
          </a:p>
          <a:p>
            <a:pPr marL="18415" marR="115570" indent="226060">
              <a:lnSpc>
                <a:spcPct val="103200"/>
              </a:lnSpc>
            </a:pP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In</a:t>
            </a:r>
            <a:r>
              <a:rPr dirty="0" sz="1500" spc="17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31313"/>
                </a:solidFill>
                <a:latin typeface="Arial"/>
                <a:cs typeface="Arial"/>
              </a:rPr>
              <a:t>a</a:t>
            </a:r>
            <a:r>
              <a:rPr dirty="0" sz="1550" spc="9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real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agricultural</a:t>
            </a:r>
            <a:r>
              <a:rPr dirty="0" sz="1500" spc="1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context</a:t>
            </a:r>
            <a:r>
              <a:rPr dirty="0" sz="1500" i="1">
                <a:solidFill>
                  <a:srgbClr val="3F3F3F"/>
                </a:solidFill>
                <a:latin typeface="Arial"/>
                <a:cs typeface="Arial"/>
              </a:rPr>
              <a:t>,</a:t>
            </a:r>
            <a:r>
              <a:rPr dirty="0" sz="1500" spc="130" i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climate</a:t>
            </a:r>
            <a:r>
              <a:rPr dirty="0" sz="1500" spc="8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predictions</a:t>
            </a:r>
            <a:r>
              <a:rPr dirty="0" sz="1500" spc="28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would</a:t>
            </a:r>
            <a:r>
              <a:rPr dirty="0" sz="1500" spc="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involve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more</a:t>
            </a:r>
            <a:r>
              <a:rPr dirty="0" sz="1500" spc="13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variables</a:t>
            </a:r>
            <a:r>
              <a:rPr dirty="0" sz="1500" spc="29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{humidity</a:t>
            </a:r>
            <a:r>
              <a:rPr dirty="0" sz="1500" i="1">
                <a:solidFill>
                  <a:srgbClr val="3F3F3F"/>
                </a:solidFill>
                <a:latin typeface="Arial"/>
                <a:cs typeface="Arial"/>
              </a:rPr>
              <a:t>,</a:t>
            </a:r>
            <a:r>
              <a:rPr dirty="0" sz="1500" spc="175" i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rainfall</a:t>
            </a:r>
            <a:r>
              <a:rPr dirty="0" sz="1500" i="1">
                <a:solidFill>
                  <a:srgbClr val="3F3F3F"/>
                </a:solidFill>
                <a:latin typeface="Arial"/>
                <a:cs typeface="Arial"/>
              </a:rPr>
              <a:t>,</a:t>
            </a:r>
            <a:r>
              <a:rPr dirty="0" sz="1500" spc="145" i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etc.)</a:t>
            </a:r>
            <a:r>
              <a:rPr dirty="0" sz="1500" spc="-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and</a:t>
            </a:r>
            <a:r>
              <a:rPr dirty="0" sz="1500" spc="7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possibly</a:t>
            </a:r>
            <a:r>
              <a:rPr dirty="0" sz="1500" spc="2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nonlinear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behavior</a:t>
            </a:r>
            <a:r>
              <a:rPr dirty="0" sz="1500" i="1">
                <a:solidFill>
                  <a:srgbClr val="525252"/>
                </a:solidFill>
                <a:latin typeface="Arial"/>
                <a:cs typeface="Arial"/>
              </a:rPr>
              <a:t>.</a:t>
            </a:r>
            <a:r>
              <a:rPr dirty="0" sz="1500" spc="114" i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Ensemble</a:t>
            </a:r>
            <a:r>
              <a:rPr dirty="0" sz="1500" spc="2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models</a:t>
            </a:r>
            <a:r>
              <a:rPr dirty="0" sz="1500" spc="2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050505"/>
                </a:solidFill>
                <a:latin typeface="Arial"/>
                <a:cs typeface="Arial"/>
              </a:rPr>
              <a:t>like</a:t>
            </a:r>
            <a:r>
              <a:rPr dirty="0" sz="1500" spc="150" i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Random</a:t>
            </a:r>
            <a:r>
              <a:rPr dirty="0" sz="1500" spc="2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Forest</a:t>
            </a:r>
            <a:r>
              <a:rPr dirty="0" sz="1500" spc="2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might</a:t>
            </a:r>
            <a:r>
              <a:rPr dirty="0" sz="1500" spc="114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then</a:t>
            </a:r>
            <a:r>
              <a:rPr dirty="0" sz="1500" spc="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yield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better</a:t>
            </a:r>
            <a:r>
              <a:rPr dirty="0" sz="1500" spc="1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performance</a:t>
            </a:r>
            <a:r>
              <a:rPr dirty="0" sz="1500" spc="18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5" i="1">
                <a:solidFill>
                  <a:srgbClr val="131313"/>
                </a:solidFill>
                <a:latin typeface="Arial"/>
                <a:cs typeface="Arial"/>
              </a:rPr>
              <a:t>by</a:t>
            </a:r>
            <a:r>
              <a:rPr dirty="0" sz="1500" spc="1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capturing</a:t>
            </a:r>
            <a:r>
              <a:rPr dirty="0" sz="1500" spc="17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interactions.</a:t>
            </a:r>
            <a:r>
              <a:rPr dirty="0" sz="1500" spc="2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Another</a:t>
            </a:r>
            <a:r>
              <a:rPr dirty="0" sz="1500" spc="21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limitation</a:t>
            </a:r>
            <a:r>
              <a:rPr dirty="0" sz="1500" spc="1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25" i="1">
                <a:solidFill>
                  <a:srgbClr val="131313"/>
                </a:solidFill>
                <a:latin typeface="Arial"/>
                <a:cs typeface="Arial"/>
              </a:rPr>
              <a:t>is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data</a:t>
            </a:r>
            <a:r>
              <a:rPr dirty="0" sz="1500" spc="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size</a:t>
            </a:r>
            <a:r>
              <a:rPr dirty="0" sz="1500" i="1">
                <a:solidFill>
                  <a:srgbClr val="3F3F3F"/>
                </a:solidFill>
                <a:latin typeface="Arial"/>
                <a:cs typeface="Arial"/>
              </a:rPr>
              <a:t>;</a:t>
            </a:r>
            <a:r>
              <a:rPr dirty="0" sz="1500" spc="225" i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with</a:t>
            </a:r>
            <a:r>
              <a:rPr dirty="0" sz="1500" spc="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only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5" i="1">
                <a:solidFill>
                  <a:srgbClr val="131313"/>
                </a:solidFill>
                <a:latin typeface="Arial"/>
                <a:cs typeface="Arial"/>
              </a:rPr>
              <a:t>41</a:t>
            </a:r>
            <a:r>
              <a:rPr dirty="0" sz="1500" spc="3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points</a:t>
            </a:r>
            <a:r>
              <a:rPr dirty="0" sz="1500" i="1">
                <a:solidFill>
                  <a:srgbClr val="3F3F3F"/>
                </a:solidFill>
                <a:latin typeface="Arial"/>
                <a:cs typeface="Arial"/>
              </a:rPr>
              <a:t>,</a:t>
            </a:r>
            <a:r>
              <a:rPr dirty="0" sz="1500" spc="160" i="1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dirty="0" sz="1500" spc="55" i="1">
                <a:solidFill>
                  <a:srgbClr val="131313"/>
                </a:solidFill>
                <a:latin typeface="Arial"/>
                <a:cs typeface="Arial"/>
              </a:rPr>
              <a:t>we</a:t>
            </a:r>
            <a:r>
              <a:rPr dirty="0" sz="1500" spc="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cannot</a:t>
            </a:r>
            <a:r>
              <a:rPr dirty="0" sz="1500" spc="9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fully</a:t>
            </a:r>
            <a:r>
              <a:rPr dirty="0" sz="1500" spc="3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test</a:t>
            </a:r>
            <a:r>
              <a:rPr dirty="0" sz="1500" spc="5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model 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generalization.</a:t>
            </a:r>
            <a:r>
              <a:rPr dirty="0" sz="1500" spc="8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More</a:t>
            </a:r>
            <a:r>
              <a:rPr dirty="0" sz="1500" spc="3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extensive</a:t>
            </a:r>
            <a:r>
              <a:rPr dirty="0" sz="1500" spc="18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datasets</a:t>
            </a:r>
            <a:r>
              <a:rPr dirty="0" sz="1500" spc="1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(e.g.</a:t>
            </a:r>
            <a:r>
              <a:rPr dirty="0" sz="1500" spc="10" i="1">
                <a:solidFill>
                  <a:srgbClr val="525252"/>
                </a:solidFill>
                <a:latin typeface="Arial"/>
                <a:cs typeface="Arial"/>
              </a:rPr>
              <a:t>,</a:t>
            </a:r>
            <a:r>
              <a:rPr dirty="0" sz="1500" spc="120" i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daily</a:t>
            </a:r>
            <a:r>
              <a:rPr dirty="0" sz="1500" spc="1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31313"/>
                </a:solidFill>
                <a:latin typeface="Arial"/>
                <a:cs typeface="Arial"/>
              </a:rPr>
              <a:t>records</a:t>
            </a:r>
            <a:r>
              <a:rPr dirty="0" sz="1500" spc="1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25" i="1">
                <a:solidFill>
                  <a:srgbClr val="131313"/>
                </a:solidFill>
                <a:latin typeface="Arial"/>
                <a:cs typeface="Arial"/>
              </a:rPr>
              <a:t>or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multi-year</a:t>
            </a:r>
            <a:r>
              <a:rPr dirty="0" sz="1500" spc="24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aggregates)</a:t>
            </a:r>
            <a:r>
              <a:rPr dirty="0" sz="1500" spc="1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would</a:t>
            </a:r>
            <a:r>
              <a:rPr dirty="0" sz="1500" spc="70" i="1">
                <a:solidFill>
                  <a:srgbClr val="131313"/>
                </a:solidFill>
                <a:latin typeface="Arial"/>
                <a:cs typeface="Arial"/>
              </a:rPr>
              <a:t> be</a:t>
            </a:r>
            <a:r>
              <a:rPr dirty="0" sz="1500" spc="7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needed</a:t>
            </a:r>
            <a:r>
              <a:rPr dirty="0" sz="1500" spc="17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for</a:t>
            </a:r>
            <a:r>
              <a:rPr dirty="0" sz="1500" spc="17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robust</a:t>
            </a:r>
            <a:r>
              <a:rPr dirty="0" sz="1500" spc="9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training.</a:t>
            </a:r>
            <a:endParaRPr sz="1500">
              <a:latin typeface="Arial"/>
              <a:cs typeface="Arial"/>
            </a:endParaRPr>
          </a:p>
          <a:p>
            <a:pPr marL="20955" marR="40640" indent="224790">
              <a:lnSpc>
                <a:spcPct val="102499"/>
              </a:lnSpc>
              <a:spcBef>
                <a:spcPts val="805"/>
              </a:spcBef>
            </a:pPr>
            <a:r>
              <a:rPr dirty="0" sz="1500" b="1" i="1">
                <a:solidFill>
                  <a:srgbClr val="050505"/>
                </a:solidFill>
                <a:latin typeface="Arial"/>
                <a:cs typeface="Arial"/>
              </a:rPr>
              <a:t>Agricultural</a:t>
            </a:r>
            <a:r>
              <a:rPr dirty="0" sz="1500" spc="265" b="1" i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relevance:</a:t>
            </a:r>
            <a:r>
              <a:rPr dirty="0" sz="1500" spc="345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Accurate</a:t>
            </a:r>
            <a:r>
              <a:rPr dirty="0" sz="1500" spc="7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climate</a:t>
            </a:r>
            <a:r>
              <a:rPr dirty="0" sz="1500" spc="1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forecasts</a:t>
            </a:r>
            <a:r>
              <a:rPr dirty="0" sz="1500" spc="29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are</a:t>
            </a:r>
            <a:r>
              <a:rPr dirty="0" sz="1500" spc="8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vital</a:t>
            </a:r>
            <a:r>
              <a:rPr dirty="0" sz="1500" spc="17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25" i="1">
                <a:solidFill>
                  <a:srgbClr val="131313"/>
                </a:solidFill>
                <a:latin typeface="Arial"/>
                <a:cs typeface="Arial"/>
              </a:rPr>
              <a:t>for</a:t>
            </a:r>
            <a:r>
              <a:rPr dirty="0" sz="1500" spc="-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farmers.</a:t>
            </a:r>
            <a:r>
              <a:rPr dirty="0" sz="1500" spc="29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For</a:t>
            </a:r>
            <a:r>
              <a:rPr dirty="0" sz="1500" spc="7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instance</a:t>
            </a:r>
            <a:r>
              <a:rPr dirty="0" sz="1500" i="1">
                <a:solidFill>
                  <a:srgbClr val="525252"/>
                </a:solidFill>
                <a:latin typeface="Arial"/>
                <a:cs typeface="Arial"/>
              </a:rPr>
              <a:t>,</a:t>
            </a:r>
            <a:r>
              <a:rPr dirty="0" sz="1500" spc="120" i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knowing</a:t>
            </a:r>
            <a:r>
              <a:rPr dirty="0" sz="1500" spc="15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projected</a:t>
            </a:r>
            <a:r>
              <a:rPr dirty="0" sz="1500" spc="19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temperature</a:t>
            </a:r>
            <a:r>
              <a:rPr dirty="0" sz="1500" spc="1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35" i="1">
                <a:solidFill>
                  <a:srgbClr val="131313"/>
                </a:solidFill>
                <a:latin typeface="Arial"/>
                <a:cs typeface="Arial"/>
              </a:rPr>
              <a:t>and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precipitation</a:t>
            </a:r>
            <a:r>
              <a:rPr dirty="0" sz="1500" spc="2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65" i="1">
                <a:solidFill>
                  <a:srgbClr val="131313"/>
                </a:solidFill>
                <a:latin typeface="Arial"/>
                <a:cs typeface="Arial"/>
              </a:rPr>
              <a:t>can</a:t>
            </a:r>
            <a:r>
              <a:rPr dirty="0" sz="1500" spc="1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inform</a:t>
            </a:r>
            <a:r>
              <a:rPr dirty="0" sz="1500" spc="10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050505"/>
                </a:solidFill>
                <a:latin typeface="Arial"/>
                <a:cs typeface="Arial"/>
              </a:rPr>
              <a:t>crop</a:t>
            </a:r>
            <a:r>
              <a:rPr dirty="0" sz="1500" spc="140" b="1" i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050505"/>
                </a:solidFill>
                <a:latin typeface="Arial"/>
                <a:cs typeface="Arial"/>
              </a:rPr>
              <a:t>selection</a:t>
            </a:r>
            <a:r>
              <a:rPr dirty="0" sz="1500" b="1" i="1">
                <a:solidFill>
                  <a:srgbClr val="525252"/>
                </a:solidFill>
                <a:latin typeface="Arial"/>
                <a:cs typeface="Arial"/>
              </a:rPr>
              <a:t>,</a:t>
            </a:r>
            <a:r>
              <a:rPr dirty="0" sz="1500" spc="160" b="1" i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050505"/>
                </a:solidFill>
                <a:latin typeface="Arial"/>
                <a:cs typeface="Arial"/>
              </a:rPr>
              <a:t>planting</a:t>
            </a:r>
            <a:r>
              <a:rPr dirty="0" sz="1500" spc="170" b="1" i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00" spc="-10" b="1" i="1">
                <a:solidFill>
                  <a:srgbClr val="050505"/>
                </a:solidFill>
                <a:latin typeface="Arial"/>
                <a:cs typeface="Arial"/>
              </a:rPr>
              <a:t>schedules</a:t>
            </a:r>
            <a:r>
              <a:rPr dirty="0" sz="1500" spc="-10" b="1" i="1">
                <a:solidFill>
                  <a:srgbClr val="3F3F3F"/>
                </a:solidFill>
                <a:latin typeface="Arial"/>
                <a:cs typeface="Arial"/>
              </a:rPr>
              <a:t>,</a:t>
            </a:r>
            <a:r>
              <a:rPr dirty="0" sz="1500" spc="500" b="1" i="1">
                <a:solidFill>
                  <a:srgbClr val="3F3F3F"/>
                </a:solidFill>
                <a:latin typeface="Arial"/>
                <a:cs typeface="Arial"/>
              </a:rPr>
              <a:t> 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and</a:t>
            </a:r>
            <a:r>
              <a:rPr dirty="0" sz="1500" spc="7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050505"/>
                </a:solidFill>
                <a:latin typeface="Arial"/>
                <a:cs typeface="Arial"/>
              </a:rPr>
              <a:t>pest/disease</a:t>
            </a:r>
            <a:r>
              <a:rPr dirty="0" sz="1500" spc="130" b="1" i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050505"/>
                </a:solidFill>
                <a:latin typeface="Arial"/>
                <a:cs typeface="Arial"/>
              </a:rPr>
              <a:t>management.</a:t>
            </a:r>
            <a:r>
              <a:rPr dirty="0" sz="1500" spc="405" b="1" i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Our</a:t>
            </a:r>
            <a:r>
              <a:rPr dirty="0" sz="1500" spc="1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60" i="1">
                <a:solidFill>
                  <a:srgbClr val="131313"/>
                </a:solidFill>
                <a:latin typeface="Arial"/>
                <a:cs typeface="Arial"/>
              </a:rPr>
              <a:t>ML</a:t>
            </a:r>
            <a:r>
              <a:rPr dirty="0" sz="1500" spc="8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pipeline</a:t>
            </a:r>
            <a:r>
              <a:rPr dirty="0" sz="1500" i="1">
                <a:solidFill>
                  <a:srgbClr val="525252"/>
                </a:solidFill>
                <a:latin typeface="Arial"/>
                <a:cs typeface="Arial"/>
              </a:rPr>
              <a:t>,</a:t>
            </a:r>
            <a:r>
              <a:rPr dirty="0" sz="1500" spc="165" i="1">
                <a:solidFill>
                  <a:srgbClr val="525252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while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7557" y="840438"/>
            <a:ext cx="5958205" cy="8253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30480">
              <a:lnSpc>
                <a:spcPct val="100000"/>
              </a:lnSpc>
              <a:spcBef>
                <a:spcPts val="100"/>
              </a:spcBef>
            </a:pPr>
            <a:r>
              <a:rPr dirty="0" sz="1500" spc="35" b="1" i="1">
                <a:solidFill>
                  <a:srgbClr val="131313"/>
                </a:solidFill>
                <a:latin typeface="Arial"/>
                <a:cs typeface="Arial"/>
              </a:rPr>
              <a:t>17</a:t>
            </a:r>
            <a:endParaRPr sz="1500">
              <a:latin typeface="Arial"/>
              <a:cs typeface="Arial"/>
            </a:endParaRPr>
          </a:p>
          <a:p>
            <a:pPr marL="69850" marR="149860">
              <a:lnSpc>
                <a:spcPct val="102600"/>
              </a:lnSpc>
              <a:spcBef>
                <a:spcPts val="1714"/>
              </a:spcBef>
            </a:pP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simplified,</a:t>
            </a:r>
            <a:r>
              <a:rPr dirty="0" sz="1500" spc="2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demonstrates</a:t>
            </a:r>
            <a:r>
              <a:rPr dirty="0" sz="1500" spc="3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how</a:t>
            </a:r>
            <a:r>
              <a:rPr dirty="0" sz="1500" spc="1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data-driven</a:t>
            </a:r>
            <a:r>
              <a:rPr dirty="0" sz="1500" spc="27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predictions</a:t>
            </a:r>
            <a:r>
              <a:rPr dirty="0" sz="1500" spc="2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could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support</a:t>
            </a:r>
            <a:r>
              <a:rPr dirty="0" sz="1500" spc="229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smart</a:t>
            </a:r>
            <a:r>
              <a:rPr dirty="0" sz="1500" spc="185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irrigation</a:t>
            </a:r>
            <a:r>
              <a:rPr dirty="0" sz="1500" spc="145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(adjusting</a:t>
            </a:r>
            <a:r>
              <a:rPr dirty="0" sz="1500" spc="19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water</a:t>
            </a:r>
            <a:r>
              <a:rPr dirty="0" sz="1500" spc="1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use</a:t>
            </a:r>
            <a:r>
              <a:rPr dirty="0" sz="1500" spc="1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based</a:t>
            </a:r>
            <a:r>
              <a:rPr dirty="0" sz="1500" spc="3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25" i="1">
                <a:solidFill>
                  <a:srgbClr val="131313"/>
                </a:solidFill>
                <a:latin typeface="Arial"/>
                <a:cs typeface="Arial"/>
              </a:rPr>
              <a:t>on</a:t>
            </a:r>
            <a:r>
              <a:rPr dirty="0" sz="1500" spc="-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forecasted</a:t>
            </a:r>
            <a:r>
              <a:rPr dirty="0" sz="1500" spc="3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conditions)</a:t>
            </a:r>
            <a:r>
              <a:rPr dirty="0" sz="1500" spc="19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60" i="1">
                <a:solidFill>
                  <a:srgbClr val="131313"/>
                </a:solidFill>
                <a:latin typeface="Arial"/>
                <a:cs typeface="Arial"/>
              </a:rPr>
              <a:t>and</a:t>
            </a:r>
            <a:r>
              <a:rPr dirty="0" sz="1500" spc="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yield</a:t>
            </a:r>
            <a:r>
              <a:rPr dirty="0" sz="1500" spc="140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estimation</a:t>
            </a:r>
            <a:r>
              <a:rPr dirty="0" sz="1500" spc="270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2B2B2B"/>
                </a:solidFill>
                <a:latin typeface="Arial"/>
                <a:cs typeface="Arial"/>
              </a:rPr>
              <a:t>(by</a:t>
            </a:r>
            <a:r>
              <a:rPr dirty="0" sz="1500" spc="155" i="1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linking</a:t>
            </a:r>
            <a:r>
              <a:rPr dirty="0" sz="1500" spc="13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weather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forecasts</a:t>
            </a:r>
            <a:r>
              <a:rPr dirty="0" sz="1500" spc="30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to</a:t>
            </a:r>
            <a:r>
              <a:rPr dirty="0" sz="1500" spc="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expected</a:t>
            </a:r>
            <a:r>
              <a:rPr dirty="0" sz="1500" spc="9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crop</a:t>
            </a:r>
            <a:r>
              <a:rPr dirty="0" sz="1500" spc="9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performance).</a:t>
            </a:r>
            <a:r>
              <a:rPr dirty="0" sz="1500" spc="3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For</a:t>
            </a:r>
            <a:r>
              <a:rPr dirty="0" sz="1500" spc="1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e</a:t>
            </a:r>
            <a:r>
              <a:rPr dirty="0" sz="1500" i="1">
                <a:solidFill>
                  <a:srgbClr val="2B2B2B"/>
                </a:solidFill>
                <a:latin typeface="Arial"/>
                <a:cs typeface="Arial"/>
              </a:rPr>
              <a:t>x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ample</a:t>
            </a:r>
            <a:r>
              <a:rPr dirty="0" sz="1500" i="1">
                <a:solidFill>
                  <a:srgbClr val="464646"/>
                </a:solidFill>
                <a:latin typeface="Arial"/>
                <a:cs typeface="Arial"/>
              </a:rPr>
              <a:t>,</a:t>
            </a:r>
            <a:r>
              <a:rPr dirty="0" sz="1500" spc="180" i="1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1550" spc="-50">
                <a:solidFill>
                  <a:srgbClr val="131313"/>
                </a:solidFill>
                <a:latin typeface="Arial"/>
                <a:cs typeface="Arial"/>
              </a:rPr>
              <a:t>a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temperature</a:t>
            </a:r>
            <a:r>
              <a:rPr dirty="0" sz="1500" spc="2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rise</a:t>
            </a:r>
            <a:r>
              <a:rPr dirty="0" sz="1500" spc="1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might</a:t>
            </a:r>
            <a:r>
              <a:rPr dirty="0" sz="1500" spc="7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trigger</a:t>
            </a:r>
            <a:r>
              <a:rPr dirty="0" sz="1500" spc="1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earlier</a:t>
            </a:r>
            <a:r>
              <a:rPr dirty="0" sz="1500" spc="17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planting</a:t>
            </a:r>
            <a:r>
              <a:rPr dirty="0" sz="1500" spc="1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of</a:t>
            </a:r>
            <a:r>
              <a:rPr dirty="0" sz="1500" spc="1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heat-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tolerant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2B2B2B"/>
                </a:solidFill>
                <a:latin typeface="Arial"/>
                <a:cs typeface="Arial"/>
              </a:rPr>
              <a:t>varieties.</a:t>
            </a:r>
            <a:r>
              <a:rPr dirty="0" sz="1500" spc="215" i="1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In</a:t>
            </a:r>
            <a:r>
              <a:rPr dirty="0" sz="1500" spc="114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essence,</a:t>
            </a:r>
            <a:r>
              <a:rPr dirty="0" sz="1500" spc="13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integrating</a:t>
            </a:r>
            <a:r>
              <a:rPr dirty="0" sz="1500" spc="15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such</a:t>
            </a:r>
            <a:r>
              <a:rPr dirty="0" sz="1500" spc="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predictive</a:t>
            </a:r>
            <a:r>
              <a:rPr dirty="0" sz="1500" spc="21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models</a:t>
            </a:r>
            <a:r>
              <a:rPr dirty="0" sz="1500" spc="19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can</a:t>
            </a:r>
            <a:r>
              <a:rPr dirty="0" sz="1500" spc="7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20" i="1">
                <a:solidFill>
                  <a:srgbClr val="131313"/>
                </a:solidFill>
                <a:latin typeface="Arial"/>
                <a:cs typeface="Arial"/>
              </a:rPr>
              <a:t>help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optimize</a:t>
            </a:r>
            <a:r>
              <a:rPr dirty="0" sz="1500" spc="10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resource</a:t>
            </a:r>
            <a:r>
              <a:rPr dirty="0" sz="1500" spc="1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65" i="1">
                <a:solidFill>
                  <a:srgbClr val="131313"/>
                </a:solidFill>
                <a:latin typeface="Arial"/>
                <a:cs typeface="Arial"/>
              </a:rPr>
              <a:t>use</a:t>
            </a:r>
            <a:r>
              <a:rPr dirty="0" sz="1500" spc="-1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60" i="1">
                <a:solidFill>
                  <a:srgbClr val="131313"/>
                </a:solidFill>
                <a:latin typeface="Arial"/>
                <a:cs typeface="Arial"/>
              </a:rPr>
              <a:t>and</a:t>
            </a:r>
            <a:r>
              <a:rPr dirty="0" sz="1500" spc="-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improve</a:t>
            </a:r>
            <a:r>
              <a:rPr dirty="0" sz="1500" spc="9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resilience</a:t>
            </a:r>
            <a:r>
              <a:rPr dirty="0" sz="1500" spc="1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in</a:t>
            </a:r>
            <a:r>
              <a:rPr dirty="0" sz="1500" spc="8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agricultural planning.</a:t>
            </a:r>
            <a:endParaRPr sz="15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1365"/>
              </a:spcBef>
            </a:pPr>
            <a:r>
              <a:rPr dirty="0" u="heavy" sz="1750" spc="60" i="1">
                <a:solidFill>
                  <a:srgbClr val="26464F"/>
                </a:solidFill>
                <a:uFill>
                  <a:solidFill>
                    <a:srgbClr val="26464F"/>
                  </a:solidFill>
                </a:uFill>
                <a:latin typeface="Arial"/>
                <a:cs typeface="Arial"/>
              </a:rPr>
              <a:t>Conclusion</a:t>
            </a:r>
            <a:endParaRPr sz="1750">
              <a:latin typeface="Arial"/>
              <a:cs typeface="Arial"/>
            </a:endParaRPr>
          </a:p>
          <a:p>
            <a:pPr marL="290830" marR="67945" indent="-5080">
              <a:lnSpc>
                <a:spcPct val="102499"/>
              </a:lnSpc>
              <a:spcBef>
                <a:spcPts val="459"/>
              </a:spcBef>
            </a:pP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This</a:t>
            </a:r>
            <a:r>
              <a:rPr dirty="0" sz="1500" spc="8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study</a:t>
            </a:r>
            <a:r>
              <a:rPr dirty="0" sz="1500" spc="8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presented</a:t>
            </a:r>
            <a:r>
              <a:rPr dirty="0" sz="1500" spc="13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31313"/>
                </a:solidFill>
                <a:latin typeface="Arial"/>
                <a:cs typeface="Arial"/>
              </a:rPr>
              <a:t>a</a:t>
            </a:r>
            <a:r>
              <a:rPr dirty="0" sz="1550" spc="9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comprehensive</a:t>
            </a:r>
            <a:r>
              <a:rPr dirty="0" sz="1500" spc="2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example</a:t>
            </a:r>
            <a:r>
              <a:rPr dirty="0" sz="1500" spc="2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of</a:t>
            </a:r>
            <a:r>
              <a:rPr dirty="0" sz="1500" spc="2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using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machine</a:t>
            </a:r>
            <a:r>
              <a:rPr dirty="0" sz="1500" spc="1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learning</a:t>
            </a:r>
            <a:r>
              <a:rPr dirty="0" sz="1500" spc="24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to</a:t>
            </a:r>
            <a:r>
              <a:rPr dirty="0" sz="1500" spc="13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predict</a:t>
            </a:r>
            <a:r>
              <a:rPr dirty="0" sz="1500" spc="17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climate-related</a:t>
            </a:r>
            <a:r>
              <a:rPr dirty="0" sz="1500" spc="7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variables.</a:t>
            </a:r>
            <a:r>
              <a:rPr dirty="0" sz="1500" spc="28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70" i="1">
                <a:solidFill>
                  <a:srgbClr val="131313"/>
                </a:solidFill>
                <a:latin typeface="Arial"/>
                <a:cs typeface="Arial"/>
              </a:rPr>
              <a:t>We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collected</a:t>
            </a:r>
            <a:r>
              <a:rPr dirty="0" sz="1500" spc="2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(simulated)</a:t>
            </a:r>
            <a:r>
              <a:rPr dirty="0" sz="1500" spc="1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climate</a:t>
            </a:r>
            <a:r>
              <a:rPr dirty="0" sz="1500" spc="204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data,</a:t>
            </a:r>
            <a:r>
              <a:rPr dirty="0" sz="1500" spc="1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applied</a:t>
            </a:r>
            <a:r>
              <a:rPr dirty="0" sz="1500" spc="254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preprocessing,</a:t>
            </a:r>
            <a:r>
              <a:rPr dirty="0" sz="1500" spc="15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25" i="1">
                <a:solidFill>
                  <a:srgbClr val="131313"/>
                </a:solidFill>
                <a:latin typeface="Arial"/>
                <a:cs typeface="Arial"/>
              </a:rPr>
              <a:t>and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built</a:t>
            </a:r>
            <a:r>
              <a:rPr dirty="0" sz="1500" spc="13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multiple</a:t>
            </a:r>
            <a:r>
              <a:rPr dirty="0" sz="1500" spc="1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60" i="1">
                <a:solidFill>
                  <a:srgbClr val="131313"/>
                </a:solidFill>
                <a:latin typeface="Arial"/>
                <a:cs typeface="Arial"/>
              </a:rPr>
              <a:t>ML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models</a:t>
            </a:r>
            <a:r>
              <a:rPr dirty="0" sz="1500" spc="19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2B2B2B"/>
                </a:solidFill>
                <a:latin typeface="Arial"/>
                <a:cs typeface="Arial"/>
              </a:rPr>
              <a:t>with</a:t>
            </a:r>
            <a:r>
              <a:rPr dirty="0" sz="1500" spc="130" i="1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Python.</a:t>
            </a:r>
            <a:r>
              <a:rPr dirty="0" sz="1500" spc="17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Gradient</a:t>
            </a:r>
            <a:r>
              <a:rPr dirty="0" sz="1500" spc="1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Boosting</a:t>
            </a:r>
            <a:r>
              <a:rPr dirty="0" sz="1500" spc="7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yielded 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the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 best</a:t>
            </a:r>
            <a:r>
              <a:rPr dirty="0" sz="1500" spc="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predictive</a:t>
            </a:r>
            <a:r>
              <a:rPr dirty="0" sz="1500" spc="14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metrics</a:t>
            </a:r>
            <a:r>
              <a:rPr dirty="0" sz="1500" spc="17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(MSE</a:t>
            </a:r>
            <a:r>
              <a:rPr dirty="0" sz="1500" spc="3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and</a:t>
            </a:r>
            <a:r>
              <a:rPr dirty="0" sz="1500" spc="8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70" i="1">
                <a:solidFill>
                  <a:srgbClr val="131313"/>
                </a:solidFill>
                <a:latin typeface="Arial"/>
                <a:cs typeface="Arial"/>
              </a:rPr>
              <a:t>R</a:t>
            </a:r>
            <a:r>
              <a:rPr dirty="0" baseline="16666" sz="2250" spc="-104" i="1">
                <a:solidFill>
                  <a:srgbClr val="2B2B2B"/>
                </a:solidFill>
                <a:latin typeface="Arial"/>
                <a:cs typeface="Arial"/>
              </a:rPr>
              <a:t>2</a:t>
            </a:r>
            <a:r>
              <a:rPr dirty="0" sz="1500" spc="-70" i="1">
                <a:solidFill>
                  <a:srgbClr val="2B2B2B"/>
                </a:solidFill>
                <a:latin typeface="Arial"/>
                <a:cs typeface="Arial"/>
              </a:rPr>
              <a:t>},</a:t>
            </a:r>
            <a:r>
              <a:rPr dirty="0" sz="1500" spc="130" i="1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demonstrating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improved</a:t>
            </a:r>
            <a:r>
              <a:rPr dirty="0" sz="1500" spc="5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performance</a:t>
            </a:r>
            <a:r>
              <a:rPr dirty="0" sz="1500" spc="24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over</a:t>
            </a:r>
            <a:r>
              <a:rPr dirty="0" sz="1500" spc="1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31313"/>
                </a:solidFill>
                <a:latin typeface="Arial"/>
                <a:cs typeface="Arial"/>
              </a:rPr>
              <a:t>a</a:t>
            </a:r>
            <a:r>
              <a:rPr dirty="0" sz="1550" spc="8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2B2B2B"/>
                </a:solidFill>
                <a:latin typeface="Arial"/>
                <a:cs typeface="Arial"/>
              </a:rPr>
              <a:t>simple</a:t>
            </a:r>
            <a:r>
              <a:rPr dirty="0" sz="1500" spc="110" i="1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linear</a:t>
            </a:r>
            <a:r>
              <a:rPr dirty="0" sz="1500" spc="1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model.</a:t>
            </a:r>
            <a:r>
              <a:rPr dirty="0" sz="1500" spc="18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These</a:t>
            </a:r>
            <a:r>
              <a:rPr dirty="0" sz="1500" spc="5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results</a:t>
            </a:r>
            <a:r>
              <a:rPr dirty="0" sz="1500" spc="18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support</a:t>
            </a:r>
            <a:r>
              <a:rPr dirty="0" sz="1500" spc="1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the</a:t>
            </a:r>
            <a:r>
              <a:rPr dirty="0" sz="1500" spc="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notion</a:t>
            </a:r>
            <a:r>
              <a:rPr dirty="0" sz="1500" spc="14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from</a:t>
            </a:r>
            <a:r>
              <a:rPr dirty="0" sz="1500" spc="8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recent</a:t>
            </a:r>
            <a:r>
              <a:rPr dirty="0" sz="1500" spc="1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research</a:t>
            </a:r>
            <a:r>
              <a:rPr dirty="0" sz="1500" spc="2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that</a:t>
            </a:r>
            <a:r>
              <a:rPr dirty="0" sz="1500" spc="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data</a:t>
            </a:r>
            <a:r>
              <a:rPr dirty="0" sz="1500" spc="8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driven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methods</a:t>
            </a:r>
            <a:r>
              <a:rPr dirty="0" sz="1500" spc="23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65" i="1">
                <a:solidFill>
                  <a:srgbClr val="131313"/>
                </a:solidFill>
                <a:latin typeface="Arial"/>
                <a:cs typeface="Arial"/>
              </a:rPr>
              <a:t>can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enhance</a:t>
            </a:r>
            <a:r>
              <a:rPr dirty="0" sz="1500" spc="114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climate</a:t>
            </a:r>
            <a:r>
              <a:rPr dirty="0" sz="1500" spc="4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prediction</a:t>
            </a:r>
            <a:r>
              <a:rPr dirty="0" sz="1500" spc="13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accuracy.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500">
              <a:latin typeface="Arial"/>
              <a:cs typeface="Arial"/>
            </a:endParaRPr>
          </a:p>
          <a:p>
            <a:pPr marL="66040" marR="453390" indent="232410">
              <a:lnSpc>
                <a:spcPct val="102899"/>
              </a:lnSpc>
            </a:pP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Overall,</a:t>
            </a:r>
            <a:r>
              <a:rPr dirty="0" sz="1500" spc="17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the</a:t>
            </a:r>
            <a:r>
              <a:rPr dirty="0" sz="1500" spc="7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results</a:t>
            </a:r>
            <a:r>
              <a:rPr dirty="0" sz="1500" spc="9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support</a:t>
            </a:r>
            <a:r>
              <a:rPr dirty="0" sz="1500" spc="1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the</a:t>
            </a:r>
            <a:r>
              <a:rPr dirty="0" sz="1500" spc="1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idea</a:t>
            </a:r>
            <a:r>
              <a:rPr dirty="0" sz="1500" spc="1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that</a:t>
            </a:r>
            <a:r>
              <a:rPr dirty="0" sz="1500" spc="5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machine</a:t>
            </a:r>
            <a:r>
              <a:rPr dirty="0" sz="1500" spc="75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b="1" i="1">
                <a:solidFill>
                  <a:srgbClr val="131313"/>
                </a:solidFill>
                <a:latin typeface="Arial"/>
                <a:cs typeface="Arial"/>
              </a:rPr>
              <a:t>learning</a:t>
            </a:r>
            <a:r>
              <a:rPr dirty="0" sz="1500" spc="-10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5" b="1" i="1">
                <a:solidFill>
                  <a:srgbClr val="131313"/>
                </a:solidFill>
                <a:latin typeface="Arial"/>
                <a:cs typeface="Arial"/>
              </a:rPr>
              <a:t>can</a:t>
            </a:r>
            <a:r>
              <a:rPr dirty="0" sz="1500" spc="65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effectively</a:t>
            </a:r>
            <a:r>
              <a:rPr dirty="0" sz="1500" spc="254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model</a:t>
            </a:r>
            <a:r>
              <a:rPr dirty="0" sz="1500" spc="85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climate</a:t>
            </a:r>
            <a:r>
              <a:rPr dirty="0" sz="1500" spc="105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patterns,</a:t>
            </a:r>
            <a:r>
              <a:rPr dirty="0" sz="1500" spc="260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complementing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traditional</a:t>
            </a:r>
            <a:r>
              <a:rPr dirty="0" sz="1500" spc="15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approaches.</a:t>
            </a:r>
            <a:endParaRPr sz="1500">
              <a:latin typeface="Arial"/>
              <a:cs typeface="Arial"/>
            </a:endParaRPr>
          </a:p>
          <a:p>
            <a:pPr marL="66675" marR="257175" indent="228600">
              <a:lnSpc>
                <a:spcPct val="103400"/>
              </a:lnSpc>
              <a:spcBef>
                <a:spcPts val="790"/>
              </a:spcBef>
            </a:pP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Model</a:t>
            </a:r>
            <a:r>
              <a:rPr dirty="0" sz="1500" spc="95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effectiveness:</a:t>
            </a:r>
            <a:r>
              <a:rPr dirty="0" sz="1500" spc="50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65" i="1">
                <a:solidFill>
                  <a:srgbClr val="131313"/>
                </a:solidFill>
                <a:latin typeface="Arial"/>
                <a:cs typeface="Arial"/>
              </a:rPr>
              <a:t>The</a:t>
            </a:r>
            <a:r>
              <a:rPr dirty="0" sz="1500" spc="9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high</a:t>
            </a:r>
            <a:r>
              <a:rPr dirty="0" sz="1500" spc="8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20" i="1">
                <a:solidFill>
                  <a:srgbClr val="2B2B2B"/>
                </a:solidFill>
                <a:latin typeface="Arial"/>
                <a:cs typeface="Arial"/>
              </a:rPr>
              <a:t>$RA2$</a:t>
            </a:r>
            <a:r>
              <a:rPr dirty="0" sz="1500" spc="85" i="1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and</a:t>
            </a:r>
            <a:r>
              <a:rPr dirty="0" sz="1500" spc="10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low</a:t>
            </a:r>
            <a:r>
              <a:rPr dirty="0" sz="1500" spc="1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25" i="1">
                <a:solidFill>
                  <a:srgbClr val="131313"/>
                </a:solidFill>
                <a:latin typeface="Arial"/>
                <a:cs typeface="Arial"/>
              </a:rPr>
              <a:t>MSE</a:t>
            </a:r>
            <a:r>
              <a:rPr dirty="0" sz="1500" spc="-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demonstrate</a:t>
            </a:r>
            <a:r>
              <a:rPr dirty="0" sz="1500" spc="19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the</a:t>
            </a:r>
            <a:r>
              <a:rPr dirty="0" sz="1500" spc="-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models</a:t>
            </a:r>
            <a:r>
              <a:rPr dirty="0" sz="1500" spc="50" i="1">
                <a:solidFill>
                  <a:srgbClr val="464646"/>
                </a:solidFill>
                <a:latin typeface="Arial"/>
                <a:cs typeface="Arial"/>
              </a:rPr>
              <a:t>'</a:t>
            </a:r>
            <a:r>
              <a:rPr dirty="0" sz="1500" spc="-80" i="1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effectiveness</a:t>
            </a:r>
            <a:r>
              <a:rPr dirty="0" sz="1500" spc="23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in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capturing</a:t>
            </a:r>
            <a:r>
              <a:rPr dirty="0" sz="1500" spc="1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the</a:t>
            </a:r>
            <a:r>
              <a:rPr dirty="0" sz="1500" spc="-1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synthetic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climate</a:t>
            </a:r>
            <a:r>
              <a:rPr dirty="0" sz="1500" spc="7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trend.</a:t>
            </a:r>
            <a:r>
              <a:rPr dirty="0" sz="1500" spc="21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However,</a:t>
            </a:r>
            <a:r>
              <a:rPr dirty="0" sz="1500" spc="19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in</a:t>
            </a:r>
            <a:r>
              <a:rPr dirty="0" sz="1500" spc="2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real</a:t>
            </a:r>
            <a:r>
              <a:rPr dirty="0" sz="1500" spc="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scenarios</a:t>
            </a:r>
            <a:r>
              <a:rPr dirty="0" sz="1500" i="1">
                <a:solidFill>
                  <a:srgbClr val="464646"/>
                </a:solidFill>
                <a:latin typeface="Arial"/>
                <a:cs typeface="Arial"/>
              </a:rPr>
              <a:t>,</a:t>
            </a:r>
            <a:r>
              <a:rPr dirty="0" sz="1500" spc="235" i="1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model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choice</a:t>
            </a:r>
            <a:r>
              <a:rPr dirty="0" sz="1500" spc="17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would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depend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60" i="1">
                <a:solidFill>
                  <a:srgbClr val="131313"/>
                </a:solidFill>
                <a:latin typeface="Arial"/>
                <a:cs typeface="Arial"/>
              </a:rPr>
              <a:t>on</a:t>
            </a:r>
            <a:r>
              <a:rPr dirty="0" sz="1500" spc="7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data</a:t>
            </a:r>
            <a:r>
              <a:rPr dirty="0" sz="1500" spc="-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complexity.</a:t>
            </a:r>
            <a:endParaRPr sz="1500">
              <a:latin typeface="Arial"/>
              <a:cs typeface="Arial"/>
            </a:endParaRPr>
          </a:p>
          <a:p>
            <a:pPr marL="71120" marR="229870" indent="224790">
              <a:lnSpc>
                <a:spcPct val="103200"/>
              </a:lnSpc>
              <a:spcBef>
                <a:spcPts val="785"/>
              </a:spcBef>
            </a:pP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Future</a:t>
            </a:r>
            <a:r>
              <a:rPr dirty="0" sz="1500" spc="100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131313"/>
                </a:solidFill>
                <a:latin typeface="Arial"/>
                <a:cs typeface="Arial"/>
              </a:rPr>
              <a:t>improvements:</a:t>
            </a:r>
            <a:r>
              <a:rPr dirty="0" sz="1500" spc="330" b="1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85" i="1">
                <a:solidFill>
                  <a:srgbClr val="131313"/>
                </a:solidFill>
                <a:latin typeface="Arial"/>
                <a:cs typeface="Arial"/>
              </a:rPr>
              <a:t>To</a:t>
            </a:r>
            <a:r>
              <a:rPr dirty="0" sz="1500" spc="-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extend</a:t>
            </a:r>
            <a:r>
              <a:rPr dirty="0" sz="1500" spc="1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this</a:t>
            </a:r>
            <a:r>
              <a:rPr dirty="0" sz="1500" spc="1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work,</a:t>
            </a:r>
            <a:r>
              <a:rPr dirty="0" sz="1500" spc="1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5" i="1">
                <a:solidFill>
                  <a:srgbClr val="131313"/>
                </a:solidFill>
                <a:latin typeface="Arial"/>
                <a:cs typeface="Arial"/>
              </a:rPr>
              <a:t>we</a:t>
            </a:r>
            <a:r>
              <a:rPr dirty="0" sz="1500" spc="-1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could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incorporate</a:t>
            </a:r>
            <a:r>
              <a:rPr dirty="0" sz="1500" spc="29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real</a:t>
            </a:r>
            <a:r>
              <a:rPr dirty="0" sz="1500" spc="8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climate</a:t>
            </a:r>
            <a:r>
              <a:rPr dirty="0" sz="1500" spc="114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datasets</a:t>
            </a:r>
            <a:r>
              <a:rPr dirty="0" sz="1500" spc="19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(e</a:t>
            </a:r>
            <a:r>
              <a:rPr dirty="0" sz="1500" i="1">
                <a:solidFill>
                  <a:srgbClr val="2B2B2B"/>
                </a:solidFill>
                <a:latin typeface="Arial"/>
                <a:cs typeface="Arial"/>
              </a:rPr>
              <a:t>.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g</a:t>
            </a:r>
            <a:r>
              <a:rPr dirty="0" sz="1500" i="1">
                <a:solidFill>
                  <a:srgbClr val="2B2B2B"/>
                </a:solidFill>
                <a:latin typeface="Arial"/>
                <a:cs typeface="Arial"/>
              </a:rPr>
              <a:t>.</a:t>
            </a:r>
            <a:r>
              <a:rPr dirty="0" sz="1500" i="1">
                <a:solidFill>
                  <a:srgbClr val="5B5B5B"/>
                </a:solidFill>
                <a:latin typeface="Arial"/>
                <a:cs typeface="Arial"/>
              </a:rPr>
              <a:t>,</a:t>
            </a:r>
            <a:r>
              <a:rPr dirty="0" sz="1500" spc="175" i="1">
                <a:solidFill>
                  <a:srgbClr val="5B5B5B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NOAA</a:t>
            </a:r>
            <a:r>
              <a:rPr dirty="0" sz="1500" spc="14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temperature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records)</a:t>
            </a:r>
            <a:r>
              <a:rPr dirty="0" sz="1500" spc="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and</a:t>
            </a:r>
            <a:r>
              <a:rPr dirty="0" sz="1500" spc="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additional</a:t>
            </a:r>
            <a:r>
              <a:rPr dirty="0" sz="1500" spc="2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features</a:t>
            </a:r>
            <a:r>
              <a:rPr dirty="0" sz="1500" spc="1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(like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solar</a:t>
            </a:r>
            <a:r>
              <a:rPr dirty="0" sz="1500" spc="1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flux</a:t>
            </a:r>
            <a:r>
              <a:rPr dirty="0" sz="1500" i="1">
                <a:solidFill>
                  <a:srgbClr val="464646"/>
                </a:solidFill>
                <a:latin typeface="Arial"/>
                <a:cs typeface="Arial"/>
              </a:rPr>
              <a:t>,</a:t>
            </a:r>
            <a:r>
              <a:rPr dirty="0" sz="1500" spc="245" i="1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ocean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temperature</a:t>
            </a:r>
            <a:r>
              <a:rPr dirty="0" sz="1500" i="1">
                <a:solidFill>
                  <a:srgbClr val="464646"/>
                </a:solidFill>
                <a:latin typeface="Arial"/>
                <a:cs typeface="Arial"/>
              </a:rPr>
              <a:t>,</a:t>
            </a:r>
            <a:r>
              <a:rPr dirty="0" sz="1500" spc="240" i="1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human</a:t>
            </a:r>
            <a:r>
              <a:rPr dirty="0" sz="1500" spc="8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emissions).</a:t>
            </a:r>
            <a:r>
              <a:rPr dirty="0" sz="1500" spc="27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Using</a:t>
            </a:r>
            <a:r>
              <a:rPr dirty="0" sz="1500" spc="1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more</a:t>
            </a:r>
            <a:r>
              <a:rPr dirty="0" sz="1500" spc="1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data</a:t>
            </a:r>
            <a:r>
              <a:rPr dirty="0" sz="1500" spc="10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and</a:t>
            </a:r>
            <a:r>
              <a:rPr dirty="0" sz="1500" spc="9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advanced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models</a:t>
            </a:r>
            <a:r>
              <a:rPr dirty="0" sz="1500" spc="18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(e</a:t>
            </a:r>
            <a:r>
              <a:rPr dirty="0" sz="1500" i="1">
                <a:solidFill>
                  <a:srgbClr val="2B2B2B"/>
                </a:solidFill>
                <a:latin typeface="Arial"/>
                <a:cs typeface="Arial"/>
              </a:rPr>
              <a:t>.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g.</a:t>
            </a:r>
            <a:r>
              <a:rPr dirty="0" sz="1500" i="1">
                <a:solidFill>
                  <a:srgbClr val="5B5B5B"/>
                </a:solidFill>
                <a:latin typeface="Arial"/>
                <a:cs typeface="Arial"/>
              </a:rPr>
              <a:t>,</a:t>
            </a:r>
            <a:r>
              <a:rPr dirty="0" sz="1500" spc="135" i="1">
                <a:solidFill>
                  <a:srgbClr val="5B5B5B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deep</a:t>
            </a:r>
            <a:r>
              <a:rPr dirty="0" sz="1500" spc="8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learning</a:t>
            </a:r>
            <a:r>
              <a:rPr dirty="0" sz="1500" spc="7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31313"/>
                </a:solidFill>
                <a:latin typeface="Arial"/>
                <a:cs typeface="Arial"/>
              </a:rPr>
              <a:t>or</a:t>
            </a:r>
            <a:r>
              <a:rPr dirty="0" sz="1500" spc="7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ensembles</a:t>
            </a:r>
            <a:r>
              <a:rPr dirty="0" sz="1500" spc="30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with</a:t>
            </a:r>
            <a:r>
              <a:rPr dirty="0" sz="1500" spc="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hyperparameter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tuning)</a:t>
            </a:r>
            <a:r>
              <a:rPr dirty="0" sz="1500" spc="5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could</a:t>
            </a:r>
            <a:r>
              <a:rPr dirty="0" sz="1500" spc="114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improve</a:t>
            </a:r>
            <a:r>
              <a:rPr dirty="0" sz="1500" spc="15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accuracy</a:t>
            </a:r>
            <a:r>
              <a:rPr dirty="0" sz="1500" i="1">
                <a:solidFill>
                  <a:srgbClr val="464646"/>
                </a:solidFill>
                <a:latin typeface="Arial"/>
                <a:cs typeface="Arial"/>
              </a:rPr>
              <a:t>.</a:t>
            </a:r>
            <a:r>
              <a:rPr dirty="0" sz="1500" spc="160" i="1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Finally,</a:t>
            </a:r>
            <a:r>
              <a:rPr dirty="0" sz="1500" spc="20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implementing</a:t>
            </a:r>
            <a:r>
              <a:rPr dirty="0" sz="1500" spc="3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the</a:t>
            </a:r>
            <a:r>
              <a:rPr dirty="0" sz="1500" spc="1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model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123" y="846549"/>
            <a:ext cx="5869940" cy="939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500" spc="-25" b="1" i="1">
                <a:solidFill>
                  <a:srgbClr val="151515"/>
                </a:solidFill>
                <a:latin typeface="Arial"/>
                <a:cs typeface="Arial"/>
              </a:rPr>
              <a:t>18</a:t>
            </a:r>
            <a:endParaRPr sz="1500">
              <a:latin typeface="Arial"/>
              <a:cs typeface="Arial"/>
            </a:endParaRPr>
          </a:p>
          <a:p>
            <a:pPr marL="12700" marR="438150" indent="1905">
              <a:lnSpc>
                <a:spcPct val="102899"/>
              </a:lnSpc>
              <a:spcBef>
                <a:spcPts val="1560"/>
              </a:spcBef>
            </a:pP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in</a:t>
            </a:r>
            <a:r>
              <a:rPr dirty="0" sz="1500" spc="7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600" spc="50">
                <a:solidFill>
                  <a:srgbClr val="151515"/>
                </a:solidFill>
                <a:latin typeface="Arial"/>
                <a:cs typeface="Arial"/>
              </a:rPr>
              <a:t>a</a:t>
            </a:r>
            <a:r>
              <a:rPr dirty="0" sz="1600" spc="9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live</a:t>
            </a:r>
            <a:r>
              <a:rPr dirty="0" sz="1500" spc="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system</a:t>
            </a:r>
            <a:r>
              <a:rPr dirty="0" sz="1500" spc="5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(e.g.</a:t>
            </a:r>
            <a:r>
              <a:rPr dirty="0" sz="1500" i="1">
                <a:solidFill>
                  <a:srgbClr val="484848"/>
                </a:solidFill>
                <a:latin typeface="Arial"/>
                <a:cs typeface="Arial"/>
              </a:rPr>
              <a:t>,</a:t>
            </a:r>
            <a:r>
              <a:rPr dirty="0" sz="1500" spc="150" i="1">
                <a:solidFill>
                  <a:srgbClr val="484848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151515"/>
                </a:solidFill>
                <a:latin typeface="Arial"/>
                <a:cs typeface="Arial"/>
              </a:rPr>
              <a:t>a</a:t>
            </a:r>
            <a:r>
              <a:rPr dirty="0" sz="1600" spc="-65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cloud-based</a:t>
            </a:r>
            <a:r>
              <a:rPr dirty="0" sz="1500" spc="19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prediction</a:t>
            </a:r>
            <a:r>
              <a:rPr dirty="0" sz="1500" spc="11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51515"/>
                </a:solidFill>
                <a:latin typeface="Arial"/>
                <a:cs typeface="Arial"/>
              </a:rPr>
              <a:t>seNice)</a:t>
            </a:r>
            <a:r>
              <a:rPr dirty="0" sz="1500" spc="10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51515"/>
                </a:solidFill>
                <a:latin typeface="Arial"/>
                <a:cs typeface="Arial"/>
              </a:rPr>
              <a:t>would</a:t>
            </a:r>
            <a:r>
              <a:rPr dirty="0" sz="1500" spc="-1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allow</a:t>
            </a:r>
            <a:r>
              <a:rPr dirty="0" sz="1500" spc="7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continuous</a:t>
            </a:r>
            <a:r>
              <a:rPr dirty="0" sz="1500" spc="30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climate</a:t>
            </a:r>
            <a:r>
              <a:rPr dirty="0" sz="1500" spc="12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monitoring</a:t>
            </a:r>
            <a:r>
              <a:rPr dirty="0" sz="1500" spc="24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and</a:t>
            </a:r>
            <a:r>
              <a:rPr dirty="0" sz="1500" spc="14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dynamic</a:t>
            </a:r>
            <a:r>
              <a:rPr dirty="0" sz="1500" spc="18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51515"/>
                </a:solidFill>
                <a:latin typeface="Arial"/>
                <a:cs typeface="Arial"/>
              </a:rPr>
              <a:t>updates.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1830" y="3380962"/>
            <a:ext cx="5715000" cy="57435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15595">
              <a:lnSpc>
                <a:spcPct val="100000"/>
              </a:lnSpc>
              <a:spcBef>
                <a:spcPts val="105"/>
              </a:spcBef>
            </a:pPr>
            <a:r>
              <a:rPr dirty="0" u="heavy" sz="1800" spc="85" i="1">
                <a:solidFill>
                  <a:srgbClr val="264650"/>
                </a:solidFill>
                <a:uFill>
                  <a:solidFill>
                    <a:srgbClr val="264650"/>
                  </a:solidFill>
                </a:uFill>
                <a:latin typeface="Arial"/>
                <a:cs typeface="Arial"/>
              </a:rPr>
              <a:t>Applications</a:t>
            </a:r>
            <a:r>
              <a:rPr dirty="0" u="heavy" sz="1800" spc="30" i="1">
                <a:solidFill>
                  <a:srgbClr val="264650"/>
                </a:solidFill>
                <a:uFill>
                  <a:solidFill>
                    <a:srgbClr val="26465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800" spc="70" i="1">
                <a:solidFill>
                  <a:srgbClr val="264650"/>
                </a:solidFill>
                <a:uFill>
                  <a:solidFill>
                    <a:srgbClr val="264650"/>
                  </a:solidFill>
                </a:uFill>
                <a:latin typeface="Arial"/>
                <a:cs typeface="Arial"/>
              </a:rPr>
              <a:t>in</a:t>
            </a:r>
            <a:r>
              <a:rPr dirty="0" u="heavy" sz="1800" spc="-10" i="1">
                <a:solidFill>
                  <a:srgbClr val="264650"/>
                </a:solidFill>
                <a:uFill>
                  <a:solidFill>
                    <a:srgbClr val="264650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800" spc="75" i="1">
                <a:solidFill>
                  <a:srgbClr val="264650"/>
                </a:solidFill>
                <a:uFill>
                  <a:solidFill>
                    <a:srgbClr val="264650"/>
                  </a:solidFill>
                </a:uFill>
                <a:latin typeface="Arial"/>
                <a:cs typeface="Arial"/>
              </a:rPr>
              <a:t>Agriculture</a:t>
            </a:r>
            <a:endParaRPr sz="1800">
              <a:latin typeface="Arial"/>
              <a:cs typeface="Arial"/>
            </a:endParaRPr>
          </a:p>
          <a:p>
            <a:pPr marL="16510" marR="694055" indent="222885">
              <a:lnSpc>
                <a:spcPct val="104299"/>
              </a:lnSpc>
              <a:spcBef>
                <a:spcPts val="1910"/>
              </a:spcBef>
            </a:pP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Machine</a:t>
            </a:r>
            <a:r>
              <a:rPr dirty="0" sz="1500" spc="15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050505"/>
                </a:solidFill>
                <a:latin typeface="Arial"/>
                <a:cs typeface="Arial"/>
              </a:rPr>
              <a:t>learning</a:t>
            </a:r>
            <a:r>
              <a:rPr dirty="0" sz="1500" spc="130" i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predictions</a:t>
            </a:r>
            <a:r>
              <a:rPr dirty="0" sz="1500" spc="26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of</a:t>
            </a:r>
            <a:r>
              <a:rPr dirty="0" sz="1500" spc="2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climate</a:t>
            </a:r>
            <a:r>
              <a:rPr dirty="0" sz="1500" spc="18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variables</a:t>
            </a:r>
            <a:r>
              <a:rPr dirty="0" sz="1500" spc="28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spc="-20" i="1">
                <a:solidFill>
                  <a:srgbClr val="151515"/>
                </a:solidFill>
                <a:latin typeface="Arial"/>
                <a:cs typeface="Arial"/>
              </a:rPr>
              <a:t>have</a:t>
            </a:r>
            <a:r>
              <a:rPr dirty="0" sz="1500" spc="-2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numerous</a:t>
            </a:r>
            <a:r>
              <a:rPr dirty="0" sz="1500" spc="22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agricultural</a:t>
            </a:r>
            <a:r>
              <a:rPr dirty="0" sz="1500" spc="20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51515"/>
                </a:solidFill>
                <a:latin typeface="Arial"/>
                <a:cs typeface="Arial"/>
              </a:rPr>
              <a:t>applications: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500">
              <a:latin typeface="Arial"/>
              <a:cs typeface="Arial"/>
            </a:endParaRPr>
          </a:p>
          <a:p>
            <a:pPr marL="12700" marR="122555" indent="485140">
              <a:lnSpc>
                <a:spcPct val="100200"/>
              </a:lnSpc>
              <a:buClr>
                <a:srgbClr val="151515"/>
              </a:buClr>
              <a:buSzPct val="80000"/>
              <a:buFont typeface="Arial"/>
              <a:buChar char="✓"/>
              <a:tabLst>
                <a:tab pos="497840" algn="l"/>
              </a:tabLst>
            </a:pPr>
            <a:r>
              <a:rPr dirty="0" sz="1500" b="1" i="1">
                <a:solidFill>
                  <a:srgbClr val="050505"/>
                </a:solidFill>
                <a:latin typeface="Arial"/>
                <a:cs typeface="Arial"/>
              </a:rPr>
              <a:t>Smart</a:t>
            </a:r>
            <a:r>
              <a:rPr dirty="0" sz="1500" spc="160" b="1" i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151515"/>
                </a:solidFill>
                <a:latin typeface="Arial"/>
                <a:cs typeface="Arial"/>
              </a:rPr>
              <a:t>Irrigation:</a:t>
            </a:r>
            <a:r>
              <a:rPr dirty="0" sz="1500" spc="254" b="1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050505"/>
                </a:solidFill>
                <a:latin typeface="Arial"/>
                <a:cs typeface="Arial"/>
              </a:rPr>
              <a:t>Forecasted</a:t>
            </a:r>
            <a:r>
              <a:rPr dirty="0" sz="1500" spc="225" i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temperature</a:t>
            </a:r>
            <a:r>
              <a:rPr dirty="0" sz="1500" spc="17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and</a:t>
            </a:r>
            <a:r>
              <a:rPr dirty="0" sz="1500" spc="15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rainfall</a:t>
            </a:r>
            <a:r>
              <a:rPr dirty="0" sz="1500" spc="15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spc="-25" i="1">
                <a:solidFill>
                  <a:srgbClr val="151515"/>
                </a:solidFill>
                <a:latin typeface="Arial"/>
                <a:cs typeface="Arial"/>
              </a:rPr>
              <a:t>can</a:t>
            </a:r>
            <a:r>
              <a:rPr dirty="0" sz="1500" spc="-2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optimize</a:t>
            </a:r>
            <a:r>
              <a:rPr dirty="0" sz="1500" spc="11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irrigation</a:t>
            </a:r>
            <a:r>
              <a:rPr dirty="0" sz="1500" spc="14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schedules.</a:t>
            </a:r>
            <a:r>
              <a:rPr dirty="0" sz="1500" spc="26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For</a:t>
            </a:r>
            <a:r>
              <a:rPr dirty="0" sz="1500" spc="114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instance</a:t>
            </a:r>
            <a:r>
              <a:rPr dirty="0" sz="1500" i="1">
                <a:solidFill>
                  <a:srgbClr val="484848"/>
                </a:solidFill>
                <a:latin typeface="Arial"/>
                <a:cs typeface="Arial"/>
              </a:rPr>
              <a:t>,</a:t>
            </a:r>
            <a:r>
              <a:rPr dirty="0" sz="1500" spc="100" i="1">
                <a:solidFill>
                  <a:srgbClr val="484848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if</a:t>
            </a:r>
            <a:r>
              <a:rPr dirty="0" sz="1500" spc="114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151515"/>
                </a:solidFill>
                <a:latin typeface="Arial"/>
                <a:cs typeface="Arial"/>
              </a:rPr>
              <a:t>a</a:t>
            </a:r>
            <a:r>
              <a:rPr dirty="0" sz="1600" spc="45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heatwave</a:t>
            </a:r>
            <a:r>
              <a:rPr dirty="0" sz="1500" spc="13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spc="-25" i="1">
                <a:solidFill>
                  <a:srgbClr val="151515"/>
                </a:solidFill>
                <a:latin typeface="Arial"/>
                <a:cs typeface="Arial"/>
              </a:rPr>
              <a:t>is</a:t>
            </a:r>
            <a:r>
              <a:rPr dirty="0" sz="1500" spc="-2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predicted</a:t>
            </a:r>
            <a:r>
              <a:rPr dirty="0" sz="1500" i="1">
                <a:solidFill>
                  <a:srgbClr val="484848"/>
                </a:solidFill>
                <a:latin typeface="Arial"/>
                <a:cs typeface="Arial"/>
              </a:rPr>
              <a:t>,</a:t>
            </a:r>
            <a:r>
              <a:rPr dirty="0" sz="1500" spc="195" i="1">
                <a:solidFill>
                  <a:srgbClr val="484848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the</a:t>
            </a:r>
            <a:r>
              <a:rPr dirty="0" sz="1500" spc="5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system</a:t>
            </a:r>
            <a:r>
              <a:rPr dirty="0" sz="1500" spc="5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spc="65" i="1">
                <a:solidFill>
                  <a:srgbClr val="151515"/>
                </a:solidFill>
                <a:latin typeface="Arial"/>
                <a:cs typeface="Arial"/>
              </a:rPr>
              <a:t>can</a:t>
            </a:r>
            <a:r>
              <a:rPr dirty="0" sz="1500" spc="8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050505"/>
                </a:solidFill>
                <a:latin typeface="Arial"/>
                <a:cs typeface="Arial"/>
              </a:rPr>
              <a:t>increase</a:t>
            </a:r>
            <a:r>
              <a:rPr dirty="0" sz="1500" spc="210" i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watering</a:t>
            </a:r>
            <a:r>
              <a:rPr dirty="0" sz="1500" spc="15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51515"/>
                </a:solidFill>
                <a:latin typeface="Arial"/>
                <a:cs typeface="Arial"/>
              </a:rPr>
              <a:t>preemptively</a:t>
            </a:r>
            <a:r>
              <a:rPr dirty="0" sz="1500" spc="-10" i="1">
                <a:solidFill>
                  <a:srgbClr val="484848"/>
                </a:solidFill>
                <a:latin typeface="Arial"/>
                <a:cs typeface="Arial"/>
              </a:rPr>
              <a:t>,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conseNing</a:t>
            </a:r>
            <a:r>
              <a:rPr dirty="0" sz="1500" spc="31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water</a:t>
            </a:r>
            <a:r>
              <a:rPr dirty="0" sz="1500" spc="9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and</a:t>
            </a:r>
            <a:r>
              <a:rPr dirty="0" sz="1500" spc="15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reducing</a:t>
            </a:r>
            <a:r>
              <a:rPr dirty="0" sz="1500" spc="18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plant</a:t>
            </a:r>
            <a:r>
              <a:rPr dirty="0" sz="1500" spc="8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51515"/>
                </a:solidFill>
                <a:latin typeface="Arial"/>
                <a:cs typeface="Arial"/>
              </a:rPr>
              <a:t>stress.</a:t>
            </a:r>
            <a:endParaRPr sz="1500">
              <a:latin typeface="Arial"/>
              <a:cs typeface="Arial"/>
            </a:endParaRPr>
          </a:p>
          <a:p>
            <a:pPr marL="19050" marR="96520" indent="482600">
              <a:lnSpc>
                <a:spcPct val="102499"/>
              </a:lnSpc>
              <a:spcBef>
                <a:spcPts val="320"/>
              </a:spcBef>
              <a:buSzPct val="80000"/>
              <a:buFont typeface="Arial"/>
              <a:buChar char="✓"/>
              <a:tabLst>
                <a:tab pos="501650" algn="l"/>
              </a:tabLst>
            </a:pPr>
            <a:r>
              <a:rPr dirty="0" sz="1500" b="1" i="1">
                <a:solidFill>
                  <a:srgbClr val="050505"/>
                </a:solidFill>
                <a:latin typeface="Arial"/>
                <a:cs typeface="Arial"/>
              </a:rPr>
              <a:t>Disease</a:t>
            </a:r>
            <a:r>
              <a:rPr dirty="0" sz="1500" spc="114" b="1" i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00" spc="55" b="1" i="1">
                <a:solidFill>
                  <a:srgbClr val="050505"/>
                </a:solidFill>
                <a:latin typeface="Arial"/>
                <a:cs typeface="Arial"/>
              </a:rPr>
              <a:t>and</a:t>
            </a:r>
            <a:r>
              <a:rPr dirty="0" sz="1500" spc="145" b="1" i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050505"/>
                </a:solidFill>
                <a:latin typeface="Arial"/>
                <a:cs typeface="Arial"/>
              </a:rPr>
              <a:t>Pest</a:t>
            </a:r>
            <a:r>
              <a:rPr dirty="0" sz="1500" spc="125" b="1" i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050505"/>
                </a:solidFill>
                <a:latin typeface="Arial"/>
                <a:cs typeface="Arial"/>
              </a:rPr>
              <a:t>Alerts:</a:t>
            </a:r>
            <a:r>
              <a:rPr dirty="0" sz="1500" spc="235" b="1" i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Many</a:t>
            </a:r>
            <a:r>
              <a:rPr dirty="0" sz="1500" spc="7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crop</a:t>
            </a:r>
            <a:r>
              <a:rPr dirty="0" sz="1500" spc="8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diseases</a:t>
            </a:r>
            <a:r>
              <a:rPr dirty="0" sz="1500" spc="16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and</a:t>
            </a:r>
            <a:r>
              <a:rPr dirty="0" sz="1500" spc="9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51515"/>
                </a:solidFill>
                <a:latin typeface="Arial"/>
                <a:cs typeface="Arial"/>
              </a:rPr>
              <a:t>pests</a:t>
            </a:r>
            <a:r>
              <a:rPr dirty="0" sz="1500" spc="-1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thrive</a:t>
            </a:r>
            <a:r>
              <a:rPr dirty="0" sz="1500" spc="8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under</a:t>
            </a:r>
            <a:r>
              <a:rPr dirty="0" sz="1500" spc="17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certain</a:t>
            </a:r>
            <a:r>
              <a:rPr dirty="0" sz="1500" spc="15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climate</a:t>
            </a:r>
            <a:r>
              <a:rPr dirty="0" sz="1500" spc="5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conditions</a:t>
            </a:r>
            <a:r>
              <a:rPr dirty="0" sz="1500" spc="17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(e</a:t>
            </a:r>
            <a:r>
              <a:rPr dirty="0" sz="1500" i="1">
                <a:solidFill>
                  <a:srgbClr val="313131"/>
                </a:solidFill>
                <a:latin typeface="Arial"/>
                <a:cs typeface="Arial"/>
              </a:rPr>
              <a:t>.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g</a:t>
            </a:r>
            <a:r>
              <a:rPr dirty="0" sz="1500" i="1">
                <a:solidFill>
                  <a:srgbClr val="484848"/>
                </a:solidFill>
                <a:latin typeface="Arial"/>
                <a:cs typeface="Arial"/>
              </a:rPr>
              <a:t>.,</a:t>
            </a:r>
            <a:r>
              <a:rPr dirty="0" sz="1500" spc="185" i="1">
                <a:solidFill>
                  <a:srgbClr val="484848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warm</a:t>
            </a:r>
            <a:r>
              <a:rPr dirty="0" sz="1500" i="1">
                <a:solidFill>
                  <a:srgbClr val="484848"/>
                </a:solidFill>
                <a:latin typeface="Arial"/>
                <a:cs typeface="Arial"/>
              </a:rPr>
              <a:t>,</a:t>
            </a:r>
            <a:r>
              <a:rPr dirty="0" sz="1500" spc="210" i="1">
                <a:solidFill>
                  <a:srgbClr val="484848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51515"/>
                </a:solidFill>
                <a:latin typeface="Arial"/>
                <a:cs typeface="Arial"/>
              </a:rPr>
              <a:t>humid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weather).</a:t>
            </a:r>
            <a:r>
              <a:rPr dirty="0" sz="1500" spc="18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spc="70" i="1">
                <a:solidFill>
                  <a:srgbClr val="151515"/>
                </a:solidFill>
                <a:latin typeface="Arial"/>
                <a:cs typeface="Arial"/>
              </a:rPr>
              <a:t>An</a:t>
            </a:r>
            <a:r>
              <a:rPr dirty="0" sz="1500" spc="-2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spc="80" i="1">
                <a:solidFill>
                  <a:srgbClr val="151515"/>
                </a:solidFill>
                <a:latin typeface="Arial"/>
                <a:cs typeface="Arial"/>
              </a:rPr>
              <a:t>ML</a:t>
            </a:r>
            <a:r>
              <a:rPr dirty="0" sz="1500" spc="11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model</a:t>
            </a:r>
            <a:r>
              <a:rPr dirty="0" sz="1500" spc="10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that</a:t>
            </a:r>
            <a:r>
              <a:rPr dirty="0" sz="1500" spc="6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predicts</a:t>
            </a:r>
            <a:r>
              <a:rPr dirty="0" sz="1500" spc="18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such</a:t>
            </a:r>
            <a:r>
              <a:rPr dirty="0" sz="1500" spc="-2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conditions</a:t>
            </a:r>
            <a:r>
              <a:rPr dirty="0" sz="1500" spc="19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spc="65" i="1">
                <a:solidFill>
                  <a:srgbClr val="151515"/>
                </a:solidFill>
                <a:latin typeface="Arial"/>
                <a:cs typeface="Arial"/>
              </a:rPr>
              <a:t>can</a:t>
            </a:r>
            <a:r>
              <a:rPr dirty="0" sz="1500" spc="1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51515"/>
                </a:solidFill>
                <a:latin typeface="Arial"/>
                <a:cs typeface="Arial"/>
              </a:rPr>
              <a:t>trigger </a:t>
            </a:r>
            <a:r>
              <a:rPr dirty="0" sz="1500" spc="20" i="1">
                <a:solidFill>
                  <a:srgbClr val="151515"/>
                </a:solidFill>
                <a:latin typeface="Arial"/>
                <a:cs typeface="Arial"/>
              </a:rPr>
              <a:t>early</a:t>
            </a:r>
            <a:r>
              <a:rPr dirty="0" sz="1500" spc="4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spc="20" i="1">
                <a:solidFill>
                  <a:srgbClr val="151515"/>
                </a:solidFill>
                <a:latin typeface="Arial"/>
                <a:cs typeface="Arial"/>
              </a:rPr>
              <a:t>warnings</a:t>
            </a:r>
            <a:r>
              <a:rPr dirty="0" sz="1500" spc="7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spc="20" i="1">
                <a:solidFill>
                  <a:srgbClr val="151515"/>
                </a:solidFill>
                <a:latin typeface="Arial"/>
                <a:cs typeface="Arial"/>
              </a:rPr>
              <a:t>and</a:t>
            </a:r>
            <a:r>
              <a:rPr dirty="0" sz="1500" spc="-5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spc="20" i="1">
                <a:solidFill>
                  <a:srgbClr val="151515"/>
                </a:solidFill>
                <a:latin typeface="Arial"/>
                <a:cs typeface="Arial"/>
              </a:rPr>
              <a:t>countermeasures,</a:t>
            </a:r>
            <a:r>
              <a:rPr dirty="0" sz="1500" spc="-6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spc="20" i="1">
                <a:solidFill>
                  <a:srgbClr val="151515"/>
                </a:solidFill>
                <a:latin typeface="Arial"/>
                <a:cs typeface="Arial"/>
              </a:rPr>
              <a:t>protecting</a:t>
            </a:r>
            <a:r>
              <a:rPr dirty="0" sz="1500" spc="8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51515"/>
                </a:solidFill>
                <a:latin typeface="Arial"/>
                <a:cs typeface="Arial"/>
              </a:rPr>
              <a:t>yields.</a:t>
            </a:r>
            <a:endParaRPr sz="1500">
              <a:latin typeface="Arial"/>
              <a:cs typeface="Arial"/>
            </a:endParaRPr>
          </a:p>
          <a:p>
            <a:pPr marL="16510" marR="5080" indent="449580">
              <a:lnSpc>
                <a:spcPct val="103400"/>
              </a:lnSpc>
              <a:spcBef>
                <a:spcPts val="305"/>
              </a:spcBef>
              <a:buClr>
                <a:srgbClr val="151515"/>
              </a:buClr>
              <a:buSzPct val="80000"/>
              <a:buFont typeface="Arial"/>
              <a:buChar char="✓"/>
              <a:tabLst>
                <a:tab pos="466090" algn="l"/>
              </a:tabLst>
            </a:pPr>
            <a:r>
              <a:rPr dirty="0" sz="1500" b="1" i="1">
                <a:solidFill>
                  <a:srgbClr val="050505"/>
                </a:solidFill>
                <a:latin typeface="Arial"/>
                <a:cs typeface="Arial"/>
              </a:rPr>
              <a:t>Yield</a:t>
            </a:r>
            <a:r>
              <a:rPr dirty="0" sz="1500" spc="200" b="1" i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050505"/>
                </a:solidFill>
                <a:latin typeface="Arial"/>
                <a:cs typeface="Arial"/>
              </a:rPr>
              <a:t>Prediction:</a:t>
            </a:r>
            <a:r>
              <a:rPr dirty="0" sz="1500" spc="210" b="1" i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Combining</a:t>
            </a:r>
            <a:r>
              <a:rPr dirty="0" sz="1500" spc="18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climate</a:t>
            </a:r>
            <a:r>
              <a:rPr dirty="0" sz="1500" spc="9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forecasts</a:t>
            </a:r>
            <a:r>
              <a:rPr dirty="0" sz="1500" spc="28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with</a:t>
            </a:r>
            <a:r>
              <a:rPr dirty="0" sz="1500" spc="7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spc="-20" i="1">
                <a:solidFill>
                  <a:srgbClr val="151515"/>
                </a:solidFill>
                <a:latin typeface="Arial"/>
                <a:cs typeface="Arial"/>
              </a:rPr>
              <a:t>crop</a:t>
            </a:r>
            <a:r>
              <a:rPr dirty="0" sz="1500" spc="-2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models</a:t>
            </a:r>
            <a:r>
              <a:rPr dirty="0" sz="1500" spc="22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improves</a:t>
            </a:r>
            <a:r>
              <a:rPr dirty="0" sz="1500" spc="17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yield</a:t>
            </a:r>
            <a:r>
              <a:rPr dirty="0" sz="1500" spc="2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predictions.</a:t>
            </a:r>
            <a:r>
              <a:rPr dirty="0" sz="1500" spc="27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Farmers</a:t>
            </a:r>
            <a:r>
              <a:rPr dirty="0" sz="1500" spc="21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spc="65" i="1">
                <a:solidFill>
                  <a:srgbClr val="151515"/>
                </a:solidFill>
                <a:latin typeface="Arial"/>
                <a:cs typeface="Arial"/>
              </a:rPr>
              <a:t>can</a:t>
            </a:r>
            <a:r>
              <a:rPr dirty="0" sz="1500" spc="2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plan</a:t>
            </a:r>
            <a:r>
              <a:rPr dirty="0" sz="1500" spc="4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51515"/>
                </a:solidFill>
                <a:latin typeface="Arial"/>
                <a:cs typeface="Arial"/>
              </a:rPr>
              <a:t>planting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dates</a:t>
            </a:r>
            <a:r>
              <a:rPr dirty="0" sz="1500" spc="9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and</a:t>
            </a:r>
            <a:r>
              <a:rPr dirty="0" sz="1500" spc="3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crop</a:t>
            </a:r>
            <a:r>
              <a:rPr dirty="0" sz="1500" spc="6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varieties</a:t>
            </a:r>
            <a:r>
              <a:rPr dirty="0" sz="1500" spc="21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based</a:t>
            </a:r>
            <a:r>
              <a:rPr dirty="0" sz="1500" spc="12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spc="60" i="1">
                <a:solidFill>
                  <a:srgbClr val="151515"/>
                </a:solidFill>
                <a:latin typeface="Arial"/>
                <a:cs typeface="Arial"/>
              </a:rPr>
              <a:t>on</a:t>
            </a:r>
            <a:r>
              <a:rPr dirty="0" sz="1500" spc="4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expected</a:t>
            </a:r>
            <a:r>
              <a:rPr dirty="0" sz="1500" spc="16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seasonal</a:t>
            </a:r>
            <a:r>
              <a:rPr dirty="0" sz="1500" spc="204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51515"/>
                </a:solidFill>
                <a:latin typeface="Arial"/>
                <a:cs typeface="Arial"/>
              </a:rPr>
              <a:t>conditions</a:t>
            </a:r>
            <a:r>
              <a:rPr dirty="0" sz="1500" spc="-10" i="1">
                <a:solidFill>
                  <a:srgbClr val="484848"/>
                </a:solidFill>
                <a:latin typeface="Arial"/>
                <a:cs typeface="Arial"/>
              </a:rPr>
              <a:t>,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increasing</a:t>
            </a:r>
            <a:r>
              <a:rPr dirty="0" sz="1500" spc="13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51515"/>
                </a:solidFill>
                <a:latin typeface="Arial"/>
                <a:cs typeface="Arial"/>
              </a:rPr>
              <a:t>productivity.</a:t>
            </a:r>
            <a:endParaRPr sz="1500">
              <a:latin typeface="Arial"/>
              <a:cs typeface="Arial"/>
            </a:endParaRPr>
          </a:p>
          <a:p>
            <a:pPr marL="14604" marR="140970" indent="476884">
              <a:lnSpc>
                <a:spcPct val="97000"/>
              </a:lnSpc>
              <a:spcBef>
                <a:spcPts val="420"/>
              </a:spcBef>
              <a:buClr>
                <a:srgbClr val="151515"/>
              </a:buClr>
              <a:buSzPct val="80000"/>
              <a:buFont typeface="Arial"/>
              <a:buChar char="✓"/>
              <a:tabLst>
                <a:tab pos="491490" algn="l"/>
              </a:tabLst>
            </a:pPr>
            <a:r>
              <a:rPr dirty="0" sz="1500" spc="55" b="1" i="1">
                <a:solidFill>
                  <a:srgbClr val="050505"/>
                </a:solidFill>
                <a:latin typeface="Arial"/>
                <a:cs typeface="Arial"/>
              </a:rPr>
              <a:t>Crop </a:t>
            </a:r>
            <a:r>
              <a:rPr dirty="0" sz="1500" b="1" i="1">
                <a:solidFill>
                  <a:srgbClr val="050505"/>
                </a:solidFill>
                <a:latin typeface="Arial"/>
                <a:cs typeface="Arial"/>
              </a:rPr>
              <a:t>Selection</a:t>
            </a:r>
            <a:r>
              <a:rPr dirty="0" sz="1500" spc="195" b="1" i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050505"/>
                </a:solidFill>
                <a:latin typeface="Arial"/>
                <a:cs typeface="Arial"/>
              </a:rPr>
              <a:t>and</a:t>
            </a:r>
            <a:r>
              <a:rPr dirty="0" sz="1500" spc="175" b="1" i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050505"/>
                </a:solidFill>
                <a:latin typeface="Arial"/>
                <a:cs typeface="Arial"/>
              </a:rPr>
              <a:t>Breeding:</a:t>
            </a:r>
            <a:r>
              <a:rPr dirty="0" sz="1500" spc="295" b="1" i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050505"/>
                </a:solidFill>
                <a:latin typeface="Arial"/>
                <a:cs typeface="Arial"/>
              </a:rPr>
              <a:t>Long-term</a:t>
            </a:r>
            <a:r>
              <a:rPr dirty="0" sz="1500" spc="175" i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climate</a:t>
            </a:r>
            <a:r>
              <a:rPr dirty="0" sz="1500" spc="12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51515"/>
                </a:solidFill>
                <a:latin typeface="Arial"/>
                <a:cs typeface="Arial"/>
              </a:rPr>
              <a:t>trends</a:t>
            </a:r>
            <a:r>
              <a:rPr dirty="0" sz="1500" spc="-1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inform</a:t>
            </a:r>
            <a:r>
              <a:rPr dirty="0" sz="1500" spc="8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which</a:t>
            </a:r>
            <a:r>
              <a:rPr dirty="0" sz="1500" spc="-1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crops</a:t>
            </a:r>
            <a:r>
              <a:rPr dirty="0" sz="1500" spc="12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51515"/>
                </a:solidFill>
                <a:latin typeface="Arial"/>
                <a:cs typeface="Arial"/>
              </a:rPr>
              <a:t>or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cultivars</a:t>
            </a:r>
            <a:r>
              <a:rPr dirty="0" sz="1500" spc="14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spc="60" i="1">
                <a:solidFill>
                  <a:srgbClr val="151515"/>
                </a:solidFill>
                <a:latin typeface="Arial"/>
                <a:cs typeface="Arial"/>
              </a:rPr>
              <a:t>are</a:t>
            </a:r>
            <a:r>
              <a:rPr dirty="0" sz="1500" spc="1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050505"/>
                </a:solidFill>
                <a:latin typeface="Arial"/>
                <a:cs typeface="Arial"/>
              </a:rPr>
              <a:t>likely</a:t>
            </a:r>
            <a:r>
              <a:rPr dirty="0" sz="1500" spc="120" i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to</a:t>
            </a:r>
            <a:r>
              <a:rPr dirty="0" sz="1500" spc="8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succeed</a:t>
            </a:r>
            <a:r>
              <a:rPr dirty="0" sz="1500" spc="7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in</a:t>
            </a:r>
            <a:r>
              <a:rPr dirty="0" sz="1500" spc="9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151515"/>
                </a:solidFill>
                <a:latin typeface="Arial"/>
                <a:cs typeface="Arial"/>
              </a:rPr>
              <a:t>a</a:t>
            </a:r>
            <a:r>
              <a:rPr dirty="0" sz="1600" spc="90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51515"/>
                </a:solidFill>
                <a:latin typeface="Arial"/>
                <a:cs typeface="Arial"/>
              </a:rPr>
              <a:t>region,</a:t>
            </a:r>
            <a:r>
              <a:rPr dirty="0" sz="1500" spc="-1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aiding</a:t>
            </a:r>
            <a:r>
              <a:rPr dirty="0" sz="1500" spc="12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breeding</a:t>
            </a:r>
            <a:r>
              <a:rPr dirty="0" sz="1500" spc="14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programs</a:t>
            </a:r>
            <a:r>
              <a:rPr dirty="0" sz="1500" spc="16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spc="60" i="1">
                <a:solidFill>
                  <a:srgbClr val="151515"/>
                </a:solidFill>
                <a:latin typeface="Arial"/>
                <a:cs typeface="Arial"/>
              </a:rPr>
              <a:t>and</a:t>
            </a:r>
            <a:r>
              <a:rPr dirty="0" sz="1500" spc="5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050505"/>
                </a:solidFill>
                <a:latin typeface="Arial"/>
                <a:cs typeface="Arial"/>
              </a:rPr>
              <a:t>long-term</a:t>
            </a:r>
            <a:r>
              <a:rPr dirty="0" sz="1500" spc="150" i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51515"/>
                </a:solidFill>
                <a:latin typeface="Arial"/>
                <a:cs typeface="Arial"/>
              </a:rPr>
              <a:t>planning.</a:t>
            </a:r>
            <a:endParaRPr sz="1500">
              <a:latin typeface="Arial"/>
              <a:cs typeface="Arial"/>
            </a:endParaRPr>
          </a:p>
          <a:p>
            <a:pPr marL="12700" marR="20320" indent="225425">
              <a:lnSpc>
                <a:spcPct val="102899"/>
              </a:lnSpc>
              <a:spcBef>
                <a:spcPts val="890"/>
              </a:spcBef>
            </a:pPr>
            <a:r>
              <a:rPr dirty="0" sz="1500" i="1">
                <a:solidFill>
                  <a:srgbClr val="050505"/>
                </a:solidFill>
                <a:latin typeface="Arial"/>
                <a:cs typeface="Arial"/>
              </a:rPr>
              <a:t>These</a:t>
            </a:r>
            <a:r>
              <a:rPr dirty="0" sz="1500" spc="110" i="1">
                <a:solidFill>
                  <a:srgbClr val="050505"/>
                </a:solidFill>
                <a:latin typeface="Arial"/>
                <a:cs typeface="Arial"/>
              </a:rPr>
              <a:t> </a:t>
            </a:r>
            <a:r>
              <a:rPr dirty="0" sz="1500" spc="50" i="1">
                <a:solidFill>
                  <a:srgbClr val="151515"/>
                </a:solidFill>
                <a:latin typeface="Arial"/>
                <a:cs typeface="Arial"/>
              </a:rPr>
              <a:t>use</a:t>
            </a:r>
            <a:r>
              <a:rPr dirty="0" sz="1500" spc="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cases</a:t>
            </a:r>
            <a:r>
              <a:rPr dirty="0" sz="1500" spc="24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illustrate</a:t>
            </a:r>
            <a:r>
              <a:rPr dirty="0" sz="1500" spc="12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how</a:t>
            </a:r>
            <a:r>
              <a:rPr dirty="0" sz="1500" spc="14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our</a:t>
            </a:r>
            <a:r>
              <a:rPr dirty="0" sz="1500" spc="10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climate</a:t>
            </a:r>
            <a:r>
              <a:rPr dirty="0" sz="1500" spc="6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prediction</a:t>
            </a:r>
            <a:r>
              <a:rPr dirty="0" sz="1500" spc="17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51515"/>
                </a:solidFill>
                <a:latin typeface="Arial"/>
                <a:cs typeface="Arial"/>
              </a:rPr>
              <a:t>models</a:t>
            </a:r>
            <a:r>
              <a:rPr dirty="0" sz="1500" spc="-1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spc="65" i="1">
                <a:solidFill>
                  <a:srgbClr val="151515"/>
                </a:solidFill>
                <a:latin typeface="Arial"/>
                <a:cs typeface="Arial"/>
              </a:rPr>
              <a:t>can</a:t>
            </a:r>
            <a:r>
              <a:rPr dirty="0" sz="1500" spc="10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be</a:t>
            </a:r>
            <a:r>
              <a:rPr dirty="0" sz="1500" spc="114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integrated</a:t>
            </a:r>
            <a:r>
              <a:rPr dirty="0" sz="1500" spc="15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into</a:t>
            </a:r>
            <a:r>
              <a:rPr dirty="0" sz="1500" spc="4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agricultural</a:t>
            </a:r>
            <a:r>
              <a:rPr dirty="0" sz="1500" spc="21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decision-support</a:t>
            </a:r>
            <a:r>
              <a:rPr dirty="0" sz="1500" spc="15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tools,</a:t>
            </a:r>
            <a:r>
              <a:rPr dirty="0" sz="1500" spc="20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51515"/>
                </a:solidFill>
                <a:latin typeface="Arial"/>
                <a:cs typeface="Arial"/>
              </a:rPr>
              <a:t>leading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to</a:t>
            </a:r>
            <a:r>
              <a:rPr dirty="0" sz="1500" spc="8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more</a:t>
            </a:r>
            <a:r>
              <a:rPr dirty="0" sz="1500" spc="2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sustainable</a:t>
            </a:r>
            <a:r>
              <a:rPr dirty="0" sz="1500" spc="12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spc="60" i="1">
                <a:solidFill>
                  <a:srgbClr val="151515"/>
                </a:solidFill>
                <a:latin typeface="Arial"/>
                <a:cs typeface="Arial"/>
              </a:rPr>
              <a:t>and</a:t>
            </a:r>
            <a:r>
              <a:rPr dirty="0" sz="1500" spc="5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resilient</a:t>
            </a:r>
            <a:r>
              <a:rPr dirty="0" sz="1500" spc="145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51515"/>
                </a:solidFill>
                <a:latin typeface="Arial"/>
                <a:cs typeface="Arial"/>
              </a:rPr>
              <a:t>farming</a:t>
            </a:r>
            <a:r>
              <a:rPr dirty="0" sz="1500" spc="110" i="1">
                <a:solidFill>
                  <a:srgbClr val="151515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51515"/>
                </a:solidFill>
                <a:latin typeface="Arial"/>
                <a:cs typeface="Arial"/>
              </a:rPr>
              <a:t>practices</a:t>
            </a:r>
            <a:r>
              <a:rPr dirty="0" sz="1500" spc="-10" i="1">
                <a:solidFill>
                  <a:srgbClr val="484848"/>
                </a:solidFill>
                <a:latin typeface="Arial"/>
                <a:cs typeface="Arial"/>
              </a:rPr>
              <a:t>.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03034" y="846549"/>
            <a:ext cx="25336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5" b="1" i="1">
                <a:solidFill>
                  <a:srgbClr val="111111"/>
                </a:solidFill>
                <a:latin typeface="Arial"/>
                <a:cs typeface="Arial"/>
              </a:rPr>
              <a:t>19</a:t>
            </a:r>
            <a:endParaRPr sz="15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1524" y="3294799"/>
            <a:ext cx="5773420" cy="5903595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u="heavy" sz="1800" spc="45" i="1">
                <a:solidFill>
                  <a:srgbClr val="284952"/>
                </a:solidFill>
                <a:uFill>
                  <a:solidFill>
                    <a:srgbClr val="284952"/>
                  </a:solidFill>
                </a:uFill>
                <a:latin typeface="Arial"/>
                <a:cs typeface="Arial"/>
              </a:rPr>
              <a:t>References</a:t>
            </a:r>
            <a:endParaRPr sz="1800">
              <a:latin typeface="Arial"/>
              <a:cs typeface="Arial"/>
            </a:endParaRPr>
          </a:p>
          <a:p>
            <a:pPr marL="440690" marR="429259" indent="-224790">
              <a:lnSpc>
                <a:spcPct val="98300"/>
              </a:lnSpc>
              <a:spcBef>
                <a:spcPts val="240"/>
              </a:spcBef>
              <a:buClr>
                <a:srgbClr val="343434"/>
              </a:buClr>
              <a:buSzPct val="73333"/>
              <a:buFont typeface="Arial"/>
              <a:buAutoNum type="arabicPeriod"/>
              <a:tabLst>
                <a:tab pos="443230" algn="l"/>
              </a:tabLst>
            </a:pP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Sevgin</a:t>
            </a:r>
            <a:r>
              <a:rPr dirty="0" sz="1500" i="1">
                <a:solidFill>
                  <a:srgbClr val="494949"/>
                </a:solidFill>
                <a:latin typeface="Arial"/>
                <a:cs typeface="Arial"/>
              </a:rPr>
              <a:t>,</a:t>
            </a:r>
            <a:r>
              <a:rPr dirty="0" sz="1500" spc="290" i="1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F.</a:t>
            </a:r>
            <a:r>
              <a:rPr dirty="0" sz="1500" i="1">
                <a:solidFill>
                  <a:srgbClr val="494949"/>
                </a:solidFill>
                <a:latin typeface="Arial"/>
                <a:cs typeface="Arial"/>
              </a:rPr>
              <a:t>,</a:t>
            </a:r>
            <a:r>
              <a:rPr dirty="0" sz="1500" spc="225" i="1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494949"/>
                </a:solidFill>
                <a:latin typeface="Arial"/>
                <a:cs typeface="Arial"/>
              </a:rPr>
              <a:t>"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Machine</a:t>
            </a:r>
            <a:r>
              <a:rPr dirty="0" sz="1500" spc="27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Learning-Based</a:t>
            </a:r>
            <a:r>
              <a:rPr dirty="0" sz="1500" spc="1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11111"/>
                </a:solidFill>
                <a:latin typeface="Arial"/>
                <a:cs typeface="Arial"/>
              </a:rPr>
              <a:t>Temperature</a:t>
            </a:r>
            <a:r>
              <a:rPr dirty="0" sz="1500" spc="-1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Forecasting</a:t>
            </a:r>
            <a:r>
              <a:rPr dirty="0" sz="1500" spc="22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for</a:t>
            </a:r>
            <a:r>
              <a:rPr dirty="0" sz="1500" spc="9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Sustainable</a:t>
            </a:r>
            <a:r>
              <a:rPr dirty="0" sz="1500" spc="28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Climate</a:t>
            </a:r>
            <a:r>
              <a:rPr dirty="0" sz="1500" spc="12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Change</a:t>
            </a:r>
            <a:r>
              <a:rPr dirty="0" sz="1500" spc="17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11111"/>
                </a:solidFill>
                <a:latin typeface="Arial"/>
                <a:cs typeface="Arial"/>
              </a:rPr>
              <a:t>Adaptation </a:t>
            </a:r>
            <a:r>
              <a:rPr dirty="0" sz="1500" spc="-10" i="1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dirty="0" sz="1500" spc="10" i="1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dirty="0" sz="1500" spc="6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11111"/>
                </a:solidFill>
                <a:latin typeface="Arial"/>
                <a:cs typeface="Arial"/>
              </a:rPr>
              <a:t>Mitigation</a:t>
            </a:r>
            <a:r>
              <a:rPr dirty="0" sz="1500" spc="10" i="1">
                <a:solidFill>
                  <a:srgbClr val="494949"/>
                </a:solidFill>
                <a:latin typeface="Arial"/>
                <a:cs typeface="Arial"/>
              </a:rPr>
              <a:t>,"</a:t>
            </a:r>
            <a:r>
              <a:rPr dirty="0" sz="1500" spc="-15" i="1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1500" spc="10" b="1" i="1">
                <a:solidFill>
                  <a:srgbClr val="111111"/>
                </a:solidFill>
                <a:latin typeface="Arial"/>
                <a:cs typeface="Arial"/>
              </a:rPr>
              <a:t>Sustainability,</a:t>
            </a:r>
            <a:r>
              <a:rPr dirty="0" sz="1500" spc="50" b="1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11111"/>
                </a:solidFill>
                <a:latin typeface="Arial"/>
                <a:cs typeface="Arial"/>
              </a:rPr>
              <a:t>vol.</a:t>
            </a:r>
            <a:r>
              <a:rPr dirty="0" sz="1500" spc="15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11111"/>
                </a:solidFill>
                <a:latin typeface="Arial"/>
                <a:cs typeface="Arial"/>
              </a:rPr>
              <a:t>17,</a:t>
            </a:r>
            <a:r>
              <a:rPr dirty="0" sz="1500" spc="10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11111"/>
                </a:solidFill>
                <a:latin typeface="Arial"/>
                <a:cs typeface="Arial"/>
              </a:rPr>
              <a:t>no.</a:t>
            </a:r>
            <a:r>
              <a:rPr dirty="0" sz="1500" spc="8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650" spc="10">
                <a:solidFill>
                  <a:srgbClr val="111111"/>
                </a:solidFill>
                <a:latin typeface="Times New Roman"/>
                <a:cs typeface="Times New Roman"/>
              </a:rPr>
              <a:t>5</a:t>
            </a:r>
            <a:r>
              <a:rPr dirty="0" sz="1650" spc="10">
                <a:solidFill>
                  <a:srgbClr val="494949"/>
                </a:solidFill>
                <a:latin typeface="Times New Roman"/>
                <a:cs typeface="Times New Roman"/>
              </a:rPr>
              <a:t>,</a:t>
            </a:r>
            <a:r>
              <a:rPr dirty="0" sz="1650" spc="20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dirty="0" sz="1500" spc="-10" i="1">
                <a:solidFill>
                  <a:srgbClr val="111111"/>
                </a:solidFill>
                <a:latin typeface="Arial"/>
                <a:cs typeface="Arial"/>
              </a:rPr>
              <a:t>2025</a:t>
            </a:r>
            <a:r>
              <a:rPr dirty="0" sz="1500" spc="-10" i="1">
                <a:solidFill>
                  <a:srgbClr val="494949"/>
                </a:solidFill>
                <a:latin typeface="Arial"/>
                <a:cs typeface="Arial"/>
              </a:rPr>
              <a:t>,</a:t>
            </a:r>
            <a:r>
              <a:rPr dirty="0" sz="1500" spc="-10" i="1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494949"/>
                </a:solidFill>
                <a:latin typeface="Arial"/>
                <a:cs typeface="Arial"/>
              </a:rPr>
              <a:t>	</a:t>
            </a:r>
            <a:r>
              <a:rPr dirty="0" sz="1500" spc="-10" i="1">
                <a:solidFill>
                  <a:srgbClr val="111111"/>
                </a:solidFill>
                <a:latin typeface="Arial"/>
                <a:cs typeface="Arial"/>
              </a:rPr>
              <a:t>doi:10.</a:t>
            </a:r>
            <a:r>
              <a:rPr dirty="0" sz="1550" spc="-10">
                <a:solidFill>
                  <a:srgbClr val="111111"/>
                </a:solidFill>
                <a:latin typeface="Arial"/>
                <a:cs typeface="Arial"/>
              </a:rPr>
              <a:t>3390/su</a:t>
            </a:r>
            <a:r>
              <a:rPr dirty="0" sz="1500" spc="-10" i="1">
                <a:solidFill>
                  <a:srgbClr val="111111"/>
                </a:solidFill>
                <a:latin typeface="Arial"/>
                <a:cs typeface="Arial"/>
              </a:rPr>
              <a:t>17051812.</a:t>
            </a:r>
            <a:endParaRPr sz="1500">
              <a:latin typeface="Arial"/>
              <a:cs typeface="Arial"/>
            </a:endParaRPr>
          </a:p>
          <a:p>
            <a:pPr marL="440690" marR="111760" indent="-219710">
              <a:lnSpc>
                <a:spcPct val="96900"/>
              </a:lnSpc>
              <a:spcBef>
                <a:spcPts val="315"/>
              </a:spcBef>
              <a:buClr>
                <a:srgbClr val="343434"/>
              </a:buClr>
              <a:buSzPct val="73333"/>
              <a:buFont typeface="Arial"/>
              <a:buAutoNum type="arabicPeriod"/>
              <a:tabLst>
                <a:tab pos="440690" algn="l"/>
              </a:tabLst>
            </a:pP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Setiawan</a:t>
            </a:r>
            <a:r>
              <a:rPr dirty="0" sz="1500" i="1">
                <a:solidFill>
                  <a:srgbClr val="494949"/>
                </a:solidFill>
                <a:latin typeface="Arial"/>
                <a:cs typeface="Arial"/>
              </a:rPr>
              <a:t>,</a:t>
            </a:r>
            <a:r>
              <a:rPr dirty="0" sz="1500" spc="155" i="1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K.</a:t>
            </a:r>
            <a:r>
              <a:rPr dirty="0" sz="1500" spc="6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E.,</a:t>
            </a:r>
            <a:r>
              <a:rPr dirty="0" sz="1500" spc="6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H.</a:t>
            </a:r>
            <a:r>
              <a:rPr dirty="0" sz="1500" spc="60" i="1">
                <a:solidFill>
                  <a:srgbClr val="111111"/>
                </a:solidFill>
                <a:latin typeface="Arial"/>
                <a:cs typeface="Arial"/>
              </a:rPr>
              <a:t> A.</a:t>
            </a:r>
            <a:r>
              <a:rPr dirty="0" sz="1500" spc="2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Shiddiqi,</a:t>
            </a:r>
            <a:r>
              <a:rPr dirty="0" sz="1500" spc="17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dirty="0" sz="1500" spc="65" i="1">
                <a:solidFill>
                  <a:srgbClr val="111111"/>
                </a:solidFill>
                <a:latin typeface="Arial"/>
                <a:cs typeface="Arial"/>
              </a:rPr>
              <a:t> P.</a:t>
            </a:r>
            <a:r>
              <a:rPr dirty="0" sz="1500" spc="1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Wicaksono</a:t>
            </a:r>
            <a:r>
              <a:rPr dirty="0" sz="1500" i="1">
                <a:solidFill>
                  <a:srgbClr val="494949"/>
                </a:solidFill>
                <a:latin typeface="Arial"/>
                <a:cs typeface="Arial"/>
              </a:rPr>
              <a:t>, </a:t>
            </a:r>
            <a:r>
              <a:rPr dirty="0" sz="1500" spc="-10" i="1">
                <a:solidFill>
                  <a:srgbClr val="343434"/>
                </a:solidFill>
                <a:latin typeface="Arial"/>
                <a:cs typeface="Arial"/>
              </a:rPr>
              <a:t>"Multi-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output</a:t>
            </a:r>
            <a:r>
              <a:rPr dirty="0" sz="1500" spc="204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machine</a:t>
            </a:r>
            <a:r>
              <a:rPr dirty="0" sz="1500" spc="5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learning</a:t>
            </a:r>
            <a:r>
              <a:rPr dirty="0" sz="1500" spc="20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regression</a:t>
            </a:r>
            <a:r>
              <a:rPr dirty="0" sz="1500" spc="21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for</a:t>
            </a:r>
            <a:r>
              <a:rPr dirty="0" sz="1500" spc="114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climate</a:t>
            </a:r>
            <a:r>
              <a:rPr dirty="0" sz="1500" spc="12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prediction:</a:t>
            </a:r>
            <a:r>
              <a:rPr dirty="0" sz="1500" spc="27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50" spc="-50">
                <a:solidFill>
                  <a:srgbClr val="111111"/>
                </a:solidFill>
                <a:latin typeface="Arial"/>
                <a:cs typeface="Arial"/>
              </a:rPr>
              <a:t>a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comparative</a:t>
            </a:r>
            <a:r>
              <a:rPr dirty="0" sz="1500" spc="16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study</a:t>
            </a:r>
            <a:r>
              <a:rPr dirty="0" sz="1500" i="1">
                <a:solidFill>
                  <a:srgbClr val="343434"/>
                </a:solidFill>
                <a:latin typeface="Arial"/>
                <a:cs typeface="Arial"/>
              </a:rPr>
              <a:t>...</a:t>
            </a:r>
            <a:r>
              <a:rPr dirty="0" sz="1500" i="1">
                <a:solidFill>
                  <a:srgbClr val="494949"/>
                </a:solidFill>
                <a:latin typeface="Arial"/>
                <a:cs typeface="Arial"/>
              </a:rPr>
              <a:t>,"</a:t>
            </a:r>
            <a:r>
              <a:rPr dirty="0" sz="1500" spc="260" i="1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111111"/>
                </a:solidFill>
                <a:latin typeface="Arial"/>
                <a:cs typeface="Arial"/>
              </a:rPr>
              <a:t>Commun.</a:t>
            </a:r>
            <a:r>
              <a:rPr dirty="0" sz="1500" spc="225" b="1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111111"/>
                </a:solidFill>
                <a:latin typeface="Arial"/>
                <a:cs typeface="Arial"/>
              </a:rPr>
              <a:t>Math.</a:t>
            </a:r>
            <a:r>
              <a:rPr dirty="0" sz="1500" spc="290" b="1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b="1" i="1">
                <a:solidFill>
                  <a:srgbClr val="111111"/>
                </a:solidFill>
                <a:latin typeface="Arial"/>
                <a:cs typeface="Arial"/>
              </a:rPr>
              <a:t>Biol.</a:t>
            </a:r>
            <a:r>
              <a:rPr dirty="0" sz="1500" spc="95" b="1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-10" b="1" i="1">
                <a:solidFill>
                  <a:srgbClr val="111111"/>
                </a:solidFill>
                <a:latin typeface="Arial"/>
                <a:cs typeface="Arial"/>
              </a:rPr>
              <a:t>Neurosci.,</a:t>
            </a:r>
            <a:r>
              <a:rPr dirty="0" sz="1500" spc="500" b="1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vol.</a:t>
            </a:r>
            <a:r>
              <a:rPr dirty="0" sz="1500" spc="-5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2024,</a:t>
            </a:r>
            <a:r>
              <a:rPr dirty="0" sz="1500" spc="15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Article</a:t>
            </a:r>
            <a:r>
              <a:rPr dirty="0" sz="1500" spc="114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ID</a:t>
            </a:r>
            <a:r>
              <a:rPr dirty="0" sz="1500" spc="22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111111"/>
                </a:solidFill>
                <a:latin typeface="Times New Roman"/>
                <a:cs typeface="Times New Roman"/>
              </a:rPr>
              <a:t>97</a:t>
            </a:r>
            <a:r>
              <a:rPr dirty="0" sz="1600">
                <a:solidFill>
                  <a:srgbClr val="494949"/>
                </a:solidFill>
                <a:latin typeface="Times New Roman"/>
                <a:cs typeface="Times New Roman"/>
              </a:rPr>
              <a:t>,</a:t>
            </a:r>
            <a:r>
              <a:rPr dirty="0" sz="1600" spc="114">
                <a:solidFill>
                  <a:srgbClr val="494949"/>
                </a:solidFill>
                <a:latin typeface="Times New Roman"/>
                <a:cs typeface="Times New Roman"/>
              </a:rPr>
              <a:t> </a:t>
            </a:r>
            <a:r>
              <a:rPr dirty="0" sz="1500" spc="-10" i="1">
                <a:solidFill>
                  <a:srgbClr val="111111"/>
                </a:solidFill>
                <a:latin typeface="Arial"/>
                <a:cs typeface="Arial"/>
              </a:rPr>
              <a:t>2024.</a:t>
            </a:r>
            <a:endParaRPr sz="1500">
              <a:latin typeface="Arial"/>
              <a:cs typeface="Arial"/>
            </a:endParaRPr>
          </a:p>
          <a:p>
            <a:pPr marL="443230" marR="147320" indent="-224154">
              <a:lnSpc>
                <a:spcPts val="1880"/>
              </a:lnSpc>
              <a:spcBef>
                <a:spcPts val="50"/>
              </a:spcBef>
              <a:buClr>
                <a:srgbClr val="343434"/>
              </a:buClr>
              <a:buSzPct val="83333"/>
              <a:buFont typeface="Times New Roman"/>
              <a:buAutoNum type="arabicPeriod"/>
              <a:tabLst>
                <a:tab pos="444500" algn="l"/>
              </a:tabLst>
            </a:pP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Bhadra,</a:t>
            </a:r>
            <a:r>
              <a:rPr dirty="0" sz="1500" spc="8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55" i="1">
                <a:solidFill>
                  <a:srgbClr val="111111"/>
                </a:solidFill>
                <a:latin typeface="Arial"/>
                <a:cs typeface="Arial"/>
              </a:rPr>
              <a:t>M.,</a:t>
            </a:r>
            <a:r>
              <a:rPr dirty="0" sz="1500" spc="2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343434"/>
                </a:solidFill>
                <a:latin typeface="Arial"/>
                <a:cs typeface="Arial"/>
              </a:rPr>
              <a:t>"Climate</a:t>
            </a:r>
            <a:r>
              <a:rPr dirty="0" sz="1500" spc="195" i="1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Change</a:t>
            </a:r>
            <a:r>
              <a:rPr dirty="0" sz="1500" spc="11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Dataset,"</a:t>
            </a:r>
            <a:r>
              <a:rPr dirty="0" sz="1500" spc="13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Kaggle</a:t>
            </a:r>
            <a:r>
              <a:rPr dirty="0" sz="1500" spc="12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Data,</a:t>
            </a:r>
            <a:r>
              <a:rPr dirty="0" sz="1500" spc="9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11111"/>
                </a:solidFill>
                <a:latin typeface="Arial"/>
                <a:cs typeface="Arial"/>
              </a:rPr>
              <a:t>2023.</a:t>
            </a:r>
            <a:r>
              <a:rPr dirty="0" sz="1500" spc="-1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[Online].</a:t>
            </a:r>
            <a:r>
              <a:rPr dirty="0" sz="1500" spc="24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11111"/>
                </a:solidFill>
                <a:latin typeface="Arial"/>
                <a:cs typeface="Arial"/>
              </a:rPr>
              <a:t>Available:</a:t>
            </a:r>
            <a:endParaRPr sz="1500">
              <a:latin typeface="Arial"/>
              <a:cs typeface="Arial"/>
            </a:endParaRPr>
          </a:p>
          <a:p>
            <a:pPr marL="447040" marR="496570" indent="3810">
              <a:lnSpc>
                <a:spcPts val="1830"/>
              </a:lnSpc>
              <a:spcBef>
                <a:spcPts val="35"/>
              </a:spcBef>
            </a:pPr>
            <a:r>
              <a:rPr dirty="0" sz="1500" spc="-10" i="1">
                <a:solidFill>
                  <a:srgbClr val="111111"/>
                </a:solidFill>
                <a:latin typeface="Arial"/>
                <a:cs typeface="Arial"/>
                <a:hlinkClick r:id="rId2"/>
              </a:rPr>
              <a:t>https://www.kaggle.com/datasets/bhadramohit/climate-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change-</a:t>
            </a:r>
            <a:r>
              <a:rPr dirty="0" sz="1500" spc="-10" i="1">
                <a:solidFill>
                  <a:srgbClr val="111111"/>
                </a:solidFill>
                <a:latin typeface="Arial"/>
                <a:cs typeface="Arial"/>
              </a:rPr>
              <a:t>dataset</a:t>
            </a:r>
            <a:endParaRPr sz="1500">
              <a:latin typeface="Arial"/>
              <a:cs typeface="Arial"/>
            </a:endParaRPr>
          </a:p>
          <a:p>
            <a:pPr marL="437515" marR="72390" indent="-214629">
              <a:lnSpc>
                <a:spcPct val="100200"/>
              </a:lnSpc>
              <a:spcBef>
                <a:spcPts val="150"/>
              </a:spcBef>
              <a:buClr>
                <a:srgbClr val="343434"/>
              </a:buClr>
              <a:buSzPct val="73333"/>
              <a:buFont typeface="Arial"/>
              <a:buAutoNum type="arabicPeriod" startAt="4"/>
              <a:tabLst>
                <a:tab pos="446405" algn="l"/>
              </a:tabLst>
            </a:pP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IPCC</a:t>
            </a:r>
            <a:r>
              <a:rPr dirty="0" sz="1500" i="1">
                <a:solidFill>
                  <a:srgbClr val="494949"/>
                </a:solidFill>
                <a:latin typeface="Arial"/>
                <a:cs typeface="Arial"/>
              </a:rPr>
              <a:t>,</a:t>
            </a:r>
            <a:r>
              <a:rPr dirty="0" sz="1500" spc="85" i="1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494949"/>
                </a:solidFill>
                <a:latin typeface="Arial"/>
                <a:cs typeface="Arial"/>
              </a:rPr>
              <a:t>"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Climate</a:t>
            </a:r>
            <a:r>
              <a:rPr dirty="0" sz="1500" spc="13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Change</a:t>
            </a:r>
            <a:r>
              <a:rPr dirty="0" sz="1500" spc="19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2021:</a:t>
            </a:r>
            <a:r>
              <a:rPr dirty="0" sz="1500" spc="9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65" i="1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dirty="0" sz="1500" spc="2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Physical</a:t>
            </a:r>
            <a:r>
              <a:rPr dirty="0" sz="1500" spc="14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Science</a:t>
            </a:r>
            <a:r>
              <a:rPr dirty="0" sz="1500" spc="14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11111"/>
                </a:solidFill>
                <a:latin typeface="Arial"/>
                <a:cs typeface="Arial"/>
              </a:rPr>
              <a:t>Basis</a:t>
            </a:r>
            <a:r>
              <a:rPr dirty="0" sz="1500" spc="-10" i="1">
                <a:solidFill>
                  <a:srgbClr val="494949"/>
                </a:solidFill>
                <a:latin typeface="Arial"/>
                <a:cs typeface="Arial"/>
              </a:rPr>
              <a:t>,"</a:t>
            </a:r>
            <a:r>
              <a:rPr dirty="0" sz="1500" spc="-10" i="1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494949"/>
                </a:solidFill>
                <a:latin typeface="Arial"/>
                <a:cs typeface="Arial"/>
              </a:rPr>
              <a:t>	</a:t>
            </a:r>
            <a:r>
              <a:rPr dirty="0" sz="1500" spc="20" i="1">
                <a:solidFill>
                  <a:srgbClr val="111111"/>
                </a:solidFill>
                <a:latin typeface="Arial"/>
                <a:cs typeface="Arial"/>
              </a:rPr>
              <a:t>Intergovernmental</a:t>
            </a:r>
            <a:r>
              <a:rPr dirty="0" sz="1500" spc="-5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20" i="1">
                <a:solidFill>
                  <a:srgbClr val="111111"/>
                </a:solidFill>
                <a:latin typeface="Arial"/>
                <a:cs typeface="Arial"/>
              </a:rPr>
              <a:t>Panel</a:t>
            </a:r>
            <a:r>
              <a:rPr dirty="0" sz="1500" spc="1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20" i="1">
                <a:solidFill>
                  <a:srgbClr val="111111"/>
                </a:solidFill>
                <a:latin typeface="Arial"/>
                <a:cs typeface="Arial"/>
              </a:rPr>
              <a:t>on</a:t>
            </a:r>
            <a:r>
              <a:rPr dirty="0" sz="1500" spc="5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20" i="1">
                <a:solidFill>
                  <a:srgbClr val="111111"/>
                </a:solidFill>
                <a:latin typeface="Arial"/>
                <a:cs typeface="Arial"/>
              </a:rPr>
              <a:t>Climate</a:t>
            </a:r>
            <a:r>
              <a:rPr dirty="0" sz="1500" spc="5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20" i="1">
                <a:solidFill>
                  <a:srgbClr val="111111"/>
                </a:solidFill>
                <a:latin typeface="Arial"/>
                <a:cs typeface="Arial"/>
              </a:rPr>
              <a:t>Change</a:t>
            </a:r>
            <a:r>
              <a:rPr dirty="0" sz="1500" spc="20" i="1">
                <a:solidFill>
                  <a:srgbClr val="494949"/>
                </a:solidFill>
                <a:latin typeface="Arial"/>
                <a:cs typeface="Arial"/>
              </a:rPr>
              <a:t>,</a:t>
            </a:r>
            <a:r>
              <a:rPr dirty="0" sz="1500" spc="-15" i="1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11111"/>
                </a:solidFill>
                <a:latin typeface="Arial"/>
                <a:cs typeface="Arial"/>
              </a:rPr>
              <a:t>2021. </a:t>
            </a:r>
            <a:r>
              <a:rPr dirty="0" sz="1500" spc="-10" i="1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dirty="0" sz="1500" i="1">
                <a:solidFill>
                  <a:srgbClr val="343434"/>
                </a:solidFill>
                <a:latin typeface="Arial"/>
                <a:cs typeface="Arial"/>
              </a:rPr>
              <a:t>(Illustrates</a:t>
            </a:r>
            <a:r>
              <a:rPr dirty="0" sz="1500" spc="200" i="1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climate</a:t>
            </a:r>
            <a:r>
              <a:rPr dirty="0" sz="1500" spc="11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trends</a:t>
            </a:r>
            <a:r>
              <a:rPr dirty="0" sz="1500" spc="10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60" i="1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dirty="0" sz="1500" spc="8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modeling</a:t>
            </a:r>
            <a:r>
              <a:rPr dirty="0" sz="1500" spc="20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11111"/>
                </a:solidFill>
                <a:latin typeface="Arial"/>
                <a:cs typeface="Arial"/>
              </a:rPr>
              <a:t>techniques.)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buAutoNum type="arabicPeriod" startAt="4"/>
            </a:pP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00"/>
              </a:spcBef>
              <a:buAutoNum type="arabicPeriod" startAt="4"/>
            </a:pPr>
            <a:endParaRPr sz="1500">
              <a:latin typeface="Arial"/>
              <a:cs typeface="Arial"/>
            </a:endParaRPr>
          </a:p>
          <a:p>
            <a:pPr marL="15875">
              <a:lnSpc>
                <a:spcPts val="2140"/>
              </a:lnSpc>
            </a:pPr>
            <a:r>
              <a:rPr dirty="0" u="heavy" sz="1800" spc="-10" i="1">
                <a:solidFill>
                  <a:srgbClr val="284952"/>
                </a:solidFill>
                <a:uFill>
                  <a:solidFill>
                    <a:srgbClr val="284952"/>
                  </a:solidFill>
                </a:uFill>
                <a:latin typeface="Arial"/>
                <a:cs typeface="Arial"/>
              </a:rPr>
              <a:t>A,ppendix</a:t>
            </a:r>
            <a:endParaRPr sz="1800">
              <a:latin typeface="Arial"/>
              <a:cs typeface="Arial"/>
            </a:endParaRPr>
          </a:p>
          <a:p>
            <a:pPr algn="just" lvl="1" marL="447040" marR="5080" indent="-232410">
              <a:lnSpc>
                <a:spcPct val="97800"/>
              </a:lnSpc>
              <a:spcBef>
                <a:spcPts val="25"/>
              </a:spcBef>
              <a:buFont typeface="Arial"/>
              <a:buChar char="•"/>
              <a:tabLst>
                <a:tab pos="451484" algn="l"/>
              </a:tabLst>
            </a:pPr>
            <a:r>
              <a:rPr dirty="0" sz="1500" spc="10" b="1" i="1">
                <a:solidFill>
                  <a:srgbClr val="111111"/>
                </a:solidFill>
                <a:latin typeface="Arial"/>
                <a:cs typeface="Arial"/>
              </a:rPr>
              <a:t>Full</a:t>
            </a:r>
            <a:r>
              <a:rPr dirty="0" sz="1500" spc="95" b="1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10" b="1" i="1">
                <a:solidFill>
                  <a:srgbClr val="111111"/>
                </a:solidFill>
                <a:latin typeface="Arial"/>
                <a:cs typeface="Arial"/>
              </a:rPr>
              <a:t>Code:</a:t>
            </a:r>
            <a:r>
              <a:rPr dirty="0" sz="1500" spc="100" b="1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55" i="1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dirty="0" sz="1500" spc="-3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11111"/>
                </a:solidFill>
                <a:latin typeface="Arial"/>
                <a:cs typeface="Arial"/>
              </a:rPr>
              <a:t>complete</a:t>
            </a:r>
            <a:r>
              <a:rPr dirty="0" sz="1500" spc="19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11111"/>
                </a:solidFill>
                <a:latin typeface="Arial"/>
                <a:cs typeface="Arial"/>
              </a:rPr>
              <a:t>Python</a:t>
            </a:r>
            <a:r>
              <a:rPr dirty="0" sz="1500" spc="18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10" i="1">
                <a:solidFill>
                  <a:srgbClr val="111111"/>
                </a:solidFill>
                <a:latin typeface="Arial"/>
                <a:cs typeface="Arial"/>
              </a:rPr>
              <a:t>implementation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650" spc="10">
                <a:solidFill>
                  <a:srgbClr val="111111"/>
                </a:solidFill>
                <a:latin typeface="Times New Roman"/>
                <a:cs typeface="Times New Roman"/>
              </a:rPr>
              <a:t>is</a:t>
            </a:r>
            <a:r>
              <a:rPr dirty="0" sz="1650" spc="-5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1500" spc="-10" i="1">
                <a:solidFill>
                  <a:srgbClr val="111111"/>
                </a:solidFill>
                <a:latin typeface="Arial"/>
                <a:cs typeface="Arial"/>
              </a:rPr>
              <a:t>provided</a:t>
            </a:r>
            <a:r>
              <a:rPr dirty="0" sz="1500" spc="-1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in</a:t>
            </a:r>
            <a:r>
              <a:rPr dirty="0" sz="1500" spc="114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Section</a:t>
            </a:r>
            <a:r>
              <a:rPr dirty="0" sz="1500" spc="16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11111"/>
                </a:solidFill>
                <a:latin typeface="Arial"/>
                <a:cs typeface="Arial"/>
              </a:rPr>
              <a:t>7</a:t>
            </a:r>
            <a:r>
              <a:rPr dirty="0" sz="1500" spc="-6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above.</a:t>
            </a:r>
            <a:r>
              <a:rPr dirty="0" sz="1500" spc="18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For</a:t>
            </a:r>
            <a:r>
              <a:rPr dirty="0" sz="1500" spc="12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reference,</a:t>
            </a:r>
            <a:r>
              <a:rPr dirty="0" sz="1500" spc="16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11111"/>
                </a:solidFill>
                <a:latin typeface="Arial"/>
                <a:cs typeface="Arial"/>
              </a:rPr>
              <a:t>a</a:t>
            </a:r>
            <a:r>
              <a:rPr dirty="0" sz="1550" spc="114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Google</a:t>
            </a:r>
            <a:r>
              <a:rPr dirty="0" sz="1500" spc="10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Golab</a:t>
            </a:r>
            <a:r>
              <a:rPr dirty="0" sz="1500" spc="4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11111"/>
                </a:solidFill>
                <a:latin typeface="Arial"/>
                <a:cs typeface="Arial"/>
              </a:rPr>
              <a:t>notebook</a:t>
            </a:r>
            <a:r>
              <a:rPr dirty="0" sz="1500" spc="-1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11111"/>
                </a:solidFill>
                <a:latin typeface="Arial"/>
                <a:cs typeface="Arial"/>
              </a:rPr>
              <a:t>	</a:t>
            </a:r>
            <a:r>
              <a:rPr dirty="0" sz="1500" i="1">
                <a:solidFill>
                  <a:srgbClr val="111111"/>
                </a:solidFill>
                <a:latin typeface="Arial"/>
                <a:cs typeface="Arial"/>
              </a:rPr>
              <a:t>with</a:t>
            </a:r>
            <a:r>
              <a:rPr dirty="0" sz="1500" spc="50" i="1">
                <a:solidFill>
                  <a:srgbClr val="111111"/>
                </a:solidFill>
                <a:latin typeface="Arial"/>
                <a:cs typeface="Arial"/>
              </a:rPr>
              <a:t> the</a:t>
            </a:r>
            <a:r>
              <a:rPr dirty="0" sz="1500" spc="-13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60" i="1">
                <a:solidFill>
                  <a:srgbClr val="111111"/>
                </a:solidFill>
                <a:latin typeface="Arial"/>
                <a:cs typeface="Arial"/>
              </a:rPr>
              <a:t>code</a:t>
            </a:r>
            <a:r>
              <a:rPr dirty="0" sz="1500" spc="-30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65" i="1">
                <a:solidFill>
                  <a:srgbClr val="111111"/>
                </a:solidFill>
                <a:latin typeface="Arial"/>
                <a:cs typeface="Arial"/>
              </a:rPr>
              <a:t>can</a:t>
            </a:r>
            <a:r>
              <a:rPr dirty="0" sz="1500" spc="-4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00" spc="70" i="1">
                <a:solidFill>
                  <a:srgbClr val="111111"/>
                </a:solidFill>
                <a:latin typeface="Arial"/>
                <a:cs typeface="Arial"/>
              </a:rPr>
              <a:t>be</a:t>
            </a:r>
            <a:r>
              <a:rPr dirty="0" sz="1500" spc="-45" i="1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11111"/>
                </a:solidFill>
                <a:latin typeface="Arial"/>
                <a:cs typeface="Arial"/>
              </a:rPr>
              <a:t>accessed</a:t>
            </a:r>
            <a:r>
              <a:rPr dirty="0" sz="1550" spc="-16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550" spc="-50" i="1">
                <a:solidFill>
                  <a:srgbClr val="343434"/>
                </a:solidFill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448309" marR="40640" indent="2540">
              <a:lnSpc>
                <a:spcPts val="1920"/>
              </a:lnSpc>
              <a:spcBef>
                <a:spcPts val="30"/>
              </a:spcBef>
            </a:pPr>
            <a:r>
              <a:rPr dirty="0" u="heavy" sz="1500" spc="-10" i="1">
                <a:solidFill>
                  <a:srgbClr val="2F6797"/>
                </a:solidFill>
                <a:uFill>
                  <a:solidFill>
                    <a:srgbClr val="2F6797"/>
                  </a:solidFill>
                </a:uFill>
                <a:latin typeface="Arial"/>
                <a:cs typeface="Arial"/>
              </a:rPr>
              <a:t>https</a:t>
            </a:r>
            <a:r>
              <a:rPr dirty="0" u="heavy" sz="1500" spc="-10" i="1">
                <a:solidFill>
                  <a:srgbClr val="5480A1"/>
                </a:solidFill>
                <a:uFill>
                  <a:solidFill>
                    <a:srgbClr val="2F6797"/>
                  </a:solidFill>
                </a:uFill>
                <a:latin typeface="Arial"/>
                <a:cs typeface="Arial"/>
              </a:rPr>
              <a:t>:l/</a:t>
            </a:r>
            <a:r>
              <a:rPr dirty="0" u="heavy" sz="1500" spc="-10" i="1">
                <a:solidFill>
                  <a:srgbClr val="2F6797"/>
                </a:solidFill>
                <a:uFill>
                  <a:solidFill>
                    <a:srgbClr val="2F6797"/>
                  </a:solidFill>
                </a:uFill>
                <a:latin typeface="Arial"/>
                <a:cs typeface="Arial"/>
              </a:rPr>
              <a:t>colab.research.google.com/drive</a:t>
            </a:r>
            <a:r>
              <a:rPr dirty="0" u="heavy" sz="1500" spc="-10" i="1">
                <a:solidFill>
                  <a:srgbClr val="5480A1"/>
                </a:solidFill>
                <a:uFill>
                  <a:solidFill>
                    <a:srgbClr val="2F6797"/>
                  </a:solidFill>
                </a:uFill>
                <a:latin typeface="Arial"/>
                <a:cs typeface="Arial"/>
              </a:rPr>
              <a:t>/</a:t>
            </a:r>
            <a:r>
              <a:rPr dirty="0" u="heavy" sz="1500" spc="-10" i="1">
                <a:solidFill>
                  <a:srgbClr val="2F6797"/>
                </a:solidFill>
                <a:uFill>
                  <a:solidFill>
                    <a:srgbClr val="2F6797"/>
                  </a:solidFill>
                </a:uFill>
                <a:latin typeface="Arial"/>
                <a:cs typeface="Arial"/>
              </a:rPr>
              <a:t>1ig65RAIr3Zlruz3rm</a:t>
            </a:r>
            <a:r>
              <a:rPr dirty="0" u="none" sz="1500" spc="500" i="1">
                <a:solidFill>
                  <a:srgbClr val="2F6797"/>
                </a:solidFill>
                <a:latin typeface="Arial"/>
                <a:cs typeface="Arial"/>
              </a:rPr>
              <a:t>  </a:t>
            </a:r>
            <a:r>
              <a:rPr dirty="0" u="heavy" sz="1500" spc="-10" i="1">
                <a:solidFill>
                  <a:srgbClr val="2F6797"/>
                </a:solidFill>
                <a:uFill>
                  <a:solidFill>
                    <a:srgbClr val="2F6797"/>
                  </a:solidFill>
                </a:uFill>
                <a:latin typeface="Arial"/>
                <a:cs typeface="Arial"/>
              </a:rPr>
              <a:t>opdzENUyupdJGn4?usp=sharing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1350" y="1465735"/>
            <a:ext cx="5804535" cy="0"/>
          </a:xfrm>
          <a:custGeom>
            <a:avLst/>
            <a:gdLst/>
            <a:ahLst/>
            <a:cxnLst/>
            <a:rect l="l" t="t" r="r" b="b"/>
            <a:pathLst>
              <a:path w="5804534" h="0">
                <a:moveTo>
                  <a:pt x="0" y="0"/>
                </a:moveTo>
                <a:lnTo>
                  <a:pt x="5804506" y="0"/>
                </a:lnTo>
              </a:path>
            </a:pathLst>
          </a:custGeom>
          <a:ln w="122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86035" y="846549"/>
            <a:ext cx="5838190" cy="1892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"/>
              </a:spcBef>
            </a:pPr>
            <a:r>
              <a:rPr dirty="0" sz="1500" spc="-25" b="1" i="1">
                <a:solidFill>
                  <a:srgbClr val="131313"/>
                </a:solidFill>
                <a:latin typeface="Arial"/>
                <a:cs typeface="Arial"/>
              </a:rPr>
              <a:t>20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5"/>
              </a:spcBef>
            </a:pPr>
            <a:endParaRPr sz="1500">
              <a:latin typeface="Arial"/>
              <a:cs typeface="Arial"/>
            </a:endParaRPr>
          </a:p>
          <a:p>
            <a:pPr marL="14604" marR="100965" indent="217170">
              <a:lnSpc>
                <a:spcPct val="100400"/>
              </a:lnSpc>
            </a:pPr>
            <a:r>
              <a:rPr dirty="0" sz="1500" spc="-140" i="1">
                <a:solidFill>
                  <a:srgbClr val="3A6470"/>
                </a:solidFill>
                <a:latin typeface="Arial"/>
                <a:cs typeface="Arial"/>
              </a:rPr>
              <a:t>[1</a:t>
            </a:r>
            <a:r>
              <a:rPr dirty="0" sz="1950" spc="-140" i="1">
                <a:solidFill>
                  <a:srgbClr val="3A6470"/>
                </a:solidFill>
                <a:latin typeface="Arial"/>
                <a:cs typeface="Arial"/>
              </a:rPr>
              <a:t>J</a:t>
            </a:r>
            <a:r>
              <a:rPr dirty="0" sz="1950" spc="-65" i="1">
                <a:solidFill>
                  <a:srgbClr val="3A6470"/>
                </a:solidFill>
                <a:latin typeface="Arial"/>
                <a:cs typeface="Arial"/>
              </a:rPr>
              <a:t> </a:t>
            </a:r>
            <a:r>
              <a:rPr dirty="0" sz="1500" spc="-140" i="1">
                <a:solidFill>
                  <a:srgbClr val="3A6470"/>
                </a:solidFill>
                <a:latin typeface="Arial"/>
                <a:cs typeface="Arial"/>
              </a:rPr>
              <a:t>[2</a:t>
            </a:r>
            <a:r>
              <a:rPr dirty="0" sz="1950" spc="-140" i="1">
                <a:solidFill>
                  <a:srgbClr val="3A6470"/>
                </a:solidFill>
                <a:latin typeface="Arial"/>
                <a:cs typeface="Arial"/>
              </a:rPr>
              <a:t>J</a:t>
            </a:r>
            <a:r>
              <a:rPr dirty="0" sz="1950" spc="-150" i="1">
                <a:solidFill>
                  <a:srgbClr val="3A6470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Multi-output</a:t>
            </a:r>
            <a:r>
              <a:rPr dirty="0" sz="1500" spc="22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machine</a:t>
            </a:r>
            <a:r>
              <a:rPr dirty="0" sz="1500" spc="114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learning</a:t>
            </a:r>
            <a:r>
              <a:rPr dirty="0" sz="1500" spc="18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regression</a:t>
            </a:r>
            <a:r>
              <a:rPr dirty="0" sz="1500" spc="16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for</a:t>
            </a:r>
            <a:r>
              <a:rPr dirty="0" sz="1500" spc="9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climate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prediction:</a:t>
            </a:r>
            <a:r>
              <a:rPr dirty="0" sz="1500" spc="25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131313"/>
                </a:solidFill>
                <a:latin typeface="Arial"/>
                <a:cs typeface="Arial"/>
              </a:rPr>
              <a:t>a</a:t>
            </a:r>
            <a:r>
              <a:rPr dirty="0" sz="1550" spc="8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comparative</a:t>
            </a:r>
            <a:r>
              <a:rPr dirty="0" sz="1500" spc="13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study</a:t>
            </a:r>
            <a:r>
              <a:rPr dirty="0" sz="1500" spc="16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of</a:t>
            </a:r>
            <a:r>
              <a:rPr dirty="0" sz="1500" spc="8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precipitation</a:t>
            </a:r>
            <a:r>
              <a:rPr dirty="0" sz="1500" spc="2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and</a:t>
            </a:r>
            <a:r>
              <a:rPr dirty="0" sz="1500" spc="9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temperature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forecasting</a:t>
            </a:r>
            <a:r>
              <a:rPr dirty="0" sz="1500" spc="21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in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030303"/>
                </a:solidFill>
                <a:latin typeface="Arial"/>
                <a:cs typeface="Arial"/>
              </a:rPr>
              <a:t>Jakarta</a:t>
            </a:r>
            <a:r>
              <a:rPr dirty="0" sz="1500" spc="100" i="1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and</a:t>
            </a:r>
            <a:r>
              <a:rPr dirty="0" sz="1500" spc="1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030303"/>
                </a:solidFill>
                <a:latin typeface="Arial"/>
                <a:cs typeface="Arial"/>
              </a:rPr>
              <a:t>East</a:t>
            </a:r>
            <a:r>
              <a:rPr dirty="0" sz="1500" spc="90" i="1">
                <a:solidFill>
                  <a:srgbClr val="03030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Kalimantan</a:t>
            </a:r>
            <a:r>
              <a:rPr dirty="0" sz="1500" i="1">
                <a:solidFill>
                  <a:srgbClr val="4B4B4B"/>
                </a:solidFill>
                <a:latin typeface="Arial"/>
                <a:cs typeface="Arial"/>
              </a:rPr>
              <a:t>,</a:t>
            </a:r>
            <a:r>
              <a:rPr dirty="0" sz="1500" spc="204" i="1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Indonesia</a:t>
            </a:r>
            <a:r>
              <a:rPr dirty="0" sz="1500" spc="30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131313"/>
                </a:solidFill>
                <a:latin typeface="Arial"/>
                <a:cs typeface="Arial"/>
              </a:rPr>
              <a:t>/</a:t>
            </a:r>
            <a:r>
              <a:rPr dirty="0" sz="1500" spc="30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Setiawan</a:t>
            </a:r>
            <a:endParaRPr sz="1500">
              <a:latin typeface="Arial"/>
              <a:cs typeface="Arial"/>
            </a:endParaRPr>
          </a:p>
          <a:p>
            <a:pPr marL="12700" marR="1548130" indent="12065">
              <a:lnSpc>
                <a:spcPts val="1880"/>
              </a:lnSpc>
              <a:spcBef>
                <a:spcPts val="25"/>
              </a:spcBef>
            </a:pPr>
            <a:r>
              <a:rPr dirty="0" sz="1500">
                <a:solidFill>
                  <a:srgbClr val="131313"/>
                </a:solidFill>
                <a:latin typeface="Arial"/>
                <a:cs typeface="Arial"/>
              </a:rPr>
              <a:t>/</a:t>
            </a:r>
            <a:r>
              <a:rPr dirty="0" sz="1500" spc="-1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Commun.</a:t>
            </a:r>
            <a:r>
              <a:rPr dirty="0" sz="1500" spc="2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Math.</a:t>
            </a:r>
            <a:r>
              <a:rPr dirty="0" sz="1500" spc="12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i="1">
                <a:solidFill>
                  <a:srgbClr val="131313"/>
                </a:solidFill>
                <a:latin typeface="Arial"/>
                <a:cs typeface="Arial"/>
              </a:rPr>
              <a:t>Biol.</a:t>
            </a:r>
            <a:r>
              <a:rPr dirty="0" sz="1500" spc="105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Neurosci.</a:t>
            </a:r>
            <a:r>
              <a:rPr dirty="0" sz="1500" spc="-10" i="1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500" spc="-10" i="1">
                <a:solidFill>
                  <a:srgbClr val="3A6470"/>
                </a:solidFill>
                <a:latin typeface="Arial"/>
                <a:cs typeface="Arial"/>
              </a:rPr>
              <a:t>https</a:t>
            </a:r>
            <a:r>
              <a:rPr dirty="0" sz="1500" spc="-10" i="1">
                <a:solidFill>
                  <a:srgbClr val="547780"/>
                </a:solidFill>
                <a:latin typeface="Arial"/>
                <a:cs typeface="Arial"/>
              </a:rPr>
              <a:t>:/l</a:t>
            </a:r>
            <a:r>
              <a:rPr dirty="0" sz="1500" spc="-10" i="1">
                <a:solidFill>
                  <a:srgbClr val="3A6470"/>
                </a:solidFill>
                <a:latin typeface="Arial"/>
                <a:cs typeface="Arial"/>
              </a:rPr>
              <a:t>scik</a:t>
            </a:r>
            <a:r>
              <a:rPr dirty="0" sz="1500" spc="-10" i="1">
                <a:solidFill>
                  <a:srgbClr val="547780"/>
                </a:solidFill>
                <a:latin typeface="Arial"/>
                <a:cs typeface="Arial"/>
              </a:rPr>
              <a:t>.</a:t>
            </a:r>
            <a:r>
              <a:rPr dirty="0" sz="1500" spc="-10" i="1">
                <a:solidFill>
                  <a:srgbClr val="3A6470"/>
                </a:solidFill>
                <a:latin typeface="Arial"/>
                <a:cs typeface="Arial"/>
              </a:rPr>
              <a:t>org</a:t>
            </a:r>
            <a:r>
              <a:rPr dirty="0" sz="1500" spc="-10" i="1">
                <a:solidFill>
                  <a:srgbClr val="547780"/>
                </a:solidFill>
                <a:latin typeface="Arial"/>
                <a:cs typeface="Arial"/>
              </a:rPr>
              <a:t>l</a:t>
            </a:r>
            <a:r>
              <a:rPr dirty="0" sz="1500" spc="-10" i="1">
                <a:solidFill>
                  <a:srgbClr val="3A6470"/>
                </a:solidFill>
                <a:latin typeface="Arial"/>
                <a:cs typeface="Arial"/>
              </a:rPr>
              <a:t>index.php/cmbn</a:t>
            </a:r>
            <a:r>
              <a:rPr dirty="0" sz="1500" spc="-10" i="1">
                <a:solidFill>
                  <a:srgbClr val="547780"/>
                </a:solidFill>
                <a:latin typeface="Arial"/>
                <a:cs typeface="Arial"/>
              </a:rPr>
              <a:t>/</a:t>
            </a:r>
            <a:r>
              <a:rPr dirty="0" sz="1500" spc="-10" i="1">
                <a:solidFill>
                  <a:srgbClr val="3A6470"/>
                </a:solidFill>
                <a:latin typeface="Arial"/>
                <a:cs typeface="Arial"/>
              </a:rPr>
              <a:t>article</a:t>
            </a:r>
            <a:r>
              <a:rPr dirty="0" sz="1500" spc="-10" i="1">
                <a:solidFill>
                  <a:srgbClr val="547780"/>
                </a:solidFill>
                <a:latin typeface="Arial"/>
                <a:cs typeface="Arial"/>
              </a:rPr>
              <a:t>/</a:t>
            </a:r>
            <a:r>
              <a:rPr dirty="0" sz="1500" spc="-10" i="1">
                <a:solidFill>
                  <a:srgbClr val="3A6470"/>
                </a:solidFill>
                <a:latin typeface="Arial"/>
                <a:cs typeface="Arial"/>
              </a:rPr>
              <a:t>view</a:t>
            </a:r>
            <a:r>
              <a:rPr dirty="0" sz="1500" spc="-10" i="1">
                <a:solidFill>
                  <a:srgbClr val="547780"/>
                </a:solidFill>
                <a:latin typeface="Arial"/>
                <a:cs typeface="Arial"/>
              </a:rPr>
              <a:t>/</a:t>
            </a:r>
            <a:r>
              <a:rPr dirty="0" sz="1500" spc="-10" i="1">
                <a:solidFill>
                  <a:srgbClr val="3A6470"/>
                </a:solidFill>
                <a:latin typeface="Arial"/>
                <a:cs typeface="Arial"/>
              </a:rPr>
              <a:t>8820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1111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2026-04-15T15:51:27Z</dcterms:created>
  <dcterms:modified xsi:type="dcterms:W3CDTF">2026-04-15T15:51:27Z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2026-04-15T00:00:00Z</vt:filetime>
  </property>
  <property fmtid="{D5CDD505-2E9C-101B-9397-08002B2CF9AE}" pid="3" name="Producer">
    <vt:lpwstr>Haru Free PDF Library 2.4.5</vt:lpwstr>
  </property>
  <property fmtid="{D5CDD505-2E9C-101B-9397-08002B2CF9AE}" pid="4" name="LastSaved">
    <vt:filetime>2026-04-15T00:00:00Z</vt:filetime>
  </property>
</Properties>
</file>