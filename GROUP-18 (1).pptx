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1" r:id="rId6"/>
    <p:sldId id="262" r:id="rId7"/>
    <p:sldId id="263" r:id="rId8"/>
    <p:sldId id="264" r:id="rId9"/>
    <p:sldId id="265" r:id="rId10"/>
    <p:sldId id="266" r:id="rId11"/>
    <p:sldId id="267" r:id="rId12"/>
    <p:sldId id="280" r:id="rId13"/>
    <p:sldId id="281" r:id="rId14"/>
    <p:sldId id="272" r:id="rId15"/>
    <p:sldId id="282" r:id="rId16"/>
    <p:sldId id="276" r:id="rId17"/>
    <p:sldId id="277" r:id="rId18"/>
    <p:sldId id="278" r:id="rId19"/>
    <p:sldId id="279" r:id="rId20"/>
  </p:sldIdLst>
  <p:sldSz cx="12192000" cy="6858000"/>
  <p:notesSz cx="6858000" cy="9144000"/>
  <p:embeddedFontLst>
    <p:embeddedFont>
      <p:font typeface="Algerian" panose="04020705040A02060702" pitchFamily="82" charset="0"/>
      <p:regular r:id="rId22"/>
    </p:embeddedFont>
    <p:embeddedFont>
      <p:font typeface="Narkisim" panose="020E0502050101010101" pitchFamily="34" charset="-79"/>
      <p:regular r:id="rId23"/>
    </p:embeddedFont>
    <p:embeddedFont>
      <p:font typeface="Open Sans" panose="020B0606030504020204" pitchFamily="34" charset="0"/>
      <p:regular r:id="rId24"/>
    </p:embeddedFont>
    <p:embeddedFont>
      <p:font typeface="Play" panose="020B060402020202020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g9YsIv/nK1p/ZuYDoxN4eRdXFx4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101"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2400" b="0" i="0" u="none" strike="noStrike" cap="none" dirty="0">
              <a:solidFill>
                <a:schemeClr val="accent5">
                  <a:lumMod val="75000"/>
                </a:schemeClr>
              </a:solidFill>
              <a:latin typeface="Arial"/>
              <a:cs typeface="Arial"/>
              <a:sym typeface="Arial"/>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8" name="Google Shape;13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7" name="Google Shape;19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3" name="Google Shape;33;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3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3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3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a:spLocks noGrp="1"/>
          </p:cNvSpPr>
          <p:nvPr>
            <p:ph type="pic" idx="2"/>
          </p:nvPr>
        </p:nvSpPr>
        <p:spPr>
          <a:xfrm>
            <a:off x="5183188" y="987425"/>
            <a:ext cx="6172200" cy="4873625"/>
          </a:xfrm>
          <a:prstGeom prst="rect">
            <a:avLst/>
          </a:prstGeom>
          <a:noFill/>
          <a:ln>
            <a:noFill/>
          </a:ln>
        </p:spPr>
      </p:sp>
      <p:sp>
        <p:nvSpPr>
          <p:cNvPr id="64" name="Google Shape;64;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2050" name="Picture 2" descr="Climate Change vis-a-vis Agriculture">
            <a:extLst>
              <a:ext uri="{FF2B5EF4-FFF2-40B4-BE49-F238E27FC236}">
                <a16:creationId xmlns:a16="http://schemas.microsoft.com/office/drawing/2014/main" id="{0420C175-B494-072D-C609-F27EED16B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294"/>
            <a:ext cx="12192002" cy="6841706"/>
          </a:xfrm>
          <a:prstGeom prst="rect">
            <a:avLst/>
          </a:prstGeom>
          <a:noFill/>
          <a:extLst>
            <a:ext uri="{909E8E84-426E-40DD-AFC4-6F175D3DCCD1}">
              <a14:hiddenFill xmlns:a14="http://schemas.microsoft.com/office/drawing/2010/main">
                <a:solidFill>
                  <a:srgbClr val="FFFFFF"/>
                </a:solidFill>
              </a14:hiddenFill>
            </a:ext>
          </a:extLst>
        </p:spPr>
      </p:pic>
      <p:sp>
        <p:nvSpPr>
          <p:cNvPr id="84" name="Google Shape;84;p1"/>
          <p:cNvSpPr txBox="1">
            <a:spLocks noGrp="1"/>
          </p:cNvSpPr>
          <p:nvPr>
            <p:ph type="ctrTitle"/>
          </p:nvPr>
        </p:nvSpPr>
        <p:spPr>
          <a:xfrm>
            <a:off x="662675" y="1592050"/>
            <a:ext cx="10507200" cy="21939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ct val="100000"/>
              <a:buFont typeface="Play"/>
              <a:buNone/>
            </a:pPr>
            <a:r>
              <a:rPr lang="en-US" b="1" dirty="0">
                <a:solidFill>
                  <a:schemeClr val="bg1">
                    <a:lumMod val="95000"/>
                  </a:schemeClr>
                </a:solidFill>
                <a:latin typeface="Narkisim"/>
                <a:ea typeface="Narkisim"/>
                <a:cs typeface="Narkisim"/>
                <a:sym typeface="Narkisim"/>
              </a:rPr>
              <a:t>Climate change analysis </a:t>
            </a:r>
            <a:r>
              <a:rPr lang="en-US" b="1" dirty="0" err="1">
                <a:solidFill>
                  <a:schemeClr val="bg1">
                    <a:lumMod val="95000"/>
                  </a:schemeClr>
                </a:solidFill>
                <a:latin typeface="Narkisim"/>
                <a:ea typeface="Narkisim"/>
                <a:cs typeface="Narkisim"/>
                <a:sym typeface="Narkisim"/>
              </a:rPr>
              <a:t>anf</a:t>
            </a:r>
            <a:r>
              <a:rPr lang="en-US" b="1" dirty="0">
                <a:solidFill>
                  <a:schemeClr val="bg1">
                    <a:lumMod val="95000"/>
                  </a:schemeClr>
                </a:solidFill>
                <a:latin typeface="Narkisim"/>
                <a:ea typeface="Narkisim"/>
                <a:cs typeface="Narkisim"/>
                <a:sym typeface="Narkisim"/>
              </a:rPr>
              <a:t> prediction using machine </a:t>
            </a:r>
            <a:r>
              <a:rPr lang="en-US" b="1" dirty="0" err="1">
                <a:solidFill>
                  <a:schemeClr val="bg1">
                    <a:lumMod val="95000"/>
                  </a:schemeClr>
                </a:solidFill>
                <a:latin typeface="Narkisim"/>
                <a:ea typeface="Narkisim"/>
                <a:cs typeface="Narkisim"/>
                <a:sym typeface="Narkisim"/>
              </a:rPr>
              <a:t>learninng</a:t>
            </a:r>
            <a:endParaRPr b="1" dirty="0">
              <a:solidFill>
                <a:schemeClr val="bg1">
                  <a:lumMod val="95000"/>
                </a:schemeClr>
              </a:solidFill>
              <a:latin typeface="Narkisim"/>
              <a:ea typeface="Narkisim"/>
              <a:cs typeface="Narkisim"/>
              <a:sym typeface="Narkisim"/>
            </a:endParaRPr>
          </a:p>
        </p:txBody>
      </p:sp>
      <p:pic>
        <p:nvPicPr>
          <p:cNvPr id="86" name="Google Shape;86;p1"/>
          <p:cNvPicPr preferRelativeResize="0"/>
          <p:nvPr/>
        </p:nvPicPr>
        <p:blipFill rotWithShape="1">
          <a:blip r:embed="rId4">
            <a:alphaModFix/>
          </a:blip>
          <a:srcRect/>
          <a:stretch/>
        </p:blipFill>
        <p:spPr>
          <a:xfrm>
            <a:off x="10668000" y="609600"/>
            <a:ext cx="1134650" cy="768374"/>
          </a:xfrm>
          <a:prstGeom prst="rect">
            <a:avLst/>
          </a:prstGeom>
          <a:noFill/>
          <a:ln>
            <a:noFill/>
          </a:ln>
        </p:spPr>
      </p:pic>
      <p:sp>
        <p:nvSpPr>
          <p:cNvPr id="87" name="Google Shape;87;p1"/>
          <p:cNvSpPr txBox="1"/>
          <p:nvPr/>
        </p:nvSpPr>
        <p:spPr>
          <a:xfrm>
            <a:off x="228600" y="212113"/>
            <a:ext cx="11658600" cy="99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4E79"/>
              </a:buClr>
              <a:buSzPts val="2800"/>
              <a:buFont typeface="Algerian"/>
              <a:buNone/>
            </a:pPr>
            <a:r>
              <a:rPr lang="en-IN" sz="2400" b="1" i="0" u="none" strike="noStrike" cap="none" dirty="0">
                <a:solidFill>
                  <a:srgbClr val="1F4E79"/>
                </a:solidFill>
                <a:highlight>
                  <a:schemeClr val="lt1"/>
                </a:highlight>
                <a:latin typeface="Algerian"/>
                <a:ea typeface="Algerian"/>
                <a:cs typeface="Algerian"/>
                <a:sym typeface="Algerian"/>
              </a:rPr>
              <a:t>UNIVERSITY OF AGRICULTURAL SCIENCES ,COLLEGE OF AGRICULTURE,</a:t>
            </a:r>
            <a:endParaRPr sz="500" b="1" i="0" u="none" strike="noStrike" cap="none" dirty="0">
              <a:solidFill>
                <a:schemeClr val="dk1"/>
              </a:solidFill>
              <a:highlight>
                <a:schemeClr val="lt1"/>
              </a:highlight>
            </a:endParaRPr>
          </a:p>
          <a:p>
            <a:pPr marL="0" marR="0" lvl="0" indent="0" algn="ctr" rtl="0">
              <a:lnSpc>
                <a:spcPct val="100000"/>
              </a:lnSpc>
              <a:spcBef>
                <a:spcPts val="1300"/>
              </a:spcBef>
              <a:spcAft>
                <a:spcPts val="0"/>
              </a:spcAft>
              <a:buClr>
                <a:srgbClr val="1F4E79"/>
              </a:buClr>
              <a:buSzPts val="2800"/>
              <a:buFont typeface="Algerian"/>
              <a:buNone/>
            </a:pPr>
            <a:r>
              <a:rPr lang="en-IN" sz="2400" b="1" i="0" u="none" strike="noStrike" cap="none" dirty="0">
                <a:solidFill>
                  <a:srgbClr val="1F4E79"/>
                </a:solidFill>
                <a:highlight>
                  <a:schemeClr val="lt1"/>
                </a:highlight>
                <a:latin typeface="Algerian"/>
                <a:ea typeface="Algerian"/>
                <a:cs typeface="Algerian"/>
                <a:sym typeface="Algerian"/>
              </a:rPr>
              <a:t>GKVK, BANGLORE</a:t>
            </a:r>
            <a:endParaRPr sz="500" b="0" i="0" u="none" strike="noStrike" cap="none" dirty="0">
              <a:solidFill>
                <a:schemeClr val="dk1"/>
              </a:solidFill>
              <a:highlight>
                <a:schemeClr val="lt1"/>
              </a:highlight>
              <a:latin typeface="Arial"/>
              <a:ea typeface="Arial"/>
              <a:cs typeface="Arial"/>
              <a:sym typeface="Arial"/>
            </a:endParaRPr>
          </a:p>
        </p:txBody>
      </p:sp>
      <p:sp>
        <p:nvSpPr>
          <p:cNvPr id="5" name="Subtitle 4">
            <a:extLst>
              <a:ext uri="{FF2B5EF4-FFF2-40B4-BE49-F238E27FC236}">
                <a16:creationId xmlns:a16="http://schemas.microsoft.com/office/drawing/2014/main" id="{537FAED4-A25B-1064-154B-DDEA9A030D7A}"/>
              </a:ext>
            </a:extLst>
          </p:cNvPr>
          <p:cNvSpPr>
            <a:spLocks noGrp="1"/>
          </p:cNvSpPr>
          <p:nvPr>
            <p:ph type="subTitle" idx="1"/>
          </p:nvPr>
        </p:nvSpPr>
        <p:spPr>
          <a:xfrm>
            <a:off x="6721814" y="4241260"/>
            <a:ext cx="4915710" cy="2509736"/>
          </a:xfrm>
        </p:spPr>
        <p:txBody>
          <a:bodyPr>
            <a:normAutofit/>
          </a:bodyPr>
          <a:lstStyle/>
          <a:p>
            <a:r>
              <a:rPr lang="en-US" dirty="0">
                <a:solidFill>
                  <a:schemeClr val="accent5">
                    <a:lumMod val="75000"/>
                  </a:schemeClr>
                </a:solidFill>
                <a:highlight>
                  <a:srgbClr val="C0C0C0"/>
                </a:highlight>
              </a:rPr>
              <a:t>GROUP-18</a:t>
            </a:r>
          </a:p>
          <a:p>
            <a:r>
              <a:rPr lang="en-US" dirty="0">
                <a:solidFill>
                  <a:schemeClr val="accent5">
                    <a:lumMod val="75000"/>
                  </a:schemeClr>
                </a:solidFill>
                <a:highlight>
                  <a:srgbClr val="C0C0C0"/>
                </a:highlight>
              </a:rPr>
              <a:t>   NIKHILGOWDA HL(AMB2154)</a:t>
            </a:r>
          </a:p>
          <a:p>
            <a:r>
              <a:rPr lang="en-US" dirty="0">
                <a:solidFill>
                  <a:schemeClr val="accent5">
                    <a:lumMod val="75000"/>
                  </a:schemeClr>
                </a:solidFill>
                <a:highlight>
                  <a:srgbClr val="C0C0C0"/>
                </a:highlight>
              </a:rPr>
              <a:t>NITHIN D(AMB2159)</a:t>
            </a:r>
          </a:p>
          <a:p>
            <a:r>
              <a:rPr lang="en-US" dirty="0">
                <a:solidFill>
                  <a:schemeClr val="accent5">
                    <a:lumMod val="75000"/>
                  </a:schemeClr>
                </a:solidFill>
                <a:highlight>
                  <a:srgbClr val="C0C0C0"/>
                </a:highlight>
              </a:rPr>
              <a:t>   PRAJWAL R(AMB2175)</a:t>
            </a:r>
            <a:endParaRPr lang="en-IN" dirty="0">
              <a:solidFill>
                <a:schemeClr val="accent5">
                  <a:lumMod val="75000"/>
                </a:schemeClr>
              </a:solidFill>
              <a:highlight>
                <a:srgbClr val="C0C0C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solidFill>
                  <a:srgbClr val="FF0000"/>
                </a:solidFill>
                <a:latin typeface="Times New Roman"/>
                <a:ea typeface="Times New Roman"/>
                <a:cs typeface="Times New Roman"/>
                <a:sym typeface="Times New Roman"/>
              </a:rPr>
              <a:t>Content</a:t>
            </a:r>
            <a:endParaRPr>
              <a:solidFill>
                <a:srgbClr val="FF0000"/>
              </a:solidFill>
            </a:endParaRPr>
          </a:p>
        </p:txBody>
      </p:sp>
      <p:sp>
        <p:nvSpPr>
          <p:cNvPr id="93" name="Google Shape;93;p2"/>
          <p:cNvSpPr txBox="1">
            <a:spLocks noGrp="1"/>
          </p:cNvSpPr>
          <p:nvPr>
            <p:ph type="body" idx="1"/>
          </p:nvPr>
        </p:nvSpPr>
        <p:spPr>
          <a:xfrm>
            <a:off x="838200" y="1143000"/>
            <a:ext cx="5181600" cy="5033963"/>
          </a:xfrm>
          <a:prstGeom prst="rect">
            <a:avLst/>
          </a:prstGeom>
          <a:noFill/>
          <a:ln>
            <a:noFill/>
          </a:ln>
        </p:spPr>
        <p:txBody>
          <a:bodyPr spcFirstLastPara="1" wrap="square" lIns="91425" tIns="45700" rIns="91425" bIns="45700" anchor="t" anchorCtr="0">
            <a:normAutofit/>
          </a:bodyPr>
          <a:lstStyle/>
          <a:p>
            <a:pPr marL="228600" lvl="0" indent="-77470" algn="l" rtl="0">
              <a:lnSpc>
                <a:spcPct val="90000"/>
              </a:lnSpc>
              <a:spcBef>
                <a:spcPts val="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3300"/>
              <a:buChar char="•"/>
            </a:pPr>
            <a:r>
              <a:rPr lang="en-IN" sz="3300" dirty="0">
                <a:latin typeface="Times New Roman"/>
                <a:ea typeface="Times New Roman"/>
                <a:cs typeface="Times New Roman"/>
                <a:sym typeface="Times New Roman"/>
              </a:rPr>
              <a:t>Introduction</a:t>
            </a:r>
            <a:endParaRPr dirty="0"/>
          </a:p>
          <a:p>
            <a:pPr marL="228600" lvl="0" indent="-228600" algn="l" rtl="0">
              <a:lnSpc>
                <a:spcPct val="90000"/>
              </a:lnSpc>
              <a:spcBef>
                <a:spcPts val="1000"/>
              </a:spcBef>
              <a:spcAft>
                <a:spcPts val="0"/>
              </a:spcAft>
              <a:buClr>
                <a:schemeClr val="dk1"/>
              </a:buClr>
              <a:buSzPts val="3300"/>
              <a:buChar char="•"/>
            </a:pPr>
            <a:r>
              <a:rPr lang="en-IN" sz="3300" dirty="0">
                <a:latin typeface="Times New Roman"/>
                <a:ea typeface="Times New Roman"/>
                <a:cs typeface="Times New Roman"/>
                <a:sym typeface="Times New Roman"/>
              </a:rPr>
              <a:t>Problem Statement</a:t>
            </a:r>
            <a:endParaRPr dirty="0"/>
          </a:p>
          <a:p>
            <a:pPr marL="228600" lvl="0" indent="-228600" algn="l" rtl="0">
              <a:lnSpc>
                <a:spcPct val="90000"/>
              </a:lnSpc>
              <a:spcBef>
                <a:spcPts val="1000"/>
              </a:spcBef>
              <a:spcAft>
                <a:spcPts val="0"/>
              </a:spcAft>
              <a:buClr>
                <a:schemeClr val="dk1"/>
              </a:buClr>
              <a:buSzPts val="3300"/>
              <a:buChar char="•"/>
            </a:pPr>
            <a:r>
              <a:rPr lang="en-IN" sz="3300" dirty="0">
                <a:latin typeface="Times New Roman"/>
                <a:ea typeface="Times New Roman"/>
                <a:cs typeface="Times New Roman"/>
                <a:sym typeface="Times New Roman"/>
              </a:rPr>
              <a:t>Motivation</a:t>
            </a:r>
            <a:endParaRPr dirty="0"/>
          </a:p>
          <a:p>
            <a:pPr marL="228600" lvl="0" indent="-228600" algn="l" rtl="0">
              <a:lnSpc>
                <a:spcPct val="90000"/>
              </a:lnSpc>
              <a:spcBef>
                <a:spcPts val="1000"/>
              </a:spcBef>
              <a:spcAft>
                <a:spcPts val="0"/>
              </a:spcAft>
              <a:buClr>
                <a:schemeClr val="dk1"/>
              </a:buClr>
              <a:buSzPts val="3300"/>
              <a:buChar char="•"/>
            </a:pPr>
            <a:r>
              <a:rPr lang="en-IN" sz="3300" dirty="0">
                <a:latin typeface="Times New Roman"/>
                <a:ea typeface="Times New Roman"/>
                <a:cs typeface="Times New Roman"/>
                <a:sym typeface="Times New Roman"/>
              </a:rPr>
              <a:t>Objectives of the project</a:t>
            </a:r>
            <a:endParaRPr dirty="0"/>
          </a:p>
          <a:p>
            <a:pPr marL="228600" lvl="0" indent="-228600" algn="l" rtl="0">
              <a:lnSpc>
                <a:spcPct val="90000"/>
              </a:lnSpc>
              <a:spcBef>
                <a:spcPts val="1000"/>
              </a:spcBef>
              <a:spcAft>
                <a:spcPts val="0"/>
              </a:spcAft>
              <a:buClr>
                <a:schemeClr val="dk1"/>
              </a:buClr>
              <a:buSzPts val="3300"/>
              <a:buChar char="•"/>
            </a:pPr>
            <a:r>
              <a:rPr lang="en-IN" sz="3300" dirty="0">
                <a:latin typeface="Times New Roman"/>
                <a:ea typeface="Times New Roman"/>
                <a:cs typeface="Times New Roman"/>
                <a:sym typeface="Times New Roman"/>
              </a:rPr>
              <a:t>Dataset Overview</a:t>
            </a:r>
            <a:endParaRPr dirty="0"/>
          </a:p>
          <a:p>
            <a:pPr marL="228600" lvl="0" indent="-228600" algn="l" rtl="0">
              <a:lnSpc>
                <a:spcPct val="90000"/>
              </a:lnSpc>
              <a:spcBef>
                <a:spcPts val="1000"/>
              </a:spcBef>
              <a:spcAft>
                <a:spcPts val="0"/>
              </a:spcAft>
              <a:buClr>
                <a:schemeClr val="dk1"/>
              </a:buClr>
              <a:buSzPts val="3300"/>
              <a:buChar char="•"/>
            </a:pPr>
            <a:r>
              <a:rPr lang="en-IN" sz="3300" dirty="0" err="1">
                <a:latin typeface="Times New Roman"/>
                <a:ea typeface="Times New Roman"/>
                <a:cs typeface="Times New Roman"/>
                <a:sym typeface="Times New Roman"/>
              </a:rPr>
              <a:t>Methodlogy</a:t>
            </a:r>
            <a:r>
              <a:rPr lang="en-IN" sz="3300" dirty="0">
                <a:latin typeface="Times New Roman"/>
                <a:ea typeface="Times New Roman"/>
                <a:cs typeface="Times New Roman"/>
                <a:sym typeface="Times New Roman"/>
              </a:rPr>
              <a:t>/approach</a:t>
            </a:r>
            <a:endParaRPr dirty="0"/>
          </a:p>
        </p:txBody>
      </p:sp>
      <p:sp>
        <p:nvSpPr>
          <p:cNvPr id="94" name="Google Shape;94;p2"/>
          <p:cNvSpPr txBox="1">
            <a:spLocks noGrp="1"/>
          </p:cNvSpPr>
          <p:nvPr>
            <p:ph type="body" idx="2"/>
          </p:nvPr>
        </p:nvSpPr>
        <p:spPr>
          <a:xfrm>
            <a:off x="5943600" y="990600"/>
            <a:ext cx="5867400" cy="55626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SzPts val="3200"/>
              <a:buChar char="•"/>
            </a:pPr>
            <a:r>
              <a:rPr lang="en-IN" sz="3200">
                <a:latin typeface="Times New Roman"/>
                <a:ea typeface="Times New Roman"/>
                <a:cs typeface="Times New Roman"/>
                <a:sym typeface="Times New Roman"/>
              </a:rPr>
              <a:t>Tools and Technologies Used</a:t>
            </a:r>
            <a:endParaRPr sz="3200"/>
          </a:p>
          <a:p>
            <a:pPr marL="228600" lvl="0" indent="-228600" algn="l" rtl="0">
              <a:lnSpc>
                <a:spcPct val="90000"/>
              </a:lnSpc>
              <a:spcBef>
                <a:spcPts val="1000"/>
              </a:spcBef>
              <a:spcAft>
                <a:spcPts val="0"/>
              </a:spcAft>
              <a:buSzPts val="3200"/>
              <a:buChar char="•"/>
            </a:pPr>
            <a:r>
              <a:rPr lang="en-IN" sz="3200">
                <a:latin typeface="Times New Roman"/>
                <a:ea typeface="Times New Roman"/>
                <a:cs typeface="Times New Roman"/>
                <a:sym typeface="Times New Roman"/>
              </a:rPr>
              <a:t>Results</a:t>
            </a:r>
            <a:endParaRPr sz="3200"/>
          </a:p>
          <a:p>
            <a:pPr marL="228600" lvl="0" indent="-228600" algn="l" rtl="0">
              <a:lnSpc>
                <a:spcPct val="90000"/>
              </a:lnSpc>
              <a:spcBef>
                <a:spcPts val="1000"/>
              </a:spcBef>
              <a:spcAft>
                <a:spcPts val="0"/>
              </a:spcAft>
              <a:buSzPts val="3200"/>
              <a:buChar char="•"/>
            </a:pPr>
            <a:r>
              <a:rPr lang="en-IN" sz="3200">
                <a:latin typeface="Times New Roman"/>
                <a:ea typeface="Times New Roman"/>
                <a:cs typeface="Times New Roman"/>
                <a:sym typeface="Times New Roman"/>
              </a:rPr>
              <a:t>Discussion / Analysis</a:t>
            </a:r>
            <a:endParaRPr sz="3200"/>
          </a:p>
          <a:p>
            <a:pPr marL="228600" lvl="0" indent="-228600" algn="l" rtl="0">
              <a:lnSpc>
                <a:spcPct val="90000"/>
              </a:lnSpc>
              <a:spcBef>
                <a:spcPts val="1000"/>
              </a:spcBef>
              <a:spcAft>
                <a:spcPts val="0"/>
              </a:spcAft>
              <a:buSzPts val="3200"/>
              <a:buChar char="•"/>
            </a:pPr>
            <a:r>
              <a:rPr lang="en-IN" sz="3200">
                <a:latin typeface="Times New Roman"/>
                <a:ea typeface="Times New Roman"/>
                <a:cs typeface="Times New Roman"/>
                <a:sym typeface="Times New Roman"/>
              </a:rPr>
              <a:t>Conclusion and Future Work</a:t>
            </a:r>
            <a:endParaRPr sz="3200"/>
          </a:p>
          <a:p>
            <a:pPr marL="228600" lvl="0" indent="-228600" algn="l" rtl="0">
              <a:lnSpc>
                <a:spcPct val="90000"/>
              </a:lnSpc>
              <a:spcBef>
                <a:spcPts val="1000"/>
              </a:spcBef>
              <a:spcAft>
                <a:spcPts val="0"/>
              </a:spcAft>
              <a:buSzPts val="3200"/>
              <a:buChar char="•"/>
            </a:pPr>
            <a:r>
              <a:rPr lang="en-IN" sz="3200">
                <a:latin typeface="Times New Roman"/>
                <a:ea typeface="Times New Roman"/>
                <a:cs typeface="Times New Roman"/>
                <a:sym typeface="Times New Roman"/>
              </a:rPr>
              <a:t>References/Acknowledgements</a:t>
            </a:r>
            <a:endParaRPr/>
          </a:p>
          <a:p>
            <a:pPr marL="228600" lvl="0" indent="-77470" algn="l" rtl="0">
              <a:lnSpc>
                <a:spcPct val="90000"/>
              </a:lnSpc>
              <a:spcBef>
                <a:spcPts val="1000"/>
              </a:spcBef>
              <a:spcAft>
                <a:spcPts val="0"/>
              </a:spcAft>
              <a:buSzPts val="2800"/>
              <a:buNone/>
            </a:pPr>
            <a:endParaRPr/>
          </a:p>
          <a:p>
            <a:pPr marL="457200" lvl="0" indent="-2286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13369"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u="sng" dirty="0">
                <a:solidFill>
                  <a:srgbClr val="00B050"/>
                </a:solidFill>
                <a:latin typeface="Times New Roman"/>
                <a:ea typeface="Times New Roman"/>
                <a:cs typeface="Times New Roman"/>
                <a:sym typeface="Times New Roman"/>
              </a:rPr>
              <a:t>Introduction</a:t>
            </a:r>
            <a:endParaRPr u="sng" dirty="0">
              <a:solidFill>
                <a:srgbClr val="00B050"/>
              </a:solidFill>
            </a:endParaRPr>
          </a:p>
        </p:txBody>
      </p:sp>
      <p:sp>
        <p:nvSpPr>
          <p:cNvPr id="100" name="Google Shape;100;p3"/>
          <p:cNvSpPr txBox="1">
            <a:spLocks noGrp="1"/>
          </p:cNvSpPr>
          <p:nvPr>
            <p:ph type="body" idx="1"/>
          </p:nvPr>
        </p:nvSpPr>
        <p:spPr>
          <a:xfrm>
            <a:off x="188537" y="1150070"/>
            <a:ext cx="11165264" cy="5429839"/>
          </a:xfrm>
          <a:prstGeom prst="rect">
            <a:avLst/>
          </a:prstGeom>
          <a:noFill/>
          <a:ln>
            <a:noFill/>
          </a:ln>
        </p:spPr>
        <p:txBody>
          <a:bodyPr spcFirstLastPara="1" wrap="square" lIns="91425" tIns="45700" rIns="91425" bIns="45700" anchor="t" anchorCtr="0">
            <a:normAutofit lnSpcReduction="10000"/>
          </a:bodyPr>
          <a:lstStyle/>
          <a:p>
            <a:pPr lvl="0" indent="-457200">
              <a:buSzPct val="100000"/>
              <a:buFont typeface="Wingdings" panose="05000000000000000000" pitchFamily="2" charset="2"/>
              <a:buChar char="v"/>
            </a:pPr>
            <a:r>
              <a:rPr lang="en-US" dirty="0">
                <a:solidFill>
                  <a:srgbClr val="00B0F0"/>
                </a:solidFill>
              </a:rPr>
              <a:t>Climate change prediction and analysis have become increasingly important as the impacts of global warming intensify across ecosystems, economies, and human societies.</a:t>
            </a:r>
          </a:p>
          <a:p>
            <a:pPr lvl="0" indent="-457200">
              <a:buSzPct val="100000"/>
              <a:buFont typeface="Wingdings" panose="05000000000000000000" pitchFamily="2" charset="2"/>
              <a:buChar char="v"/>
            </a:pPr>
            <a:r>
              <a:rPr lang="en-US" dirty="0">
                <a:solidFill>
                  <a:srgbClr val="00B0F0"/>
                </a:solidFill>
              </a:rPr>
              <a:t> Traditional climate models, while highly sophisticated, often struggle with the complexity and scale of environmental data. In recent years, machine learning (ML) has emerged as a powerful tool to enhance climate science by identifying patterns, trends, and relationships within vast datasets.</a:t>
            </a:r>
          </a:p>
          <a:p>
            <a:pPr lvl="0" indent="-457200">
              <a:buSzPct val="100000"/>
              <a:buFont typeface="Wingdings" panose="05000000000000000000" pitchFamily="2" charset="2"/>
              <a:buChar char="v"/>
            </a:pPr>
            <a:r>
              <a:rPr lang="en-US" dirty="0">
                <a:solidFill>
                  <a:srgbClr val="00B0F0"/>
                </a:solidFill>
              </a:rPr>
              <a:t> By leveraging historical climate records, satellite imagery, and real-time environmental data, ML models can improve the accuracy and efficiency of climate predictions, helping researchers better understand temperature changes, precipitation patterns, and extreme weather events.</a:t>
            </a:r>
            <a:endParaRPr dirty="0">
              <a:solidFill>
                <a:srgbClr val="00B0F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649664" y="0"/>
            <a:ext cx="10515600" cy="1325700"/>
          </a:xfrm>
          <a:prstGeom prst="rect">
            <a:avLst/>
          </a:prstGeom>
          <a:noFill/>
          <a:ln>
            <a:noFill/>
          </a:ln>
        </p:spPr>
        <p:txBody>
          <a:bodyPr spcFirstLastPara="1" wrap="square" lIns="91425" tIns="45700" rIns="91425" bIns="45700" anchor="ctr" anchorCtr="0">
            <a:normAutofit fontScale="90000"/>
          </a:bodyPr>
          <a:lstStyle/>
          <a:p>
            <a:pPr algn="ctr">
              <a:spcBef>
                <a:spcPts val="1000"/>
              </a:spcBef>
              <a:buSzPts val="2800"/>
            </a:pPr>
            <a:r>
              <a:rPr lang="en-IN" u="sng" dirty="0">
                <a:solidFill>
                  <a:srgbClr val="00B050"/>
                </a:solidFill>
                <a:latin typeface="Times New Roman"/>
                <a:ea typeface="Times New Roman"/>
                <a:cs typeface="Times New Roman"/>
                <a:sym typeface="Times New Roman"/>
              </a:rPr>
              <a:t>Problem Statement</a:t>
            </a:r>
            <a:br>
              <a:rPr lang="en-IN" dirty="0"/>
            </a:br>
            <a:endParaRPr b="1" dirty="0">
              <a:solidFill>
                <a:srgbClr val="0F4861"/>
              </a:solidFill>
            </a:endParaRPr>
          </a:p>
        </p:txBody>
      </p:sp>
      <p:sp>
        <p:nvSpPr>
          <p:cNvPr id="106" name="Google Shape;106;p4"/>
          <p:cNvSpPr txBox="1">
            <a:spLocks noGrp="1"/>
          </p:cNvSpPr>
          <p:nvPr>
            <p:ph type="body" idx="1"/>
          </p:nvPr>
        </p:nvSpPr>
        <p:spPr>
          <a:xfrm>
            <a:off x="113122" y="964960"/>
            <a:ext cx="7283842" cy="5605521"/>
          </a:xfrm>
          <a:prstGeom prst="rect">
            <a:avLst/>
          </a:prstGeom>
          <a:noFill/>
          <a:ln>
            <a:noFill/>
          </a:ln>
        </p:spPr>
        <p:txBody>
          <a:bodyPr spcFirstLastPara="1" wrap="square" lIns="91425" tIns="45700" rIns="91425" bIns="45700" anchor="t" anchorCtr="0">
            <a:normAutofit/>
          </a:bodyPr>
          <a:lstStyle/>
          <a:p>
            <a:pPr lvl="0"/>
            <a:r>
              <a:rPr lang="en-IN" dirty="0">
                <a:solidFill>
                  <a:srgbClr val="7030A0"/>
                </a:solidFill>
              </a:rPr>
              <a:t>The problem is formulated as a regression task: Input → Output relationship: Year, CO₂ (inputs) → Average Temperature (target). Our work addresses key challenges (data quality, feature selection, model robustness) to improve climate prediction reliability.</a:t>
            </a:r>
          </a:p>
          <a:p>
            <a:r>
              <a:rPr lang="en-IN" dirty="0">
                <a:solidFill>
                  <a:srgbClr val="7030A0"/>
                </a:solidFill>
              </a:rPr>
              <a:t> In this study, the goal is to predict average temperature (output) from features like year and CO₂ concentration (inputs). By doing so, we investigate how ML can enhance forecasting of climate indicators</a:t>
            </a:r>
          </a:p>
          <a:p>
            <a:pPr marL="0" lvl="0" indent="0" algn="l" rtl="0">
              <a:lnSpc>
                <a:spcPct val="90000"/>
              </a:lnSpc>
              <a:spcBef>
                <a:spcPts val="1000"/>
              </a:spcBef>
              <a:spcAft>
                <a:spcPts val="0"/>
              </a:spcAft>
              <a:buClr>
                <a:schemeClr val="dk1"/>
              </a:buClr>
              <a:buSzPts val="2800"/>
              <a:buNone/>
            </a:pPr>
            <a:endParaRPr dirty="0"/>
          </a:p>
        </p:txBody>
      </p:sp>
      <p:pic>
        <p:nvPicPr>
          <p:cNvPr id="3" name="Picture 2">
            <a:extLst>
              <a:ext uri="{FF2B5EF4-FFF2-40B4-BE49-F238E27FC236}">
                <a16:creationId xmlns:a16="http://schemas.microsoft.com/office/drawing/2014/main" id="{96623030-D29D-B092-F076-74D5C4E9565E}"/>
              </a:ext>
            </a:extLst>
          </p:cNvPr>
          <p:cNvPicPr>
            <a:picLocks noChangeAspect="1"/>
          </p:cNvPicPr>
          <p:nvPr/>
        </p:nvPicPr>
        <p:blipFill>
          <a:blip r:embed="rId3"/>
          <a:stretch>
            <a:fillRect/>
          </a:stretch>
        </p:blipFill>
        <p:spPr>
          <a:xfrm>
            <a:off x="7154945" y="1084082"/>
            <a:ext cx="4692452" cy="51939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a:spLocks noGrp="1"/>
          </p:cNvSpPr>
          <p:nvPr>
            <p:ph type="ctrTitle"/>
          </p:nvPr>
        </p:nvSpPr>
        <p:spPr>
          <a:xfrm>
            <a:off x="166540" y="198536"/>
            <a:ext cx="5929460" cy="960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u="sng" dirty="0">
                <a:solidFill>
                  <a:srgbClr val="FF0000"/>
                </a:solidFill>
                <a:latin typeface="Times New Roman"/>
                <a:ea typeface="Times New Roman"/>
                <a:cs typeface="Times New Roman"/>
                <a:sym typeface="Times New Roman"/>
              </a:rPr>
              <a:t>Motivation</a:t>
            </a:r>
            <a:endParaRPr b="1" u="sng" dirty="0">
              <a:solidFill>
                <a:srgbClr val="FF0000"/>
              </a:solidFill>
            </a:endParaRPr>
          </a:p>
        </p:txBody>
      </p:sp>
      <p:sp>
        <p:nvSpPr>
          <p:cNvPr id="3" name="Subtitle 2">
            <a:extLst>
              <a:ext uri="{FF2B5EF4-FFF2-40B4-BE49-F238E27FC236}">
                <a16:creationId xmlns:a16="http://schemas.microsoft.com/office/drawing/2014/main" id="{80942718-AB42-E54B-D5AA-9F6DE4887D07}"/>
              </a:ext>
            </a:extLst>
          </p:cNvPr>
          <p:cNvSpPr>
            <a:spLocks noGrp="1"/>
          </p:cNvSpPr>
          <p:nvPr>
            <p:ph type="subTitle" idx="1"/>
          </p:nvPr>
        </p:nvSpPr>
        <p:spPr>
          <a:xfrm>
            <a:off x="487050" y="1159496"/>
            <a:ext cx="11287027" cy="5316717"/>
          </a:xfrm>
        </p:spPr>
        <p:txBody>
          <a:bodyPr>
            <a:normAutofit/>
          </a:bodyPr>
          <a:lstStyle/>
          <a:p>
            <a:pPr>
              <a:buFont typeface="Wingdings" panose="05000000000000000000" pitchFamily="2" charset="2"/>
              <a:buChar char="v"/>
            </a:pPr>
            <a:r>
              <a:rPr lang="en-US" dirty="0">
                <a:solidFill>
                  <a:srgbClr val="7030A0"/>
                </a:solidFill>
              </a:rPr>
              <a:t>Rising Global Temperatures</a:t>
            </a:r>
          </a:p>
          <a:p>
            <a:pPr marL="50800" indent="0"/>
            <a:r>
              <a:rPr lang="en-US" dirty="0"/>
              <a:t>Increasing temperatures highlight the urgent need for accurate prediction systems.</a:t>
            </a:r>
          </a:p>
          <a:p>
            <a:pPr marL="50800" indent="0"/>
            <a:r>
              <a:rPr lang="en-US" dirty="0">
                <a:solidFill>
                  <a:srgbClr val="00B0F0"/>
                </a:solidFill>
              </a:rPr>
              <a:t>Frequent Natural Disasters</a:t>
            </a:r>
          </a:p>
          <a:p>
            <a:pPr marL="50800" indent="0"/>
            <a:r>
              <a:rPr lang="en-US" dirty="0"/>
              <a:t>Growing incidents of floods, droughts, and cyclones require better forecasting tools</a:t>
            </a:r>
          </a:p>
          <a:p>
            <a:r>
              <a:rPr lang="en-US" dirty="0">
                <a:solidFill>
                  <a:srgbClr val="00B050"/>
                </a:solidFill>
              </a:rPr>
              <a:t>Agricultural Dependency</a:t>
            </a:r>
          </a:p>
          <a:p>
            <a:r>
              <a:rPr lang="en-US" dirty="0"/>
              <a:t>Countries like India depend heavily on climate-sensitive agriculture.</a:t>
            </a:r>
          </a:p>
          <a:p>
            <a:r>
              <a:rPr lang="en-US" dirty="0">
                <a:solidFill>
                  <a:srgbClr val="00B0F0"/>
                </a:solidFill>
              </a:rPr>
              <a:t>Environmental Sustainability</a:t>
            </a:r>
          </a:p>
          <a:p>
            <a:r>
              <a:rPr lang="en-US" dirty="0"/>
              <a:t>Need to protect ecosystems and biodiversity from climate impacts.</a:t>
            </a:r>
          </a:p>
          <a:p>
            <a:endParaRPr lang="en-US" dirty="0"/>
          </a:p>
          <a:p>
            <a:endParaRPr lang="en-US"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9" name="Google Shape;129;p7"/>
          <p:cNvSpPr txBox="1">
            <a:spLocks noGrp="1"/>
          </p:cNvSpPr>
          <p:nvPr>
            <p:ph type="title"/>
          </p:nvPr>
        </p:nvSpPr>
        <p:spPr>
          <a:xfrm>
            <a:off x="141401" y="97754"/>
            <a:ext cx="9810881" cy="83549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4700" b="1" u="sng" dirty="0">
                <a:solidFill>
                  <a:srgbClr val="FF00FF"/>
                </a:solidFill>
                <a:latin typeface="Times New Roman"/>
                <a:ea typeface="Times New Roman"/>
                <a:cs typeface="Times New Roman"/>
                <a:sym typeface="Times New Roman"/>
              </a:rPr>
              <a:t>Objectives</a:t>
            </a:r>
            <a:endParaRPr sz="4700" b="1" u="sng" dirty="0">
              <a:solidFill>
                <a:srgbClr val="FF00FF"/>
              </a:solidFill>
            </a:endParaRPr>
          </a:p>
        </p:txBody>
      </p:sp>
      <p:sp>
        <p:nvSpPr>
          <p:cNvPr id="2" name="Text Placeholder 1">
            <a:extLst>
              <a:ext uri="{FF2B5EF4-FFF2-40B4-BE49-F238E27FC236}">
                <a16:creationId xmlns:a16="http://schemas.microsoft.com/office/drawing/2014/main" id="{C86A5A93-42CC-CB24-FD47-46C01B9A1756}"/>
              </a:ext>
            </a:extLst>
          </p:cNvPr>
          <p:cNvSpPr>
            <a:spLocks noGrp="1"/>
          </p:cNvSpPr>
          <p:nvPr>
            <p:ph type="body" idx="1"/>
          </p:nvPr>
        </p:nvSpPr>
        <p:spPr>
          <a:xfrm>
            <a:off x="141401" y="1046375"/>
            <a:ext cx="11613824" cy="5524107"/>
          </a:xfrm>
        </p:spPr>
        <p:txBody>
          <a:bodyPr>
            <a:normAutofit/>
          </a:bodyPr>
          <a:lstStyle/>
          <a:p>
            <a:pPr marL="571500" lvl="0" indent="-342900">
              <a:buFont typeface="Wingdings" panose="05000000000000000000" pitchFamily="2" charset="2"/>
              <a:buChar char="v"/>
            </a:pPr>
            <a:r>
              <a:rPr lang="en-IN" dirty="0"/>
              <a:t>To </a:t>
            </a:r>
            <a:r>
              <a:rPr lang="en-IN" b="1" dirty="0"/>
              <a:t>build robust predictive models</a:t>
            </a:r>
            <a:r>
              <a:rPr lang="en-IN" dirty="0"/>
              <a:t> (Linear Regression, Random Forest, Gradient </a:t>
            </a:r>
          </a:p>
          <a:p>
            <a:pPr lvl="0"/>
            <a:r>
              <a:rPr lang="en-IN" dirty="0"/>
              <a:t>Boosting) that forecast average temperature using inputs like year and CO₂ concentration.  </a:t>
            </a:r>
          </a:p>
          <a:p>
            <a:pPr lvl="0"/>
            <a:endParaRPr lang="en-IN" dirty="0"/>
          </a:p>
          <a:p>
            <a:pPr marL="571500" lvl="0" indent="-342900">
              <a:buFont typeface="Wingdings" panose="05000000000000000000" pitchFamily="2" charset="2"/>
              <a:buChar char="v"/>
            </a:pPr>
            <a:r>
              <a:rPr lang="en-IN" dirty="0"/>
              <a:t>To </a:t>
            </a:r>
            <a:r>
              <a:rPr lang="en-IN" b="1" dirty="0"/>
              <a:t>integrate diverse climate data sources</a:t>
            </a:r>
            <a:r>
              <a:rPr lang="en-IN" dirty="0"/>
              <a:t> (synthetic data patterned after NASA/NOAA records) to enrich model inputs.</a:t>
            </a:r>
          </a:p>
          <a:p>
            <a:pPr marL="228600" lvl="0" indent="0"/>
            <a:r>
              <a:rPr lang="en-IN" dirty="0"/>
              <a:t> </a:t>
            </a:r>
          </a:p>
          <a:p>
            <a:pPr marL="571500" lvl="0" indent="-342900">
              <a:buFont typeface="Wingdings" panose="05000000000000000000" pitchFamily="2" charset="2"/>
              <a:buChar char="v"/>
            </a:pPr>
            <a:r>
              <a:rPr lang="en-IN" dirty="0"/>
              <a:t>To </a:t>
            </a:r>
            <a:r>
              <a:rPr lang="en-IN" b="1" dirty="0"/>
              <a:t>apply thorough data preprocessing</a:t>
            </a:r>
            <a:r>
              <a:rPr lang="en-IN" dirty="0"/>
              <a:t> (cleaning, normalization) for high-quality input. </a:t>
            </a:r>
          </a:p>
          <a:p>
            <a:pPr marL="571500" lvl="0" indent="-342900">
              <a:buFont typeface="Wingdings" panose="05000000000000000000" pitchFamily="2" charset="2"/>
              <a:buChar char="v"/>
            </a:pPr>
            <a:endParaRPr lang="en-IN" dirty="0"/>
          </a:p>
          <a:p>
            <a:pPr marL="571500" lvl="0" indent="-342900">
              <a:buFont typeface="Wingdings" panose="05000000000000000000" pitchFamily="2" charset="2"/>
              <a:buChar char="v"/>
            </a:pPr>
            <a:r>
              <a:rPr lang="en-IN" dirty="0"/>
              <a:t> To </a:t>
            </a:r>
            <a:r>
              <a:rPr lang="en-IN" b="1" dirty="0"/>
              <a:t>compare model performance</a:t>
            </a:r>
            <a:r>
              <a:rPr lang="en-IN" dirty="0"/>
              <a:t> using metrics like MSE, $R^2$, and MAE, identifying which techniques best capture climate trends. </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8"/>
          <p:cNvSpPr txBox="1">
            <a:spLocks noGrp="1"/>
          </p:cNvSpPr>
          <p:nvPr>
            <p:ph type="title"/>
          </p:nvPr>
        </p:nvSpPr>
        <p:spPr>
          <a:xfrm>
            <a:off x="329152" y="-10621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u="sng" dirty="0">
                <a:solidFill>
                  <a:schemeClr val="accent5"/>
                </a:solidFill>
                <a:latin typeface="Times New Roman"/>
                <a:ea typeface="Times New Roman"/>
                <a:cs typeface="Times New Roman"/>
                <a:sym typeface="Times New Roman"/>
              </a:rPr>
              <a:t>Dataset Overview</a:t>
            </a:r>
            <a:endParaRPr b="1" u="sng" dirty="0">
              <a:solidFill>
                <a:schemeClr val="accent5"/>
              </a:solidFill>
            </a:endParaRPr>
          </a:p>
        </p:txBody>
      </p:sp>
      <p:sp>
        <p:nvSpPr>
          <p:cNvPr id="6" name="Text Placeholder 5">
            <a:extLst>
              <a:ext uri="{FF2B5EF4-FFF2-40B4-BE49-F238E27FC236}">
                <a16:creationId xmlns:a16="http://schemas.microsoft.com/office/drawing/2014/main" id="{9708D0EC-F166-07D9-DFDA-354305281CAA}"/>
              </a:ext>
            </a:extLst>
          </p:cNvPr>
          <p:cNvSpPr>
            <a:spLocks noGrp="1"/>
          </p:cNvSpPr>
          <p:nvPr>
            <p:ph type="body" idx="1"/>
          </p:nvPr>
        </p:nvSpPr>
        <p:spPr>
          <a:xfrm>
            <a:off x="329152" y="942680"/>
            <a:ext cx="11024648" cy="5234283"/>
          </a:xfrm>
        </p:spPr>
        <p:txBody>
          <a:bodyPr>
            <a:normAutofit fontScale="77500" lnSpcReduction="20000"/>
          </a:bodyPr>
          <a:lstStyle/>
          <a:p>
            <a:pPr marL="114300" indent="0">
              <a:buNone/>
            </a:pPr>
            <a:r>
              <a:rPr lang="en-IN" i="1" dirty="0"/>
              <a:t> </a:t>
            </a:r>
          </a:p>
          <a:p>
            <a:pPr fontAlgn="base"/>
            <a:r>
              <a:rPr lang="en-IN" b="1" dirty="0"/>
              <a:t>Snapshot:</a:t>
            </a:r>
            <a:r>
              <a:rPr lang="en-IN" dirty="0"/>
              <a:t> A few rows of the dataset are shown below: Year CO₂ (ppm) </a:t>
            </a:r>
            <a:r>
              <a:rPr lang="en-IN" dirty="0" err="1"/>
              <a:t>AvgTemp</a:t>
            </a:r>
            <a:r>
              <a:rPr lang="en-IN" dirty="0"/>
              <a:t> (°C) </a:t>
            </a:r>
          </a:p>
          <a:p>
            <a:pPr lvl="0" fontAlgn="base"/>
            <a:r>
              <a:rPr lang="en-IN" b="1" dirty="0"/>
              <a:t>Source:</a:t>
            </a:r>
            <a:r>
              <a:rPr lang="en-IN" dirty="0"/>
              <a:t> We use a </a:t>
            </a:r>
            <a:r>
              <a:rPr lang="en-IN" b="1" dirty="0"/>
              <a:t>synthetic climate dataset</a:t>
            </a:r>
            <a:r>
              <a:rPr lang="en-IN" dirty="0"/>
              <a:t> generated to mimic realistic environmental trends. This simulated data is patterned after actual climate records from agencies like NASA and NOAA (and similar to datasets found on Kaggle). It includes key variables spanning the years 1980–2020. </a:t>
            </a:r>
          </a:p>
          <a:p>
            <a:pPr lvl="0" fontAlgn="base"/>
            <a:endParaRPr lang="en-IN" dirty="0"/>
          </a:p>
          <a:p>
            <a:pPr lvl="0" fontAlgn="base"/>
            <a:r>
              <a:rPr lang="en-IN" b="1" dirty="0"/>
              <a:t>Features (Independent variables):</a:t>
            </a:r>
            <a:r>
              <a:rPr lang="en-IN" dirty="0"/>
              <a:t> Year (numeric), CO₂ concentration (parts per million). These are chosen for their known influence on temperature. In an expanded real-world scenario, additional features like humidity or solar radiation could be included. </a:t>
            </a:r>
          </a:p>
          <a:p>
            <a:pPr lvl="0" fontAlgn="base"/>
            <a:endParaRPr lang="en-IN" dirty="0"/>
          </a:p>
          <a:p>
            <a:pPr lvl="0" fontAlgn="base"/>
            <a:r>
              <a:rPr lang="en-IN" b="1" dirty="0"/>
              <a:t>Target Variable:</a:t>
            </a:r>
            <a:r>
              <a:rPr lang="en-IN" dirty="0"/>
              <a:t> Average annual </a:t>
            </a:r>
            <a:r>
              <a:rPr lang="en-IN" b="1" dirty="0"/>
              <a:t>temperature</a:t>
            </a:r>
            <a:r>
              <a:rPr lang="en-IN" dirty="0"/>
              <a:t> (°C) corresponding to each year. </a:t>
            </a:r>
          </a:p>
          <a:p>
            <a:pPr lvl="0" fontAlgn="base"/>
            <a:r>
              <a:rPr lang="en-IN" b="1" dirty="0"/>
              <a:t>Dataset Size:</a:t>
            </a:r>
            <a:r>
              <a:rPr lang="en-IN" dirty="0"/>
              <a:t> 41 records (one per year from 1980 to 2020). Each record has the features and target as described. </a:t>
            </a:r>
          </a:p>
          <a:p>
            <a:pPr lvl="0" fontAlgn="base"/>
            <a:endParaRPr lang="en-IN" dirty="0"/>
          </a:p>
          <a:p>
            <a:pPr marL="114300" lvl="0" indent="0" fontAlgn="base">
              <a:buNone/>
            </a:pP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dirty="0">
                <a:solidFill>
                  <a:srgbClr val="C00000"/>
                </a:solidFill>
                <a:latin typeface="Times New Roman"/>
                <a:ea typeface="Times New Roman"/>
                <a:cs typeface="Times New Roman"/>
                <a:sym typeface="Times New Roman"/>
              </a:rPr>
              <a:t>Dataset</a:t>
            </a:r>
            <a:endParaRPr dirty="0">
              <a:solidFill>
                <a:srgbClr val="C00000"/>
              </a:solidFill>
            </a:endParaRPr>
          </a:p>
        </p:txBody>
      </p:sp>
      <p:pic>
        <p:nvPicPr>
          <p:cNvPr id="3" name="Picture 2">
            <a:extLst>
              <a:ext uri="{FF2B5EF4-FFF2-40B4-BE49-F238E27FC236}">
                <a16:creationId xmlns:a16="http://schemas.microsoft.com/office/drawing/2014/main" id="{F5BCF8F6-B946-D9C5-DA98-8042ED936E32}"/>
              </a:ext>
            </a:extLst>
          </p:cNvPr>
          <p:cNvPicPr>
            <a:picLocks noChangeAspect="1"/>
          </p:cNvPicPr>
          <p:nvPr/>
        </p:nvPicPr>
        <p:blipFill>
          <a:blip r:embed="rId3"/>
          <a:stretch>
            <a:fillRect/>
          </a:stretch>
        </p:blipFill>
        <p:spPr>
          <a:xfrm>
            <a:off x="0" y="1300899"/>
            <a:ext cx="11239500" cy="54392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dirty="0">
                <a:solidFill>
                  <a:srgbClr val="FF0000"/>
                </a:solidFill>
                <a:latin typeface="Times New Roman"/>
                <a:ea typeface="Times New Roman"/>
                <a:cs typeface="Times New Roman"/>
                <a:sym typeface="Times New Roman"/>
              </a:rPr>
              <a:t>Methodology / Approach</a:t>
            </a:r>
            <a:endParaRPr b="1" dirty="0">
              <a:solidFill>
                <a:srgbClr val="FF0000"/>
              </a:solidFill>
            </a:endParaRPr>
          </a:p>
        </p:txBody>
      </p:sp>
      <p:sp>
        <p:nvSpPr>
          <p:cNvPr id="147" name="Google Shape;147;p10"/>
          <p:cNvSpPr txBox="1">
            <a:spLocks noGrp="1"/>
          </p:cNvSpPr>
          <p:nvPr>
            <p:ph type="body" idx="1"/>
          </p:nvPr>
        </p:nvSpPr>
        <p:spPr>
          <a:xfrm>
            <a:off x="838200" y="1825625"/>
            <a:ext cx="47244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64135" algn="ctr" rtl="0">
              <a:lnSpc>
                <a:spcPct val="90000"/>
              </a:lnSpc>
              <a:spcBef>
                <a:spcPts val="1000"/>
              </a:spcBef>
              <a:spcAft>
                <a:spcPts val="0"/>
              </a:spcAft>
              <a:buSzPct val="100000"/>
              <a:buNone/>
            </a:pPr>
            <a:r>
              <a:rPr lang="en-IN" sz="2100" dirty="0"/>
              <a:t> Start</a:t>
            </a:r>
            <a:br>
              <a:rPr lang="en-IN" sz="2100" dirty="0"/>
            </a:br>
            <a:r>
              <a:rPr lang="en-IN" sz="2100" dirty="0"/>
              <a:t>│</a:t>
            </a:r>
            <a:br>
              <a:rPr lang="en-IN" sz="2100" dirty="0"/>
            </a:br>
            <a:r>
              <a:rPr lang="en-IN" sz="2100" dirty="0"/>
              <a:t>▼</a:t>
            </a:r>
            <a:br>
              <a:rPr lang="en-IN" sz="2100" dirty="0"/>
            </a:br>
            <a:r>
              <a:rPr lang="en-IN" sz="2100" dirty="0"/>
              <a:t>  Data Collection (Sensors/Dataset)</a:t>
            </a:r>
            <a:br>
              <a:rPr lang="en-IN" sz="2100" dirty="0"/>
            </a:br>
            <a:r>
              <a:rPr lang="en-IN" sz="2100" dirty="0"/>
              <a:t> │</a:t>
            </a:r>
            <a:br>
              <a:rPr lang="en-IN" sz="2100" dirty="0"/>
            </a:br>
            <a:r>
              <a:rPr lang="en-IN" sz="2100" dirty="0"/>
              <a:t> ▼</a:t>
            </a:r>
            <a:br>
              <a:rPr lang="en-IN" sz="2100" dirty="0"/>
            </a:br>
            <a:r>
              <a:rPr lang="en-IN" sz="2100" dirty="0"/>
              <a:t>   Data Preprocessing</a:t>
            </a:r>
            <a:br>
              <a:rPr lang="en-IN" sz="2100" dirty="0"/>
            </a:br>
            <a:r>
              <a:rPr lang="en-IN" sz="2100" dirty="0"/>
              <a:t> (Cleaning, Normalization)</a:t>
            </a:r>
            <a:br>
              <a:rPr lang="en-IN" sz="2100" dirty="0"/>
            </a:br>
            <a:r>
              <a:rPr lang="en-IN" sz="2100" dirty="0"/>
              <a:t> │</a:t>
            </a:r>
            <a:br>
              <a:rPr lang="en-IN" sz="2100" dirty="0"/>
            </a:br>
            <a:r>
              <a:rPr lang="en-IN" sz="2100" dirty="0"/>
              <a:t> ▼</a:t>
            </a:r>
            <a:br>
              <a:rPr lang="en-IN" sz="2100" dirty="0"/>
            </a:br>
            <a:r>
              <a:rPr lang="en-IN" sz="2100" dirty="0"/>
              <a:t>    Feature Selection</a:t>
            </a:r>
            <a:br>
              <a:rPr lang="en-IN" sz="2100" dirty="0"/>
            </a:br>
            <a:r>
              <a:rPr lang="en-IN" sz="2100" dirty="0"/>
              <a:t>  │</a:t>
            </a:r>
            <a:br>
              <a:rPr lang="en-IN" sz="2100" dirty="0"/>
            </a:br>
            <a:r>
              <a:rPr lang="en-IN" sz="2100" dirty="0"/>
              <a:t>  ▼</a:t>
            </a:r>
            <a:br>
              <a:rPr lang="en-IN" sz="2100" dirty="0"/>
            </a:br>
            <a:r>
              <a:rPr lang="en-IN" sz="2100" dirty="0"/>
              <a:t>   Train-Test Splitting</a:t>
            </a:r>
            <a:br>
              <a:rPr lang="en-IN" sz="2100" dirty="0"/>
            </a:br>
            <a:r>
              <a:rPr lang="en-IN" sz="2100" dirty="0"/>
              <a:t>  │</a:t>
            </a:r>
            <a:br>
              <a:rPr lang="en-IN" sz="2100" dirty="0"/>
            </a:br>
            <a:r>
              <a:rPr lang="en-IN" sz="2100" dirty="0"/>
              <a:t>  ▼</a:t>
            </a:r>
            <a:br>
              <a:rPr lang="en-IN" dirty="0"/>
            </a:br>
            <a:r>
              <a:rPr lang="en-IN" dirty="0"/>
              <a:t> </a:t>
            </a:r>
            <a:endParaRPr dirty="0"/>
          </a:p>
        </p:txBody>
      </p:sp>
      <p:sp>
        <p:nvSpPr>
          <p:cNvPr id="148" name="Google Shape;148;p10"/>
          <p:cNvSpPr txBox="1"/>
          <p:nvPr/>
        </p:nvSpPr>
        <p:spPr>
          <a:xfrm>
            <a:off x="5791200" y="1564243"/>
            <a:ext cx="5105400" cy="529375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800" b="0" i="0" u="none" strike="noStrike" cap="none">
                <a:solidFill>
                  <a:srgbClr val="000000"/>
                </a:solidFill>
                <a:latin typeface="Arial"/>
                <a:ea typeface="Arial"/>
                <a:cs typeface="Arial"/>
                <a:sym typeface="Arial"/>
              </a:rPr>
              <a:t> Model Selection</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(Regression Models)</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Model Training</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Model Testing</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(MSE, RMSE, R²)</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Prediction of Irrigation</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Automatic Water Control</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a:t>
            </a:r>
            <a:br>
              <a:rPr lang="en-IN" sz="1800" b="0" i="0" u="none" strike="noStrike" cap="none">
                <a:solidFill>
                  <a:srgbClr val="000000"/>
                </a:solidFill>
                <a:latin typeface="Arial"/>
                <a:ea typeface="Arial"/>
                <a:cs typeface="Arial"/>
                <a:sym typeface="Arial"/>
              </a:rPr>
            </a:br>
            <a:r>
              <a:rPr lang="en-IN" sz="1800" b="0" i="0" u="none" strike="noStrike" cap="none">
                <a:solidFill>
                  <a:srgbClr val="000000"/>
                </a:solidFill>
                <a:latin typeface="Arial"/>
                <a:ea typeface="Arial"/>
                <a:cs typeface="Arial"/>
                <a:sym typeface="Arial"/>
              </a:rPr>
              <a:t>         End</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dirty="0">
                <a:solidFill>
                  <a:srgbClr val="C00000"/>
                </a:solidFill>
                <a:latin typeface="Times New Roman"/>
                <a:ea typeface="Times New Roman"/>
                <a:cs typeface="Times New Roman"/>
                <a:sym typeface="Times New Roman"/>
              </a:rPr>
              <a:t>Tools and Technologies Used</a:t>
            </a:r>
            <a:endParaRPr b="1" dirty="0">
              <a:solidFill>
                <a:srgbClr val="C00000"/>
              </a:solidFill>
            </a:endParaRPr>
          </a:p>
        </p:txBody>
      </p:sp>
      <p:sp>
        <p:nvSpPr>
          <p:cNvPr id="154" name="Google Shape;154;p11"/>
          <p:cNvSpPr txBox="1">
            <a:spLocks noGrp="1"/>
          </p:cNvSpPr>
          <p:nvPr>
            <p:ph type="body" idx="1"/>
          </p:nvPr>
        </p:nvSpPr>
        <p:spPr>
          <a:xfrm>
            <a:off x="838200" y="1847653"/>
            <a:ext cx="10515600" cy="4329309"/>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ts val="2800"/>
              <a:buChar char="•"/>
            </a:pPr>
            <a:r>
              <a:rPr lang="en-IN" dirty="0">
                <a:solidFill>
                  <a:schemeClr val="tx1"/>
                </a:solidFill>
                <a:latin typeface="Times New Roman"/>
                <a:ea typeface="Times New Roman"/>
                <a:cs typeface="Times New Roman"/>
                <a:sym typeface="Times New Roman"/>
              </a:rPr>
              <a:t>Libraries Used: </a:t>
            </a:r>
          </a:p>
          <a:p>
            <a:pPr marL="228600" lvl="0" indent="-228600" algn="l" rtl="0">
              <a:lnSpc>
                <a:spcPct val="90000"/>
              </a:lnSpc>
              <a:spcBef>
                <a:spcPts val="0"/>
              </a:spcBef>
              <a:spcAft>
                <a:spcPts val="0"/>
              </a:spcAft>
              <a:buClr>
                <a:schemeClr val="dk1"/>
              </a:buClr>
              <a:buSzPts val="2800"/>
              <a:buChar char="•"/>
            </a:pPr>
            <a:endParaRPr dirty="0">
              <a:solidFill>
                <a:schemeClr val="tx1"/>
              </a:solidFill>
            </a:endParaRPr>
          </a:p>
          <a:p>
            <a:r>
              <a:rPr lang="en-IN" dirty="0">
                <a:solidFill>
                  <a:schemeClr val="tx1"/>
                </a:solidFill>
              </a:rPr>
              <a:t>import </a:t>
            </a:r>
            <a:r>
              <a:rPr lang="en-IN" dirty="0" err="1">
                <a:solidFill>
                  <a:schemeClr val="tx1"/>
                </a:solidFill>
              </a:rPr>
              <a:t>numpy</a:t>
            </a:r>
            <a:r>
              <a:rPr lang="en-IN" dirty="0">
                <a:solidFill>
                  <a:schemeClr val="tx1"/>
                </a:solidFill>
              </a:rPr>
              <a:t> as np</a:t>
            </a:r>
            <a:endParaRPr lang="en-IN" sz="3200" dirty="0">
              <a:solidFill>
                <a:schemeClr val="tx1"/>
              </a:solidFill>
            </a:endParaRPr>
          </a:p>
          <a:p>
            <a:r>
              <a:rPr lang="en-IN" dirty="0">
                <a:solidFill>
                  <a:schemeClr val="tx1"/>
                </a:solidFill>
              </a:rPr>
              <a:t>import pandas as pd</a:t>
            </a:r>
            <a:endParaRPr lang="en-IN" sz="3200" dirty="0">
              <a:solidFill>
                <a:schemeClr val="tx1"/>
              </a:solidFill>
            </a:endParaRPr>
          </a:p>
          <a:p>
            <a:r>
              <a:rPr lang="en-IN" dirty="0">
                <a:solidFill>
                  <a:schemeClr val="tx1"/>
                </a:solidFill>
              </a:rPr>
              <a:t>import </a:t>
            </a:r>
            <a:r>
              <a:rPr lang="en-IN" dirty="0" err="1">
                <a:solidFill>
                  <a:schemeClr val="tx1"/>
                </a:solidFill>
              </a:rPr>
              <a:t>matplotlib.pyplot</a:t>
            </a:r>
            <a:r>
              <a:rPr lang="en-IN" dirty="0">
                <a:solidFill>
                  <a:schemeClr val="tx1"/>
                </a:solidFill>
              </a:rPr>
              <a:t> as </a:t>
            </a:r>
            <a:r>
              <a:rPr lang="en-IN" dirty="0" err="1">
                <a:solidFill>
                  <a:schemeClr val="tx1"/>
                </a:solidFill>
              </a:rPr>
              <a:t>plt</a:t>
            </a:r>
            <a:endParaRPr lang="en-IN" sz="3200" dirty="0">
              <a:solidFill>
                <a:schemeClr val="tx1"/>
              </a:solidFill>
            </a:endParaRPr>
          </a:p>
          <a:p>
            <a:r>
              <a:rPr lang="en-IN" dirty="0">
                <a:solidFill>
                  <a:schemeClr val="tx1"/>
                </a:solidFill>
              </a:rPr>
              <a:t>import seaborn as </a:t>
            </a:r>
            <a:r>
              <a:rPr lang="en-IN" dirty="0" err="1">
                <a:solidFill>
                  <a:schemeClr val="tx1"/>
                </a:solidFill>
              </a:rPr>
              <a:t>sns</a:t>
            </a:r>
            <a:endParaRPr lang="en-IN" sz="3200" dirty="0">
              <a:solidFill>
                <a:schemeClr val="tx1"/>
              </a:solidFill>
            </a:endParaRPr>
          </a:p>
          <a:p>
            <a:pPr marL="457200" lvl="1" indent="0" algn="l" rtl="0">
              <a:lnSpc>
                <a:spcPct val="90000"/>
              </a:lnSpc>
              <a:spcBef>
                <a:spcPts val="500"/>
              </a:spcBef>
              <a:spcAft>
                <a:spcPts val="0"/>
              </a:spcAft>
              <a:buClr>
                <a:schemeClr val="dk1"/>
              </a:buClr>
              <a:buSzPts val="2800"/>
              <a:buNone/>
            </a:pPr>
            <a:endParaRPr sz="2800" b="1" dirty="0">
              <a:solidFill>
                <a:schemeClr val="tx1"/>
              </a:solidFill>
              <a:latin typeface="Times New Roman"/>
              <a:ea typeface="Times New Roman"/>
              <a:cs typeface="Times New Roman"/>
              <a:sym typeface="Times New Roman"/>
            </a:endParaRPr>
          </a:p>
          <a:p>
            <a:pPr marL="685800" lvl="1" indent="-228600" algn="l" rtl="0">
              <a:lnSpc>
                <a:spcPct val="90000"/>
              </a:lnSpc>
              <a:spcBef>
                <a:spcPts val="500"/>
              </a:spcBef>
              <a:spcAft>
                <a:spcPts val="0"/>
              </a:spcAft>
              <a:buClr>
                <a:schemeClr val="dk1"/>
              </a:buClr>
              <a:buSzPts val="2800"/>
              <a:buNone/>
            </a:pPr>
            <a:endParaRPr b="1" dirty="0">
              <a:solidFill>
                <a:schemeClr val="tx1"/>
              </a:solidFill>
            </a:endParaRPr>
          </a:p>
          <a:p>
            <a:pPr marL="228600" indent="-228600">
              <a:buSzPts val="2800"/>
            </a:pPr>
            <a:r>
              <a:rPr lang="en-IN" dirty="0">
                <a:solidFill>
                  <a:schemeClr val="tx1"/>
                </a:solidFill>
                <a:latin typeface="Times New Roman"/>
                <a:ea typeface="Times New Roman"/>
                <a:cs typeface="Times New Roman"/>
                <a:sym typeface="Times New Roman"/>
              </a:rPr>
              <a:t>Development </a:t>
            </a:r>
            <a:r>
              <a:rPr lang="en-IN" dirty="0" err="1">
                <a:solidFill>
                  <a:schemeClr val="tx1"/>
                </a:solidFill>
                <a:latin typeface="Times New Roman"/>
                <a:ea typeface="Times New Roman"/>
                <a:cs typeface="Times New Roman"/>
                <a:sym typeface="Times New Roman"/>
              </a:rPr>
              <a:t>Env</a:t>
            </a:r>
            <a:r>
              <a:rPr lang="en-IN" b="1" dirty="0" err="1">
                <a:solidFill>
                  <a:schemeClr val="tx1"/>
                </a:solidFill>
                <a:latin typeface="Times New Roman"/>
                <a:ea typeface="Times New Roman"/>
                <a:cs typeface="Times New Roman"/>
                <a:sym typeface="Times New Roman"/>
              </a:rPr>
              <a:t>Colab</a:t>
            </a:r>
            <a:r>
              <a:rPr lang="en-IN" b="1" dirty="0">
                <a:solidFill>
                  <a:schemeClr val="tx1"/>
                </a:solidFill>
                <a:latin typeface="Times New Roman"/>
                <a:ea typeface="Times New Roman"/>
                <a:cs typeface="Times New Roman"/>
                <a:sym typeface="Times New Roman"/>
              </a:rPr>
              <a:t> </a:t>
            </a:r>
            <a:endParaRPr lang="en-IN" b="1" dirty="0">
              <a:solidFill>
                <a:schemeClr val="tx1"/>
              </a:solidFill>
            </a:endParaRPr>
          </a:p>
          <a:p>
            <a:pPr marL="228600" lvl="0" indent="-228600" algn="l" rtl="0">
              <a:lnSpc>
                <a:spcPct val="90000"/>
              </a:lnSpc>
              <a:spcBef>
                <a:spcPts val="1000"/>
              </a:spcBef>
              <a:spcAft>
                <a:spcPts val="0"/>
              </a:spcAft>
              <a:buClr>
                <a:schemeClr val="dk1"/>
              </a:buClr>
              <a:buSzPts val="2800"/>
              <a:buChar char="•"/>
            </a:pPr>
            <a:r>
              <a:rPr lang="en-IN" dirty="0" err="1">
                <a:solidFill>
                  <a:schemeClr val="tx1"/>
                </a:solidFill>
                <a:latin typeface="Times New Roman"/>
                <a:ea typeface="Times New Roman"/>
                <a:cs typeface="Times New Roman"/>
                <a:sym typeface="Times New Roman"/>
              </a:rPr>
              <a:t>ironment</a:t>
            </a:r>
            <a:r>
              <a:rPr lang="en-IN" dirty="0">
                <a:solidFill>
                  <a:schemeClr val="tx1"/>
                </a:solidFill>
                <a:latin typeface="Times New Roman"/>
                <a:ea typeface="Times New Roman"/>
                <a:cs typeface="Times New Roman"/>
                <a:sym typeface="Times New Roman"/>
              </a:rPr>
              <a:t>: </a:t>
            </a:r>
            <a:r>
              <a:rPr lang="en-IN" b="1" dirty="0">
                <a:solidFill>
                  <a:schemeClr val="tx1"/>
                </a:solidFill>
                <a:latin typeface="Times New Roman"/>
                <a:ea typeface="Times New Roman"/>
                <a:cs typeface="Times New Roman"/>
                <a:sym typeface="Times New Roman"/>
              </a:rPr>
              <a:t>Google</a:t>
            </a:r>
            <a:endParaRPr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0" y="65087"/>
            <a:ext cx="10515600" cy="1325563"/>
          </a:xfrm>
          <a:prstGeom prst="rect">
            <a:avLst/>
          </a:prstGeom>
          <a:noFill/>
          <a:ln>
            <a:noFill/>
          </a:ln>
        </p:spPr>
        <p:txBody>
          <a:bodyPr spcFirstLastPara="1" wrap="square" lIns="91425" tIns="45700" rIns="91425" bIns="45700" anchor="ctr" anchorCtr="0">
            <a:normAutofit fontScale="90000"/>
          </a:bodyPr>
          <a:lstStyle/>
          <a:p>
            <a:br>
              <a:rPr lang="en-IN" b="1" dirty="0">
                <a:solidFill>
                  <a:srgbClr val="0B769F"/>
                </a:solidFill>
                <a:latin typeface="Times New Roman"/>
                <a:ea typeface="Times New Roman"/>
                <a:cs typeface="Times New Roman"/>
                <a:sym typeface="Times New Roman"/>
              </a:rPr>
            </a:br>
            <a:br>
              <a:rPr lang="en-IN" b="1" dirty="0">
                <a:solidFill>
                  <a:srgbClr val="0B769F"/>
                </a:solidFill>
                <a:latin typeface="Times New Roman"/>
                <a:ea typeface="Times New Roman"/>
                <a:cs typeface="Times New Roman"/>
                <a:sym typeface="Times New Roman"/>
              </a:rPr>
            </a:br>
            <a:br>
              <a:rPr lang="en-IN" b="1" dirty="0">
                <a:solidFill>
                  <a:srgbClr val="0B769F"/>
                </a:solidFill>
                <a:latin typeface="Times New Roman"/>
                <a:ea typeface="Times New Roman"/>
                <a:cs typeface="Times New Roman"/>
                <a:sym typeface="Times New Roman"/>
              </a:rPr>
            </a:br>
            <a:br>
              <a:rPr lang="en-IN" b="1" dirty="0">
                <a:solidFill>
                  <a:srgbClr val="0B769F"/>
                </a:solidFill>
                <a:latin typeface="Times New Roman"/>
                <a:ea typeface="Times New Roman"/>
                <a:cs typeface="Times New Roman"/>
                <a:sym typeface="Times New Roman"/>
              </a:rPr>
            </a:br>
            <a:r>
              <a:rPr lang="en-IN" b="1" u="sng" dirty="0">
                <a:solidFill>
                  <a:srgbClr val="00B050"/>
                </a:solidFill>
                <a:latin typeface="Times New Roman"/>
                <a:ea typeface="Times New Roman"/>
                <a:cs typeface="Times New Roman"/>
                <a:sym typeface="Times New Roman"/>
              </a:rPr>
              <a:t>Results</a:t>
            </a:r>
            <a:br>
              <a:rPr lang="en-IN" b="1" dirty="0">
                <a:solidFill>
                  <a:srgbClr val="0B769F"/>
                </a:solidFill>
                <a:latin typeface="Times New Roman"/>
                <a:ea typeface="Times New Roman"/>
                <a:cs typeface="Times New Roman"/>
                <a:sym typeface="Times New Roman"/>
              </a:rPr>
            </a:br>
            <a:br>
              <a:rPr lang="en-IN" b="1" dirty="0">
                <a:solidFill>
                  <a:srgbClr val="0B769F"/>
                </a:solidFill>
                <a:latin typeface="Times New Roman"/>
                <a:ea typeface="Times New Roman"/>
                <a:cs typeface="Times New Roman"/>
                <a:sym typeface="Times New Roman"/>
              </a:rPr>
            </a:br>
            <a:br>
              <a:rPr lang="en-IN" b="1" dirty="0">
                <a:solidFill>
                  <a:srgbClr val="0B769F"/>
                </a:solidFill>
                <a:latin typeface="Times New Roman"/>
                <a:ea typeface="Times New Roman"/>
                <a:cs typeface="Times New Roman"/>
                <a:sym typeface="Times New Roman"/>
              </a:rPr>
            </a:br>
            <a:r>
              <a:rPr lang="en-IN" sz="2700" b="1" dirty="0"/>
              <a:t>Actual vs Predicted (Linear Regression)</a:t>
            </a:r>
            <a:br>
              <a:rPr lang="en-IN" sz="2700" b="1" dirty="0"/>
            </a:br>
            <a:r>
              <a:rPr lang="en-IN" sz="2700" dirty="0"/>
              <a:t>Points lie close to the </a:t>
            </a:r>
            <a:r>
              <a:rPr lang="en-IN" sz="2700" b="1" dirty="0"/>
              <a:t>diagonal line</a:t>
            </a:r>
            <a:r>
              <a:rPr lang="en-IN" sz="2700" dirty="0"/>
              <a:t>, indicating good prediction accuracy. </a:t>
            </a:r>
            <a:br>
              <a:rPr lang="en-IN" sz="2700" dirty="0"/>
            </a:br>
            <a:r>
              <a:rPr lang="en-IN" sz="2700" dirty="0"/>
              <a:t>Small deviations show </a:t>
            </a:r>
            <a:r>
              <a:rPr lang="en-IN" sz="2700" b="1" dirty="0"/>
              <a:t>minor prediction errors due to noise</a:t>
            </a:r>
            <a:r>
              <a:rPr lang="en-IN" sz="2700" dirty="0"/>
              <a:t>. </a:t>
            </a:r>
            <a:br>
              <a:rPr lang="en-IN" sz="2700" dirty="0"/>
            </a:br>
            <a:r>
              <a:rPr lang="en-IN" sz="2700" dirty="0"/>
              <a:t>Confirms that the model fits the data </a:t>
            </a:r>
            <a:r>
              <a:rPr lang="en-IN" sz="2700" b="1" dirty="0"/>
              <a:t>effectively</a:t>
            </a:r>
            <a:br>
              <a:rPr lang="en-IN" sz="2700" dirty="0"/>
            </a:br>
            <a:endParaRPr sz="2700" b="1" dirty="0">
              <a:solidFill>
                <a:srgbClr val="0B769F"/>
              </a:solidFill>
            </a:endParaRPr>
          </a:p>
        </p:txBody>
      </p:sp>
      <p:sp>
        <p:nvSpPr>
          <p:cNvPr id="162" name="Google Shape;162;p1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800"/>
              <a:buNone/>
            </a:pPr>
            <a:r>
              <a:rPr lang="en-IN" dirty="0"/>
              <a:t> </a:t>
            </a:r>
            <a:endParaRPr dirty="0"/>
          </a:p>
          <a:p>
            <a:pPr marL="228600" lvl="0" indent="-50800" algn="l" rtl="0">
              <a:lnSpc>
                <a:spcPct val="90000"/>
              </a:lnSpc>
              <a:spcBef>
                <a:spcPts val="0"/>
              </a:spcBef>
              <a:spcAft>
                <a:spcPts val="0"/>
              </a:spcAft>
              <a:buSzPts val="2800"/>
              <a:buNone/>
            </a:pPr>
            <a:endParaRPr b="1" dirty="0">
              <a:solidFill>
                <a:srgbClr val="C00000"/>
              </a:solidFill>
            </a:endParaRPr>
          </a:p>
        </p:txBody>
      </p:sp>
      <p:pic>
        <p:nvPicPr>
          <p:cNvPr id="2" name="image2.png">
            <a:extLst>
              <a:ext uri="{FF2B5EF4-FFF2-40B4-BE49-F238E27FC236}">
                <a16:creationId xmlns:a16="http://schemas.microsoft.com/office/drawing/2014/main" id="{AD14B7E7-785A-9A4B-B359-A7BA447EA491}"/>
              </a:ext>
            </a:extLst>
          </p:cNvPr>
          <p:cNvPicPr/>
          <p:nvPr/>
        </p:nvPicPr>
        <p:blipFill>
          <a:blip r:embed="rId3"/>
          <a:srcRect/>
          <a:stretch>
            <a:fillRect/>
          </a:stretch>
        </p:blipFill>
        <p:spPr>
          <a:xfrm>
            <a:off x="2790335" y="3252248"/>
            <a:ext cx="7601146" cy="3605752"/>
          </a:xfrm>
          <a:prstGeom prst="rect">
            <a:avLst/>
          </a:prstGeo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2.png">
            <a:extLst>
              <a:ext uri="{FF2B5EF4-FFF2-40B4-BE49-F238E27FC236}">
                <a16:creationId xmlns:a16="http://schemas.microsoft.com/office/drawing/2014/main" id="{0F002064-AA8E-EEA1-306F-7A50B0DD06A2}"/>
              </a:ext>
            </a:extLst>
          </p:cNvPr>
          <p:cNvPicPr/>
          <p:nvPr/>
        </p:nvPicPr>
        <p:blipFill>
          <a:blip r:embed="rId2"/>
          <a:srcRect/>
          <a:stretch>
            <a:fillRect/>
          </a:stretch>
        </p:blipFill>
        <p:spPr>
          <a:xfrm>
            <a:off x="5564514" y="2582698"/>
            <a:ext cx="5267325" cy="4162425"/>
          </a:xfrm>
          <a:prstGeom prst="rect">
            <a:avLst/>
          </a:prstGeom>
          <a:ln/>
        </p:spPr>
      </p:pic>
      <p:sp>
        <p:nvSpPr>
          <p:cNvPr id="6" name="TextBox 5">
            <a:extLst>
              <a:ext uri="{FF2B5EF4-FFF2-40B4-BE49-F238E27FC236}">
                <a16:creationId xmlns:a16="http://schemas.microsoft.com/office/drawing/2014/main" id="{498D8370-1581-1F5E-8531-561145010D66}"/>
              </a:ext>
            </a:extLst>
          </p:cNvPr>
          <p:cNvSpPr txBox="1"/>
          <p:nvPr/>
        </p:nvSpPr>
        <p:spPr>
          <a:xfrm>
            <a:off x="414779" y="273377"/>
            <a:ext cx="10708850" cy="1569660"/>
          </a:xfrm>
          <a:prstGeom prst="rect">
            <a:avLst/>
          </a:prstGeom>
          <a:noFill/>
        </p:spPr>
        <p:txBody>
          <a:bodyPr wrap="square">
            <a:spAutoFit/>
          </a:bodyPr>
          <a:lstStyle/>
          <a:p>
            <a:r>
              <a:rPr lang="en-IN" sz="2400" b="1" dirty="0"/>
              <a:t>Actual vs Predicted (Linear Regression)</a:t>
            </a:r>
          </a:p>
          <a:p>
            <a:pPr lvl="0"/>
            <a:r>
              <a:rPr lang="en-IN" sz="2400" dirty="0"/>
              <a:t>Points lie close to the </a:t>
            </a:r>
            <a:r>
              <a:rPr lang="en-IN" sz="2400" b="1" dirty="0"/>
              <a:t>diagonal line</a:t>
            </a:r>
            <a:r>
              <a:rPr lang="en-IN" sz="2400" dirty="0"/>
              <a:t>, indicating good prediction accuracy. </a:t>
            </a:r>
          </a:p>
          <a:p>
            <a:pPr lvl="0"/>
            <a:r>
              <a:rPr lang="en-IN" sz="2400" dirty="0"/>
              <a:t>Small deviations show </a:t>
            </a:r>
            <a:r>
              <a:rPr lang="en-IN" sz="2400" b="1" dirty="0"/>
              <a:t>minor prediction errors due to noise</a:t>
            </a:r>
            <a:r>
              <a:rPr lang="en-IN" sz="2400" dirty="0"/>
              <a:t>. </a:t>
            </a:r>
          </a:p>
          <a:p>
            <a:pPr lvl="0"/>
            <a:r>
              <a:rPr lang="en-IN" sz="2400" dirty="0"/>
              <a:t>Confirms that the model fits the data </a:t>
            </a:r>
            <a:r>
              <a:rPr lang="en-IN" sz="2400" b="1" dirty="0"/>
              <a:t>effectively</a:t>
            </a:r>
            <a:endParaRPr lang="en-IN" sz="2400" dirty="0"/>
          </a:p>
        </p:txBody>
      </p:sp>
    </p:spTree>
    <p:extLst>
      <p:ext uri="{BB962C8B-B14F-4D97-AF65-F5344CB8AC3E}">
        <p14:creationId xmlns:p14="http://schemas.microsoft.com/office/powerpoint/2010/main" val="439920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AF9E6FF-2802-0C4B-523D-F48D00DC266D}"/>
              </a:ext>
            </a:extLst>
          </p:cNvPr>
          <p:cNvSpPr>
            <a:spLocks noGrp="1"/>
          </p:cNvSpPr>
          <p:nvPr>
            <p:ph type="body" idx="1"/>
          </p:nvPr>
        </p:nvSpPr>
        <p:spPr>
          <a:xfrm>
            <a:off x="1065228" y="3742441"/>
            <a:ext cx="10288571" cy="2434522"/>
          </a:xfrm>
        </p:spPr>
        <p:txBody>
          <a:bodyPr>
            <a:normAutofit lnSpcReduction="10000"/>
          </a:bodyPr>
          <a:lstStyle/>
          <a:p>
            <a:r>
              <a:rPr lang="en-IN" dirty="0"/>
              <a:t>Climate stripes representing global temperature rise over nearly two centuries . Each vertical bar corresponds to one year’s average temperature (blue=cooler, red=warmer). The graphic vividly shows rapid warming in recent decades, reinforcing the need for effective predictive models. (Source: Ed Hawkins, Univ. Reading)</a:t>
            </a:r>
          </a:p>
          <a:p>
            <a:endParaRPr lang="en-IN" dirty="0"/>
          </a:p>
        </p:txBody>
      </p:sp>
      <p:pic>
        <p:nvPicPr>
          <p:cNvPr id="4" name="image1.png">
            <a:extLst>
              <a:ext uri="{FF2B5EF4-FFF2-40B4-BE49-F238E27FC236}">
                <a16:creationId xmlns:a16="http://schemas.microsoft.com/office/drawing/2014/main" id="{98DAE2E6-F1AA-1FAF-12D0-097775C3E829}"/>
              </a:ext>
            </a:extLst>
          </p:cNvPr>
          <p:cNvPicPr/>
          <p:nvPr/>
        </p:nvPicPr>
        <p:blipFill>
          <a:blip r:embed="rId2"/>
          <a:srcRect/>
          <a:stretch>
            <a:fillRect/>
          </a:stretch>
        </p:blipFill>
        <p:spPr>
          <a:xfrm>
            <a:off x="2903563" y="304482"/>
            <a:ext cx="5404485" cy="3042285"/>
          </a:xfrm>
          <a:prstGeom prst="rect">
            <a:avLst/>
          </a:prstGeom>
          <a:ln/>
        </p:spPr>
      </p:pic>
    </p:spTree>
    <p:extLst>
      <p:ext uri="{BB962C8B-B14F-4D97-AF65-F5344CB8AC3E}">
        <p14:creationId xmlns:p14="http://schemas.microsoft.com/office/powerpoint/2010/main" val="2337725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dirty="0">
                <a:latin typeface="Times New Roman"/>
                <a:ea typeface="Times New Roman"/>
                <a:cs typeface="Times New Roman"/>
                <a:sym typeface="Times New Roman"/>
              </a:rPr>
              <a:t>Discussion / Analysis</a:t>
            </a:r>
            <a:endParaRPr b="1" dirty="0"/>
          </a:p>
        </p:txBody>
      </p:sp>
      <p:sp>
        <p:nvSpPr>
          <p:cNvPr id="3" name="Text Placeholder 2">
            <a:extLst>
              <a:ext uri="{FF2B5EF4-FFF2-40B4-BE49-F238E27FC236}">
                <a16:creationId xmlns:a16="http://schemas.microsoft.com/office/drawing/2014/main" id="{223DB27F-EAA5-F8DC-3C4C-F7525D3970A2}"/>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B7038B0F-71DA-EAF2-E80E-910DF269F614}"/>
              </a:ext>
            </a:extLst>
          </p:cNvPr>
          <p:cNvPicPr>
            <a:picLocks noChangeAspect="1"/>
          </p:cNvPicPr>
          <p:nvPr/>
        </p:nvPicPr>
        <p:blipFill>
          <a:blip r:embed="rId3"/>
          <a:stretch>
            <a:fillRect/>
          </a:stretch>
        </p:blipFill>
        <p:spPr>
          <a:xfrm>
            <a:off x="957262" y="1905000"/>
            <a:ext cx="10277475" cy="304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61E1-9B0E-A4D2-53BA-D5A39FE8A40D}"/>
              </a:ext>
            </a:extLst>
          </p:cNvPr>
          <p:cNvSpPr>
            <a:spLocks noGrp="1"/>
          </p:cNvSpPr>
          <p:nvPr>
            <p:ph type="title"/>
          </p:nvPr>
        </p:nvSpPr>
        <p:spPr>
          <a:xfrm>
            <a:off x="310299" y="0"/>
            <a:ext cx="10515600" cy="1325563"/>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Conclusion</a:t>
            </a:r>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2">
            <a:extLst>
              <a:ext uri="{FF2B5EF4-FFF2-40B4-BE49-F238E27FC236}">
                <a16:creationId xmlns:a16="http://schemas.microsoft.com/office/drawing/2014/main" id="{D9E50457-8E36-6699-5879-3885B248CB90}"/>
              </a:ext>
            </a:extLst>
          </p:cNvPr>
          <p:cNvSpPr>
            <a:spLocks noGrp="1"/>
          </p:cNvSpPr>
          <p:nvPr>
            <p:ph type="body" idx="1"/>
          </p:nvPr>
        </p:nvSpPr>
        <p:spPr>
          <a:xfrm>
            <a:off x="413993" y="1325563"/>
            <a:ext cx="10515600" cy="4351338"/>
          </a:xfrm>
        </p:spPr>
        <p:txBody>
          <a:bodyPr/>
          <a:lstStyle/>
          <a:p>
            <a:r>
              <a:rPr lang="en-IN" dirty="0"/>
              <a:t>This study presented a comprehensive example of using machine learning to predict climate-related variables. We collected (simulated) climate data, applied preprocessing, and built multiple ML models with Python. Gradient Boosting yielded the best predictive metrics (MSE and R²), demonstrating improved performance over a simple linear model. These results support the notion from recent research that data driven methods can enhance climate prediction accuracy.</a:t>
            </a:r>
          </a:p>
          <a:p>
            <a:endParaRPr lang="en-IN" dirty="0"/>
          </a:p>
        </p:txBody>
      </p:sp>
    </p:spTree>
    <p:extLst>
      <p:ext uri="{BB962C8B-B14F-4D97-AF65-F5344CB8AC3E}">
        <p14:creationId xmlns:p14="http://schemas.microsoft.com/office/powerpoint/2010/main" val="3863144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1"/>
          <p:cNvSpPr txBox="1">
            <a:spLocks noGrp="1"/>
          </p:cNvSpPr>
          <p:nvPr>
            <p:ph type="title"/>
          </p:nvPr>
        </p:nvSpPr>
        <p:spPr>
          <a:xfrm>
            <a:off x="187750" y="-9678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IN" sz="4800" b="1" u="sng" dirty="0">
                <a:solidFill>
                  <a:srgbClr val="C00000"/>
                </a:solidFill>
              </a:rPr>
              <a:t>Practical Application </a:t>
            </a:r>
            <a:endParaRPr sz="4800" b="1" u="sng" dirty="0">
              <a:solidFill>
                <a:srgbClr val="C00000"/>
              </a:solidFill>
            </a:endParaRPr>
          </a:p>
        </p:txBody>
      </p:sp>
      <p:sp>
        <p:nvSpPr>
          <p:cNvPr id="225" name="Google Shape;225;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lvl="0" fontAlgn="base"/>
            <a:r>
              <a:rPr lang="en-IN" sz="4400" u="sng" dirty="0">
                <a:solidFill>
                  <a:srgbClr val="0070C0"/>
                </a:solidFill>
              </a:rPr>
              <a:t>Smart Irrigation</a:t>
            </a:r>
          </a:p>
          <a:p>
            <a:pPr lvl="0" fontAlgn="base"/>
            <a:endParaRPr lang="en-IN" sz="4400" u="sng" dirty="0">
              <a:solidFill>
                <a:srgbClr val="0070C0"/>
              </a:solidFill>
            </a:endParaRPr>
          </a:p>
          <a:p>
            <a:pPr lvl="0" fontAlgn="base"/>
            <a:r>
              <a:rPr lang="en-IN" sz="4400" u="sng" dirty="0">
                <a:solidFill>
                  <a:srgbClr val="0070C0"/>
                </a:solidFill>
              </a:rPr>
              <a:t>Disease and Pest Alerts</a:t>
            </a:r>
          </a:p>
          <a:p>
            <a:pPr lvl="0" fontAlgn="base"/>
            <a:endParaRPr lang="en-IN" sz="4400" u="sng" dirty="0">
              <a:solidFill>
                <a:srgbClr val="0070C0"/>
              </a:solidFill>
            </a:endParaRPr>
          </a:p>
          <a:p>
            <a:pPr lvl="0" fontAlgn="base"/>
            <a:r>
              <a:rPr lang="en-IN" sz="4400" u="sng" dirty="0">
                <a:solidFill>
                  <a:srgbClr val="0070C0"/>
                </a:solidFill>
              </a:rPr>
              <a:t>Yield Prediction</a:t>
            </a:r>
          </a:p>
          <a:p>
            <a:pPr lvl="0" fontAlgn="base"/>
            <a:endParaRPr lang="en-IN" sz="4400" u="sng" dirty="0">
              <a:solidFill>
                <a:srgbClr val="0070C0"/>
              </a:solidFill>
            </a:endParaRPr>
          </a:p>
          <a:p>
            <a:pPr lvl="0" fontAlgn="base"/>
            <a:r>
              <a:rPr lang="en-IN" sz="4400" u="sng" dirty="0">
                <a:solidFill>
                  <a:srgbClr val="0070C0"/>
                </a:solidFill>
              </a:rPr>
              <a:t>Crop Selection and Breeding. </a:t>
            </a:r>
          </a:p>
          <a:p>
            <a:pPr marL="457200" lvl="0" indent="-228600" algn="l" rtl="0">
              <a:lnSpc>
                <a:spcPct val="90000"/>
              </a:lnSpc>
              <a:spcBef>
                <a:spcPts val="1000"/>
              </a:spcBef>
              <a:spcAft>
                <a:spcPts val="0"/>
              </a:spcAft>
              <a:buClr>
                <a:schemeClr val="dk1"/>
              </a:buClr>
              <a:buSzPts val="1800"/>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2"/>
          <p:cNvSpPr txBox="1">
            <a:spLocks noGrp="1"/>
          </p:cNvSpPr>
          <p:nvPr>
            <p:ph type="title"/>
          </p:nvPr>
        </p:nvSpPr>
        <p:spPr>
          <a:xfrm>
            <a:off x="609600" y="3048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IN" b="1" u="sng" dirty="0">
                <a:solidFill>
                  <a:srgbClr val="3A7D22"/>
                </a:solidFill>
                <a:latin typeface="Times New Roman"/>
                <a:ea typeface="Times New Roman"/>
                <a:cs typeface="Times New Roman"/>
                <a:sym typeface="Times New Roman"/>
              </a:rPr>
              <a:t>Conclusion</a:t>
            </a:r>
            <a:endParaRPr b="1" u="sng" dirty="0">
              <a:solidFill>
                <a:srgbClr val="3A7D22"/>
              </a:solidFill>
            </a:endParaRPr>
          </a:p>
        </p:txBody>
      </p:sp>
      <p:sp>
        <p:nvSpPr>
          <p:cNvPr id="231" name="Google Shape;23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90000"/>
              </a:lnSpc>
              <a:spcBef>
                <a:spcPts val="1000"/>
              </a:spcBef>
              <a:spcAft>
                <a:spcPts val="0"/>
              </a:spcAft>
              <a:buClr>
                <a:schemeClr val="dk1"/>
              </a:buClr>
              <a:buSzPts val="1800"/>
              <a:buChar char="•"/>
            </a:pPr>
            <a:r>
              <a:rPr lang="en-IN"/>
              <a:t>Data-driven system optimizes irrigation using soil and environmental parameters </a:t>
            </a:r>
            <a:endParaRPr/>
          </a:p>
          <a:p>
            <a:pPr marL="457200" lvl="0" indent="-342900" algn="l" rtl="0">
              <a:lnSpc>
                <a:spcPct val="90000"/>
              </a:lnSpc>
              <a:spcBef>
                <a:spcPts val="1000"/>
              </a:spcBef>
              <a:spcAft>
                <a:spcPts val="0"/>
              </a:spcAft>
              <a:buClr>
                <a:schemeClr val="dk1"/>
              </a:buClr>
              <a:buSzPts val="1800"/>
              <a:buChar char="•"/>
            </a:pPr>
            <a:r>
              <a:rPr lang="en-IN"/>
              <a:t>Accurately predicts water requirements, reducing wastage and improving yield</a:t>
            </a:r>
            <a:endParaRPr/>
          </a:p>
          <a:p>
            <a:pPr marL="457200" lvl="0" indent="-342900" algn="l" rtl="0">
              <a:lnSpc>
                <a:spcPct val="90000"/>
              </a:lnSpc>
              <a:spcBef>
                <a:spcPts val="1000"/>
              </a:spcBef>
              <a:spcAft>
                <a:spcPts val="0"/>
              </a:spcAft>
              <a:buClr>
                <a:schemeClr val="dk1"/>
              </a:buClr>
              <a:buSzPts val="1800"/>
              <a:buChar char="•"/>
            </a:pPr>
            <a:r>
              <a:rPr lang="en-IN"/>
              <a:t> Linear Regression performed best, indicating a strong linear relationship </a:t>
            </a:r>
            <a:endParaRPr/>
          </a:p>
          <a:p>
            <a:pPr marL="457200" lvl="0" indent="-342900" algn="l" rtl="0">
              <a:lnSpc>
                <a:spcPct val="90000"/>
              </a:lnSpc>
              <a:spcBef>
                <a:spcPts val="1000"/>
              </a:spcBef>
              <a:spcAft>
                <a:spcPts val="0"/>
              </a:spcAft>
              <a:buClr>
                <a:schemeClr val="dk1"/>
              </a:buClr>
              <a:buSzPts val="1800"/>
              <a:buChar char="•"/>
            </a:pPr>
            <a:r>
              <a:rPr lang="en-IN"/>
              <a:t>Enables automation with minimal human intervention and real-time decisions</a:t>
            </a:r>
            <a:endParaRPr/>
          </a:p>
          <a:p>
            <a:pPr marL="457200" lvl="0" indent="-342900" algn="l" rtl="0">
              <a:lnSpc>
                <a:spcPct val="90000"/>
              </a:lnSpc>
              <a:spcBef>
                <a:spcPts val="1000"/>
              </a:spcBef>
              <a:spcAft>
                <a:spcPts val="0"/>
              </a:spcAft>
              <a:buClr>
                <a:schemeClr val="dk1"/>
              </a:buClr>
              <a:buSzPts val="1800"/>
              <a:buChar char="•"/>
            </a:pPr>
            <a:r>
              <a:rPr lang="en-IN"/>
              <a:t> Cost-effective solution supporting sustainable and efficient agriculture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3"/>
          <p:cNvSpPr txBox="1">
            <a:spLocks noGrp="1"/>
          </p:cNvSpPr>
          <p:nvPr>
            <p:ph type="title"/>
          </p:nvPr>
        </p:nvSpPr>
        <p:spPr>
          <a:xfrm>
            <a:off x="291445" y="13559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IN" b="1" u="sng" dirty="0">
                <a:solidFill>
                  <a:schemeClr val="accent4"/>
                </a:solidFill>
                <a:latin typeface="Times New Roman"/>
                <a:ea typeface="Times New Roman"/>
                <a:cs typeface="Times New Roman"/>
                <a:sym typeface="Times New Roman"/>
              </a:rPr>
              <a:t>References</a:t>
            </a:r>
            <a:endParaRPr b="1" u="sng" dirty="0">
              <a:solidFill>
                <a:schemeClr val="accent4"/>
              </a:solidFill>
            </a:endParaRPr>
          </a:p>
        </p:txBody>
      </p:sp>
      <p:sp>
        <p:nvSpPr>
          <p:cNvPr id="237" name="Google Shape;237;p23"/>
          <p:cNvSpPr txBox="1">
            <a:spLocks noGrp="1"/>
          </p:cNvSpPr>
          <p:nvPr>
            <p:ph type="body" idx="1"/>
          </p:nvPr>
        </p:nvSpPr>
        <p:spPr>
          <a:xfrm>
            <a:off x="763571" y="1461155"/>
            <a:ext cx="10590229" cy="4715808"/>
          </a:xfrm>
          <a:prstGeom prst="rect">
            <a:avLst/>
          </a:prstGeom>
          <a:noFill/>
          <a:ln>
            <a:noFill/>
          </a:ln>
        </p:spPr>
        <p:txBody>
          <a:bodyPr spcFirstLastPara="1" wrap="square" lIns="91425" tIns="45700" rIns="91425" bIns="45700" anchor="t" anchorCtr="0">
            <a:normAutofit fontScale="92500" lnSpcReduction="20000"/>
          </a:bodyPr>
          <a:lstStyle/>
          <a:p>
            <a:pPr lvl="0" fontAlgn="base"/>
            <a:r>
              <a:rPr lang="en-IN" dirty="0" err="1"/>
              <a:t>Sevgin</a:t>
            </a:r>
            <a:r>
              <a:rPr lang="en-IN" dirty="0"/>
              <a:t>, F., “Machine Learning-Based Temperature Forecasting for Sustainable Climate Change Adaptation and Mitigation,” </a:t>
            </a:r>
            <a:r>
              <a:rPr lang="en-IN" b="1" dirty="0"/>
              <a:t>Sustainability</a:t>
            </a:r>
            <a:r>
              <a:rPr lang="en-IN" dirty="0"/>
              <a:t>, vol. 17, no. 5, 2025, doi:10.3390/su17051812. </a:t>
            </a:r>
          </a:p>
          <a:p>
            <a:pPr lvl="0" fontAlgn="base"/>
            <a:r>
              <a:rPr lang="en-IN" dirty="0"/>
              <a:t>Setiawan, K. E., H. A. </a:t>
            </a:r>
            <a:r>
              <a:rPr lang="en-IN" dirty="0" err="1"/>
              <a:t>Shiddiqi</a:t>
            </a:r>
            <a:r>
              <a:rPr lang="en-IN" dirty="0"/>
              <a:t>, and P. </a:t>
            </a:r>
            <a:r>
              <a:rPr lang="en-IN" dirty="0" err="1"/>
              <a:t>Wicaksono</a:t>
            </a:r>
            <a:r>
              <a:rPr lang="en-IN" dirty="0"/>
              <a:t>, “Multi-output machine learning regression for climate prediction: a comparative study...,” </a:t>
            </a:r>
            <a:r>
              <a:rPr lang="en-IN" b="1" dirty="0"/>
              <a:t>Commun. Math. Biol. </a:t>
            </a:r>
            <a:r>
              <a:rPr lang="en-IN" b="1" dirty="0" err="1"/>
              <a:t>Neurosci</a:t>
            </a:r>
            <a:r>
              <a:rPr lang="en-IN" b="1" dirty="0"/>
              <a:t>.</a:t>
            </a:r>
            <a:r>
              <a:rPr lang="en-IN" dirty="0"/>
              <a:t>, vol. 2024, Article ID 97, 2024. </a:t>
            </a:r>
          </a:p>
          <a:p>
            <a:pPr lvl="0" fontAlgn="base"/>
            <a:r>
              <a:rPr lang="en-IN" dirty="0"/>
              <a:t>Bhadra, M., “Climate Change Dataset,” Kaggle Data, 2023. [Online]. Available: https://www.kaggle.com/datasets/bhadramohit/climate-change-dataset </a:t>
            </a:r>
          </a:p>
          <a:p>
            <a:pPr lvl="0" fontAlgn="base"/>
            <a:r>
              <a:rPr lang="en-IN" dirty="0"/>
              <a:t>IPCC, “Climate Change 2021: The Physical Science Basis,” Intergovernmental Panel on Climate Change, 2021. (Illustrates climate trends and </a:t>
            </a:r>
            <a:r>
              <a:rPr lang="en-IN" dirty="0" err="1"/>
              <a:t>modeling</a:t>
            </a:r>
            <a:r>
              <a:rPr lang="en-IN" dirty="0"/>
              <a:t> techniques.) </a:t>
            </a:r>
          </a:p>
          <a:p>
            <a:pPr marL="114300" lvl="0" indent="0" algn="l" rtl="0">
              <a:lnSpc>
                <a:spcPct val="90000"/>
              </a:lnSpc>
              <a:spcBef>
                <a:spcPts val="1000"/>
              </a:spcBef>
              <a:spcAft>
                <a:spcPts val="0"/>
              </a:spcAft>
              <a:buSzPct val="102857"/>
              <a:buNone/>
            </a:pPr>
            <a:endParaRPr dirty="0"/>
          </a:p>
          <a:p>
            <a:pPr marL="457200" lvl="0" indent="-228600" algn="l" rtl="0">
              <a:lnSpc>
                <a:spcPct val="90000"/>
              </a:lnSpc>
              <a:spcBef>
                <a:spcPts val="1000"/>
              </a:spcBef>
              <a:spcAft>
                <a:spcPts val="0"/>
              </a:spcAft>
              <a:buClr>
                <a:schemeClr val="dk1"/>
              </a:buClr>
              <a:buSzPct val="102857"/>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1026" name="Picture 2" descr="Robotic Hands Sharing Thank You Note in Futuristic Scene Stock Illustration  - Illustration of robot, user: 358335649">
            <a:extLst>
              <a:ext uri="{FF2B5EF4-FFF2-40B4-BE49-F238E27FC236}">
                <a16:creationId xmlns:a16="http://schemas.microsoft.com/office/drawing/2014/main" id="{167936DB-69E4-80A8-F503-D00525890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35" y="64416"/>
            <a:ext cx="11924907" cy="69507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obotic Hands Sharing Thank You Note in Futuristic Scene Stock Illustration  - Illustration of robot, user: 358335649">
            <a:extLst>
              <a:ext uri="{FF2B5EF4-FFF2-40B4-BE49-F238E27FC236}">
                <a16:creationId xmlns:a16="http://schemas.microsoft.com/office/drawing/2014/main" id="{A3260927-4DD3-25A9-12F3-909E4DF84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35" y="216816"/>
            <a:ext cx="11924907" cy="69507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1170</Words>
  <Application>Microsoft Office PowerPoint</Application>
  <PresentationFormat>Widescreen</PresentationFormat>
  <Paragraphs>100</Paragraphs>
  <Slides>19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Algerian</vt:lpstr>
      <vt:lpstr>Wingdings</vt:lpstr>
      <vt:lpstr>Narkisim</vt:lpstr>
      <vt:lpstr>Times New Roman</vt:lpstr>
      <vt:lpstr>Arial</vt:lpstr>
      <vt:lpstr>Play</vt:lpstr>
      <vt:lpstr>Open Sans</vt:lpstr>
      <vt:lpstr>Office Theme</vt:lpstr>
      <vt:lpstr>Climate change analysis anf prediction using machine learninng</vt:lpstr>
      <vt:lpstr>Content</vt:lpstr>
      <vt:lpstr>Introduction</vt:lpstr>
      <vt:lpstr>Problem Statement </vt:lpstr>
      <vt:lpstr>Motivation</vt:lpstr>
      <vt:lpstr>Objectives</vt:lpstr>
      <vt:lpstr>Dataset Overview</vt:lpstr>
      <vt:lpstr>Dataset</vt:lpstr>
      <vt:lpstr>Methodology / Approach</vt:lpstr>
      <vt:lpstr>Tools and Technologies Used</vt:lpstr>
      <vt:lpstr>    Results   Actual vs Predicted (Linear Regression) Points lie close to the diagonal line, indicating good prediction accuracy.  Small deviations show minor prediction errors due to noise.  Confirms that the model fits the data effectively </vt:lpstr>
      <vt:lpstr>PowerPoint Presentation</vt:lpstr>
      <vt:lpstr>PowerPoint Presentation</vt:lpstr>
      <vt:lpstr>Discussion / Analysis</vt:lpstr>
      <vt:lpstr>Conclusion</vt:lpstr>
      <vt:lpstr>Practical Application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Rahul</dc:creator>
  <cp:lastModifiedBy>Rahul H A</cp:lastModifiedBy>
  <cp:revision>3</cp:revision>
  <dcterms:modified xsi:type="dcterms:W3CDTF">2026-04-16T13:38:02Z</dcterms:modified>
</cp:coreProperties>
</file>