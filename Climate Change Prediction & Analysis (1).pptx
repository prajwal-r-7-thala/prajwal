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331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494D5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331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494D5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331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331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8121" y="882083"/>
            <a:ext cx="141577" cy="881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04026" y="995386"/>
            <a:ext cx="5028617" cy="706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331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34829" y="2479816"/>
            <a:ext cx="16480155" cy="756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494D5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png"/><Relationship Id="rId7" Type="http://schemas.openxmlformats.org/officeDocument/2006/relationships/image" Target="../media/image19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25.jp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46.jpg"/><Relationship Id="rId7" Type="http://schemas.openxmlformats.org/officeDocument/2006/relationships/image" Target="../media/image47.jpg"/><Relationship Id="rId8" Type="http://schemas.openxmlformats.org/officeDocument/2006/relationships/image" Target="../media/image48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pn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54.jpg"/><Relationship Id="rId8" Type="http://schemas.openxmlformats.org/officeDocument/2006/relationships/image" Target="../media/image55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jpg"/><Relationship Id="rId3" Type="http://schemas.openxmlformats.org/officeDocument/2006/relationships/image" Target="../media/image57.jpg"/><Relationship Id="rId4" Type="http://schemas.openxmlformats.org/officeDocument/2006/relationships/image" Target="../media/image58.jpg"/><Relationship Id="rId5" Type="http://schemas.openxmlformats.org/officeDocument/2006/relationships/image" Target="../media/image59.jpg"/><Relationship Id="rId6" Type="http://schemas.openxmlformats.org/officeDocument/2006/relationships/image" Target="../media/image60.jpg"/><Relationship Id="rId7" Type="http://schemas.openxmlformats.org/officeDocument/2006/relationships/image" Target="../media/image61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jpg"/><Relationship Id="rId3" Type="http://schemas.openxmlformats.org/officeDocument/2006/relationships/image" Target="../media/image63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Relationship Id="rId6" Type="http://schemas.openxmlformats.org/officeDocument/2006/relationships/image" Target="../media/image66.jpg"/><Relationship Id="rId7" Type="http://schemas.openxmlformats.org/officeDocument/2006/relationships/image" Target="../media/image67.jpg"/><Relationship Id="rId8" Type="http://schemas.openxmlformats.org/officeDocument/2006/relationships/image" Target="../media/image68.jpg"/><Relationship Id="rId9" Type="http://schemas.openxmlformats.org/officeDocument/2006/relationships/image" Target="../media/image69.jpg"/><Relationship Id="rId10" Type="http://schemas.openxmlformats.org/officeDocument/2006/relationships/hyperlink" Target="https://www.clipartmax.com/png/middle/285-2853046_by-http-myexamportal-university-of-agricultural-sciences-bangalore-logo.png" TargetMode="External"/><Relationship Id="rId11" Type="http://schemas.openxmlformats.org/officeDocument/2006/relationships/hyperlink" Target="http://www.clipartmax.com/" TargetMode="External"/><Relationship Id="rId12" Type="http://schemas.openxmlformats.org/officeDocument/2006/relationships/hyperlink" Target="https://png.pngtree.com/png-vector/20250321/ourlarge/pngtree-earth-divided-a-visual-representation-of-climate-change-png-image_l5821773.png" TargetMode="External"/><Relationship Id="rId13" Type="http://schemas.openxmlformats.org/officeDocument/2006/relationships/hyperlink" Target="https://berkeley-earth-wp-offload.storage.googleapis.com/wp-content/uploads/2026/01/13155613/2025-Time-Series.png" TargetMode="External"/><Relationship Id="rId14" Type="http://schemas.openxmlformats.org/officeDocument/2006/relationships/hyperlink" Target="https://www.anernstore.com/cdn/shop/articles/Solar_panels_powering_a_drip_irrigation_system_in.png?v=1755070975&amp;width=1200" TargetMode="External"/><Relationship Id="rId15" Type="http://schemas.openxmlformats.org/officeDocument/2006/relationships/hyperlink" Target="http://www.anernstore.com/" TargetMode="External"/><Relationship Id="rId16" Type="http://schemas.openxmlformats.org/officeDocument/2006/relationships/hyperlink" Target="https://storage.googleapis.com/gweb-uniblog-publish-prod/images/Px0_15l_socialv2.width-1300.png" TargetMode="External"/><Relationship Id="rId17" Type="http://schemas.openxmlformats.org/officeDocument/2006/relationships/hyperlink" Target="https://png.pngtree.com/thumb_back/fh260/background/20241224/pngtree-lush-green-field-with-majestic-mountain-landscape-in-the-background-capturing-image_l685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jpg"/><Relationship Id="rId3" Type="http://schemas.openxmlformats.org/officeDocument/2006/relationships/image" Target="../media/image63.jpg"/><Relationship Id="rId4" Type="http://schemas.openxmlformats.org/officeDocument/2006/relationships/image" Target="../media/image7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1440" y="1401836"/>
            <a:ext cx="1116891" cy="11182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57403" y="3307579"/>
            <a:ext cx="597773" cy="7874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8100" y="3244581"/>
            <a:ext cx="3130443" cy="8504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31698" y="3244581"/>
            <a:ext cx="5584458" cy="21892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324047" y="3370577"/>
            <a:ext cx="2863018" cy="72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454491" y="3307579"/>
            <a:ext cx="723619" cy="78749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03767" y="4599075"/>
            <a:ext cx="440464" cy="59849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899073" y="7630939"/>
            <a:ext cx="8337550" cy="0"/>
          </a:xfrm>
          <a:custGeom>
            <a:avLst/>
            <a:gdLst/>
            <a:ahLst/>
            <a:cxnLst/>
            <a:rect l="l" t="t" r="r" b="b"/>
            <a:pathLst>
              <a:path w="8337550" h="0">
                <a:moveTo>
                  <a:pt x="0" y="0"/>
                </a:moveTo>
                <a:lnTo>
                  <a:pt x="8337356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3976522" y="2972004"/>
            <a:ext cx="251460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150" b="0">
                <a:latin typeface="Arial"/>
                <a:cs typeface="Arial"/>
              </a:rPr>
              <a:t>•</a:t>
            </a:r>
          </a:p>
        </p:txBody>
      </p:sp>
      <p:sp>
        <p:nvSpPr>
          <p:cNvPr id="11" name="object 11"/>
          <p:cNvSpPr/>
          <p:nvPr/>
        </p:nvSpPr>
        <p:spPr>
          <a:xfrm>
            <a:off x="12830091" y="3411149"/>
            <a:ext cx="220345" cy="763905"/>
          </a:xfrm>
          <a:custGeom>
            <a:avLst/>
            <a:gdLst/>
            <a:ahLst/>
            <a:cxnLst/>
            <a:rect l="l" t="t" r="r" b="b"/>
            <a:pathLst>
              <a:path w="220344" h="763904">
                <a:moveTo>
                  <a:pt x="220232" y="763288"/>
                </a:moveTo>
                <a:lnTo>
                  <a:pt x="0" y="763288"/>
                </a:lnTo>
                <a:lnTo>
                  <a:pt x="0" y="0"/>
                </a:lnTo>
                <a:lnTo>
                  <a:pt x="220232" y="0"/>
                </a:lnTo>
                <a:lnTo>
                  <a:pt x="220232" y="763288"/>
                </a:lnTo>
                <a:close/>
              </a:path>
            </a:pathLst>
          </a:custGeom>
          <a:solidFill>
            <a:srgbClr val="0331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817399" y="3420877"/>
            <a:ext cx="24066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140">
                <a:solidFill>
                  <a:srgbClr val="FBFBEF"/>
                </a:solidFill>
                <a:latin typeface="Times New Roman"/>
                <a:cs typeface="Times New Roman"/>
              </a:rPr>
              <a:t>I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36390" y="2972004"/>
            <a:ext cx="152590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286510" algn="l"/>
              </a:tabLst>
            </a:pPr>
            <a:r>
              <a:rPr dirty="0" sz="4450" spc="15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r>
              <a:rPr dirty="0" sz="4450">
                <a:solidFill>
                  <a:srgbClr val="033160"/>
                </a:solidFill>
                <a:latin typeface="Arial"/>
                <a:cs typeface="Arial"/>
              </a:rPr>
              <a:t>	</a:t>
            </a:r>
            <a:r>
              <a:rPr dirty="0" sz="4450" spc="15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30589" y="4074500"/>
            <a:ext cx="12047855" cy="221361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 marL="2867025">
              <a:lnSpc>
                <a:spcPct val="100000"/>
              </a:lnSpc>
              <a:spcBef>
                <a:spcPts val="115"/>
              </a:spcBef>
            </a:pPr>
            <a:r>
              <a:rPr dirty="0" sz="4450" spc="15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30"/>
              </a:spcBef>
            </a:pPr>
            <a:endParaRPr sz="4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350">
                <a:solidFill>
                  <a:srgbClr val="343F4D"/>
                </a:solidFill>
                <a:latin typeface="Arial"/>
                <a:cs typeface="Arial"/>
              </a:rPr>
              <a:t>Leveraging</a:t>
            </a:r>
            <a:r>
              <a:rPr dirty="0" sz="3350" spc="2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3350" spc="100">
                <a:solidFill>
                  <a:srgbClr val="343F4D"/>
                </a:solidFill>
                <a:latin typeface="Arial"/>
                <a:cs typeface="Arial"/>
              </a:rPr>
              <a:t>Machine</a:t>
            </a:r>
            <a:r>
              <a:rPr dirty="0" sz="3350" spc="15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3350" spc="60">
                <a:solidFill>
                  <a:srgbClr val="343F4D"/>
                </a:solidFill>
                <a:latin typeface="Arial"/>
                <a:cs typeface="Arial"/>
              </a:rPr>
              <a:t>Learning</a:t>
            </a:r>
            <a:r>
              <a:rPr dirty="0" sz="3350" spc="1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3350" spc="65">
                <a:solidFill>
                  <a:srgbClr val="343F4D"/>
                </a:solidFill>
                <a:latin typeface="Arial"/>
                <a:cs typeface="Arial"/>
              </a:rPr>
              <a:t>for</a:t>
            </a:r>
            <a:r>
              <a:rPr dirty="0" sz="3350" spc="37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3350" spc="75">
                <a:solidFill>
                  <a:srgbClr val="343F4D"/>
                </a:solidFill>
                <a:latin typeface="Arial"/>
                <a:cs typeface="Arial"/>
              </a:rPr>
              <a:t>Environmental</a:t>
            </a:r>
            <a:r>
              <a:rPr dirty="0" sz="3350" spc="305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3350" spc="60">
                <a:solidFill>
                  <a:srgbClr val="343F4D"/>
                </a:solidFill>
                <a:latin typeface="Arial"/>
                <a:cs typeface="Arial"/>
              </a:rPr>
              <a:t>Forecasting</a:t>
            </a:r>
            <a:endParaRPr sz="33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87866" y="8330926"/>
            <a:ext cx="8343900" cy="12141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135"/>
              </a:spcBef>
            </a:pPr>
            <a:r>
              <a:rPr dirty="0" sz="2350" b="1">
                <a:solidFill>
                  <a:srgbClr val="343F4D"/>
                </a:solidFill>
                <a:latin typeface="Arial"/>
                <a:cs typeface="Arial"/>
              </a:rPr>
              <a:t>Authors:</a:t>
            </a:r>
            <a:r>
              <a:rPr dirty="0" sz="2350" spc="35" b="1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2300" spc="105">
                <a:solidFill>
                  <a:srgbClr val="343F4D"/>
                </a:solidFill>
                <a:latin typeface="Arial"/>
                <a:cs typeface="Arial"/>
              </a:rPr>
              <a:t>Nikhil</a:t>
            </a:r>
            <a:r>
              <a:rPr dirty="0" sz="2300" spc="-8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2300" spc="170">
                <a:solidFill>
                  <a:srgbClr val="343F4D"/>
                </a:solidFill>
                <a:latin typeface="Arial"/>
                <a:cs typeface="Arial"/>
              </a:rPr>
              <a:t>Gowda</a:t>
            </a:r>
            <a:r>
              <a:rPr dirty="0" sz="2300" spc="6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2300" spc="55">
                <a:solidFill>
                  <a:srgbClr val="343F4D"/>
                </a:solidFill>
                <a:latin typeface="Arial"/>
                <a:cs typeface="Arial"/>
              </a:rPr>
              <a:t>HL,</a:t>
            </a:r>
            <a:r>
              <a:rPr dirty="0" sz="2300" spc="-114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2300" spc="180">
                <a:solidFill>
                  <a:srgbClr val="343F4D"/>
                </a:solidFill>
                <a:latin typeface="Arial"/>
                <a:cs typeface="Arial"/>
              </a:rPr>
              <a:t>Nithin</a:t>
            </a:r>
            <a:r>
              <a:rPr dirty="0" sz="2300" spc="-165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2300" spc="-45">
                <a:solidFill>
                  <a:srgbClr val="343F4D"/>
                </a:solidFill>
                <a:latin typeface="Arial"/>
                <a:cs typeface="Arial"/>
              </a:rPr>
              <a:t>D,</a:t>
            </a:r>
            <a:r>
              <a:rPr dirty="0" sz="2300" spc="-105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2300" spc="70">
                <a:solidFill>
                  <a:srgbClr val="343F4D"/>
                </a:solidFill>
                <a:latin typeface="Arial"/>
                <a:cs typeface="Arial"/>
              </a:rPr>
              <a:t>Prajwal</a:t>
            </a:r>
            <a:r>
              <a:rPr dirty="0" sz="2300" spc="25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2300" spc="-50">
                <a:solidFill>
                  <a:srgbClr val="343F4D"/>
                </a:solidFill>
                <a:latin typeface="Arial"/>
                <a:cs typeface="Arial"/>
              </a:rPr>
              <a:t>R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2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350" spc="155" b="1">
                <a:solidFill>
                  <a:srgbClr val="343F4D"/>
                </a:solidFill>
                <a:latin typeface="Arial"/>
                <a:cs typeface="Arial"/>
              </a:rPr>
              <a:t>Department</a:t>
            </a:r>
            <a:r>
              <a:rPr dirty="0" sz="2350" spc="145" b="1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2350" b="1">
                <a:solidFill>
                  <a:srgbClr val="343F4D"/>
                </a:solidFill>
                <a:latin typeface="Arial"/>
                <a:cs typeface="Arial"/>
              </a:rPr>
              <a:t>of</a:t>
            </a:r>
            <a:r>
              <a:rPr dirty="0" sz="2350" spc="90" b="1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2350" spc="50" b="1">
                <a:solidFill>
                  <a:srgbClr val="343F4D"/>
                </a:solidFill>
                <a:latin typeface="Arial"/>
                <a:cs typeface="Arial"/>
              </a:rPr>
              <a:t>Agricultural</a:t>
            </a:r>
            <a:r>
              <a:rPr dirty="0" sz="2350" spc="175" b="1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2350" spc="100" b="1">
                <a:solidFill>
                  <a:srgbClr val="343F4D"/>
                </a:solidFill>
                <a:latin typeface="Arial"/>
                <a:cs typeface="Arial"/>
              </a:rPr>
              <a:t>Statistics</a:t>
            </a:r>
            <a:r>
              <a:rPr dirty="0" sz="2350" spc="85" b="1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2600" spc="55">
                <a:solidFill>
                  <a:srgbClr val="343F4D"/>
                </a:solidFill>
                <a:latin typeface="Arial"/>
                <a:cs typeface="Arial"/>
              </a:rPr>
              <a:t>I</a:t>
            </a:r>
            <a:r>
              <a:rPr dirty="0" sz="2600" spc="-21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343F4D"/>
                </a:solidFill>
                <a:latin typeface="Arial"/>
                <a:cs typeface="Arial"/>
              </a:rPr>
              <a:t>GKVK,</a:t>
            </a:r>
            <a:r>
              <a:rPr dirty="0" sz="2300" spc="-85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dirty="0" sz="2300" spc="50">
                <a:solidFill>
                  <a:srgbClr val="343F4D"/>
                </a:solidFill>
                <a:latin typeface="Arial"/>
                <a:cs typeface="Arial"/>
              </a:rPr>
              <a:t>Bangalore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316" y="1039586"/>
            <a:ext cx="424733" cy="5512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83250" y="1039586"/>
            <a:ext cx="487656" cy="535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1766" y="1008087"/>
            <a:ext cx="440464" cy="56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23808" y="1008087"/>
            <a:ext cx="2894479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3852" y="2709082"/>
            <a:ext cx="7078891" cy="708748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804026" y="995386"/>
            <a:ext cx="3897629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764030" algn="l"/>
              </a:tabLst>
            </a:pPr>
            <a:r>
              <a:rPr dirty="0" spc="155">
                <a:solidFill>
                  <a:srgbClr val="082F5B"/>
                </a:solidFill>
                <a:latin typeface="Courier New"/>
                <a:cs typeface="Courier New"/>
              </a:rPr>
              <a:t>ore</a:t>
            </a:r>
            <a:r>
              <a:rPr dirty="0">
                <a:solidFill>
                  <a:srgbClr val="082F5B"/>
                </a:solidFill>
                <a:latin typeface="Courier New"/>
                <a:cs typeface="Courier New"/>
              </a:rPr>
              <a:t>	</a:t>
            </a:r>
            <a:r>
              <a:rPr dirty="0" spc="90">
                <a:solidFill>
                  <a:srgbClr val="082F5B"/>
                </a:solidFill>
                <a:latin typeface="Courier New"/>
                <a:cs typeface="Courier New"/>
              </a:rPr>
              <a:t>esearc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516563" y="3574439"/>
            <a:ext cx="8477885" cy="4910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65" b="1">
                <a:solidFill>
                  <a:srgbClr val="082F5B"/>
                </a:solidFill>
                <a:latin typeface="Times New Roman"/>
                <a:cs typeface="Times New Roman"/>
              </a:rPr>
              <a:t>A</a:t>
            </a:r>
            <a:r>
              <a:rPr dirty="0" sz="2550" spc="-190" b="1">
                <a:solidFill>
                  <a:srgbClr val="082F5B"/>
                </a:solidFill>
                <a:latin typeface="Times New Roman"/>
                <a:cs typeface="Times New Roman"/>
              </a:rPr>
              <a:t> </a:t>
            </a:r>
            <a:r>
              <a:rPr dirty="0" sz="2550" b="1">
                <a:solidFill>
                  <a:srgbClr val="082F5B"/>
                </a:solidFill>
                <a:latin typeface="Times New Roman"/>
                <a:cs typeface="Times New Roman"/>
              </a:rPr>
              <a:t>Data-Driven</a:t>
            </a:r>
            <a:r>
              <a:rPr dirty="0" sz="2550" spc="45" b="1">
                <a:solidFill>
                  <a:srgbClr val="082F5B"/>
                </a:solidFill>
                <a:latin typeface="Times New Roman"/>
                <a:cs typeface="Times New Roman"/>
              </a:rPr>
              <a:t> </a:t>
            </a:r>
            <a:r>
              <a:rPr dirty="0" sz="2550" spc="40" b="1">
                <a:solidFill>
                  <a:srgbClr val="082F5B"/>
                </a:solidFill>
                <a:latin typeface="Times New Roman"/>
                <a:cs typeface="Times New Roman"/>
              </a:rPr>
              <a:t>Perspective</a:t>
            </a:r>
            <a:endParaRPr sz="2550">
              <a:latin typeface="Times New Roman"/>
              <a:cs typeface="Times New Roman"/>
            </a:endParaRPr>
          </a:p>
          <a:p>
            <a:pPr marL="15875" marR="5080" indent="-1270">
              <a:lnSpc>
                <a:spcPct val="137800"/>
              </a:lnSpc>
              <a:spcBef>
                <a:spcPts val="2020"/>
              </a:spcBef>
            </a:pPr>
            <a:r>
              <a:rPr dirty="0" sz="2400" spc="85">
                <a:solidFill>
                  <a:srgbClr val="343F4B"/>
                </a:solidFill>
                <a:latin typeface="Arial"/>
                <a:cs typeface="Arial"/>
              </a:rPr>
              <a:t>Climate</a:t>
            </a:r>
            <a:r>
              <a:rPr dirty="0" sz="2400" spc="-6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343F4B"/>
                </a:solidFill>
                <a:latin typeface="Arial"/>
                <a:cs typeface="Arial"/>
              </a:rPr>
              <a:t>change</a:t>
            </a:r>
            <a:r>
              <a:rPr dirty="0" sz="2400" spc="-5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85">
                <a:solidFill>
                  <a:srgbClr val="343F4B"/>
                </a:solidFill>
                <a:latin typeface="Arial"/>
                <a:cs typeface="Arial"/>
              </a:rPr>
              <a:t>poses</a:t>
            </a:r>
            <a:r>
              <a:rPr dirty="0" sz="2400" spc="2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65">
                <a:solidFill>
                  <a:srgbClr val="343F4B"/>
                </a:solidFill>
                <a:latin typeface="Arial"/>
                <a:cs typeface="Arial"/>
              </a:rPr>
              <a:t>a</a:t>
            </a:r>
            <a:r>
              <a:rPr dirty="0" sz="2400" spc="-10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105">
                <a:solidFill>
                  <a:srgbClr val="343F4B"/>
                </a:solidFill>
                <a:latin typeface="Arial"/>
                <a:cs typeface="Arial"/>
              </a:rPr>
              <a:t>critical</a:t>
            </a:r>
            <a:r>
              <a:rPr dirty="0" sz="2400" spc="-2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105">
                <a:solidFill>
                  <a:srgbClr val="343F4B"/>
                </a:solidFill>
                <a:latin typeface="Arial"/>
                <a:cs typeface="Arial"/>
              </a:rPr>
              <a:t>threat</a:t>
            </a:r>
            <a:r>
              <a:rPr dirty="0" sz="2400" spc="18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105">
                <a:solidFill>
                  <a:srgbClr val="343F4B"/>
                </a:solidFill>
                <a:latin typeface="Arial"/>
                <a:cs typeface="Arial"/>
              </a:rPr>
              <a:t>to</a:t>
            </a:r>
            <a:r>
              <a:rPr dirty="0" sz="2400" spc="16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65">
                <a:solidFill>
                  <a:srgbClr val="343F4B"/>
                </a:solidFill>
                <a:latin typeface="Arial"/>
                <a:cs typeface="Arial"/>
              </a:rPr>
              <a:t>ecosystems.</a:t>
            </a:r>
            <a:r>
              <a:rPr dirty="0" sz="2400" spc="3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343F4B"/>
                </a:solidFill>
                <a:latin typeface="Arial"/>
                <a:cs typeface="Arial"/>
              </a:rPr>
              <a:t>This </a:t>
            </a:r>
            <a:r>
              <a:rPr dirty="0" sz="2400" spc="145">
                <a:solidFill>
                  <a:srgbClr val="343F4B"/>
                </a:solidFill>
                <a:latin typeface="Arial"/>
                <a:cs typeface="Arial"/>
              </a:rPr>
              <a:t>study</a:t>
            </a:r>
            <a:r>
              <a:rPr dirty="0" sz="2400" spc="3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43F4B"/>
                </a:solidFill>
                <a:latin typeface="Arial"/>
                <a:cs typeface="Arial"/>
              </a:rPr>
              <a:t>leverages</a:t>
            </a:r>
            <a:r>
              <a:rPr dirty="0" sz="2400" spc="7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343F4B"/>
                </a:solidFill>
                <a:latin typeface="Arial"/>
                <a:cs typeface="Arial"/>
              </a:rPr>
              <a:t>ML</a:t>
            </a:r>
            <a:r>
              <a:rPr dirty="0" sz="2400" spc="7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80">
                <a:solidFill>
                  <a:srgbClr val="343F4B"/>
                </a:solidFill>
                <a:latin typeface="Arial"/>
                <a:cs typeface="Arial"/>
              </a:rPr>
              <a:t>techniques</a:t>
            </a:r>
            <a:r>
              <a:rPr dirty="0" sz="2400" spc="22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65">
                <a:solidFill>
                  <a:srgbClr val="343F4B"/>
                </a:solidFill>
                <a:latin typeface="Arial"/>
                <a:cs typeface="Arial"/>
              </a:rPr>
              <a:t>including</a:t>
            </a:r>
            <a:r>
              <a:rPr dirty="0" sz="2400" spc="-7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343F4B"/>
                </a:solidFill>
                <a:latin typeface="Arial"/>
                <a:cs typeface="Arial"/>
              </a:rPr>
              <a:t>Linear </a:t>
            </a:r>
            <a:r>
              <a:rPr dirty="0" sz="2400" b="1">
                <a:solidFill>
                  <a:srgbClr val="343F4B"/>
                </a:solidFill>
                <a:latin typeface="Arial"/>
                <a:cs typeface="Arial"/>
              </a:rPr>
              <a:t>Regression,</a:t>
            </a:r>
            <a:r>
              <a:rPr dirty="0" sz="2400" spc="95" b="1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343F4B"/>
                </a:solidFill>
                <a:latin typeface="Arial"/>
                <a:cs typeface="Arial"/>
              </a:rPr>
              <a:t>Random</a:t>
            </a:r>
            <a:r>
              <a:rPr dirty="0" sz="2400" spc="120" b="1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343F4B"/>
                </a:solidFill>
                <a:latin typeface="Arial"/>
                <a:cs typeface="Arial"/>
              </a:rPr>
              <a:t>Forest,</a:t>
            </a:r>
            <a:r>
              <a:rPr dirty="0" sz="2400" spc="140" b="1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80" b="1">
                <a:solidFill>
                  <a:srgbClr val="343F4B"/>
                </a:solidFill>
                <a:latin typeface="Arial"/>
                <a:cs typeface="Arial"/>
              </a:rPr>
              <a:t>and</a:t>
            </a:r>
            <a:r>
              <a:rPr dirty="0" sz="2400" spc="-35" b="1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85" b="1">
                <a:solidFill>
                  <a:srgbClr val="343F4B"/>
                </a:solidFill>
                <a:latin typeface="Arial"/>
                <a:cs typeface="Arial"/>
              </a:rPr>
              <a:t>Gradient</a:t>
            </a:r>
            <a:r>
              <a:rPr dirty="0" sz="2400" spc="190" b="1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343F4B"/>
                </a:solidFill>
                <a:latin typeface="Arial"/>
                <a:cs typeface="Arial"/>
              </a:rPr>
              <a:t>Boosting</a:t>
            </a:r>
            <a:r>
              <a:rPr dirty="0" sz="2400" spc="220" b="1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343F4B"/>
                </a:solidFill>
                <a:latin typeface="Arial"/>
                <a:cs typeface="Arial"/>
              </a:rPr>
              <a:t>to </a:t>
            </a:r>
            <a:r>
              <a:rPr dirty="0" sz="2400" spc="125">
                <a:solidFill>
                  <a:srgbClr val="343F4B"/>
                </a:solidFill>
                <a:latin typeface="Arial"/>
                <a:cs typeface="Arial"/>
              </a:rPr>
              <a:t>model</a:t>
            </a:r>
            <a:r>
              <a:rPr dirty="0" sz="2400" spc="-8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100">
                <a:solidFill>
                  <a:srgbClr val="343F4B"/>
                </a:solidFill>
                <a:latin typeface="Arial"/>
                <a:cs typeface="Arial"/>
              </a:rPr>
              <a:t>climate</a:t>
            </a:r>
            <a:r>
              <a:rPr dirty="0" sz="2400" spc="-2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100">
                <a:solidFill>
                  <a:srgbClr val="343F4B"/>
                </a:solidFill>
                <a:latin typeface="Arial"/>
                <a:cs typeface="Arial"/>
              </a:rPr>
              <a:t>indicators</a:t>
            </a:r>
            <a:r>
              <a:rPr dirty="0" sz="2400" spc="12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343F4B"/>
                </a:solidFill>
                <a:latin typeface="Arial"/>
                <a:cs typeface="Arial"/>
              </a:rPr>
              <a:t>using</a:t>
            </a:r>
            <a:r>
              <a:rPr dirty="0" sz="2400" spc="-13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125">
                <a:solidFill>
                  <a:srgbClr val="343F4B"/>
                </a:solidFill>
                <a:latin typeface="Arial"/>
                <a:cs typeface="Arial"/>
              </a:rPr>
              <a:t>synthetic</a:t>
            </a:r>
            <a:r>
              <a:rPr dirty="0" sz="2400" spc="6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145">
                <a:solidFill>
                  <a:srgbClr val="343F4B"/>
                </a:solidFill>
                <a:latin typeface="Arial"/>
                <a:cs typeface="Arial"/>
              </a:rPr>
              <a:t>data</a:t>
            </a:r>
            <a:r>
              <a:rPr dirty="0" sz="2400" spc="-3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120">
                <a:solidFill>
                  <a:srgbClr val="343F4B"/>
                </a:solidFill>
                <a:latin typeface="Arial"/>
                <a:cs typeface="Arial"/>
              </a:rPr>
              <a:t>patterned </a:t>
            </a:r>
            <a:r>
              <a:rPr dirty="0" sz="2400" spc="114">
                <a:solidFill>
                  <a:srgbClr val="343F4B"/>
                </a:solidFill>
                <a:latin typeface="Arial"/>
                <a:cs typeface="Arial"/>
              </a:rPr>
              <a:t>after</a:t>
            </a:r>
            <a:r>
              <a:rPr dirty="0" sz="2400" spc="-7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43F4B"/>
                </a:solidFill>
                <a:latin typeface="Arial"/>
                <a:cs typeface="Arial"/>
              </a:rPr>
              <a:t>NASA/NOAA</a:t>
            </a:r>
            <a:r>
              <a:rPr dirty="0" sz="2400" spc="12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343F4B"/>
                </a:solidFill>
                <a:latin typeface="Arial"/>
                <a:cs typeface="Arial"/>
              </a:rPr>
              <a:t>records.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400">
              <a:latin typeface="Arial"/>
              <a:cs typeface="Arial"/>
            </a:endParaRPr>
          </a:p>
          <a:p>
            <a:pPr marL="417195" marR="572135" indent="-47625">
              <a:lnSpc>
                <a:spcPct val="137800"/>
              </a:lnSpc>
              <a:tabLst>
                <a:tab pos="802640" algn="l"/>
              </a:tabLst>
            </a:pPr>
            <a:r>
              <a:rPr dirty="0" sz="2400" spc="114">
                <a:solidFill>
                  <a:srgbClr val="054B7E"/>
                </a:solidFill>
                <a:latin typeface="Arial"/>
                <a:cs typeface="Arial"/>
              </a:rPr>
              <a:t>�</a:t>
            </a:r>
            <a:r>
              <a:rPr dirty="0" sz="2400">
                <a:solidFill>
                  <a:srgbClr val="054B7E"/>
                </a:solidFill>
                <a:latin typeface="Arial"/>
                <a:cs typeface="Arial"/>
              </a:rPr>
              <a:t>	</a:t>
            </a:r>
            <a:r>
              <a:rPr dirty="0" sz="2400" b="1">
                <a:solidFill>
                  <a:srgbClr val="054B7E"/>
                </a:solidFill>
                <a:latin typeface="Arial"/>
                <a:cs typeface="Arial"/>
              </a:rPr>
              <a:t>Prediction</a:t>
            </a:r>
            <a:r>
              <a:rPr dirty="0" sz="2400" spc="250" b="1">
                <a:solidFill>
                  <a:srgbClr val="054B7E"/>
                </a:solidFill>
                <a:latin typeface="Arial"/>
                <a:cs typeface="Arial"/>
              </a:rPr>
              <a:t> </a:t>
            </a:r>
            <a:r>
              <a:rPr dirty="0" sz="2400" spc="85" b="1">
                <a:solidFill>
                  <a:srgbClr val="054B7E"/>
                </a:solidFill>
                <a:latin typeface="Arial"/>
                <a:cs typeface="Arial"/>
              </a:rPr>
              <a:t>accuracy</a:t>
            </a:r>
            <a:r>
              <a:rPr dirty="0" sz="2400" spc="140" b="1">
                <a:solidFill>
                  <a:srgbClr val="054B7E"/>
                </a:solidFill>
                <a:latin typeface="Arial"/>
                <a:cs typeface="Arial"/>
              </a:rPr>
              <a:t> </a:t>
            </a:r>
            <a:r>
              <a:rPr dirty="0" sz="2400" spc="85" b="1">
                <a:solidFill>
                  <a:srgbClr val="054B7E"/>
                </a:solidFill>
                <a:latin typeface="Arial"/>
                <a:cs typeface="Arial"/>
              </a:rPr>
              <a:t>up</a:t>
            </a:r>
            <a:r>
              <a:rPr dirty="0" sz="2400" spc="60" b="1">
                <a:solidFill>
                  <a:srgbClr val="054B7E"/>
                </a:solidFill>
                <a:latin typeface="Arial"/>
                <a:cs typeface="Arial"/>
              </a:rPr>
              <a:t> </a:t>
            </a:r>
            <a:r>
              <a:rPr dirty="0" sz="2400" spc="65" b="1">
                <a:solidFill>
                  <a:srgbClr val="054B7E"/>
                </a:solidFill>
                <a:latin typeface="Arial"/>
                <a:cs typeface="Arial"/>
              </a:rPr>
              <a:t>to</a:t>
            </a:r>
            <a:r>
              <a:rPr dirty="0" sz="2400" spc="250" b="1">
                <a:solidFill>
                  <a:srgbClr val="054B7E"/>
                </a:solidFill>
                <a:latin typeface="Arial"/>
                <a:cs typeface="Arial"/>
              </a:rPr>
              <a:t> </a:t>
            </a:r>
            <a:r>
              <a:rPr dirty="0" sz="2400" spc="155" b="1">
                <a:solidFill>
                  <a:srgbClr val="054B7E"/>
                </a:solidFill>
                <a:latin typeface="Arial"/>
                <a:cs typeface="Arial"/>
              </a:rPr>
              <a:t>92%</a:t>
            </a:r>
            <a:r>
              <a:rPr dirty="0" sz="2400" spc="-75" b="1">
                <a:solidFill>
                  <a:srgbClr val="054B7E"/>
                </a:solidFill>
                <a:latin typeface="Arial"/>
                <a:cs typeface="Arial"/>
              </a:rPr>
              <a:t> </a:t>
            </a:r>
            <a:r>
              <a:rPr dirty="0" sz="2400" spc="50" b="1">
                <a:solidFill>
                  <a:srgbClr val="054B7E"/>
                </a:solidFill>
                <a:latin typeface="Arial"/>
                <a:cs typeface="Arial"/>
              </a:rPr>
              <a:t>in</a:t>
            </a:r>
            <a:r>
              <a:rPr dirty="0" sz="2400" spc="-110" b="1">
                <a:solidFill>
                  <a:srgbClr val="054B7E"/>
                </a:solidFill>
                <a:latin typeface="Arial"/>
                <a:cs typeface="Arial"/>
              </a:rPr>
              <a:t> </a:t>
            </a:r>
            <a:r>
              <a:rPr dirty="0" sz="2400" spc="75" b="1">
                <a:solidFill>
                  <a:srgbClr val="054B7E"/>
                </a:solidFill>
                <a:latin typeface="Arial"/>
                <a:cs typeface="Arial"/>
              </a:rPr>
              <a:t>comparative </a:t>
            </a:r>
            <a:r>
              <a:rPr dirty="0" sz="2400" spc="50" b="1">
                <a:solidFill>
                  <a:srgbClr val="054B7E"/>
                </a:solidFill>
                <a:latin typeface="Arial"/>
                <a:cs typeface="Arial"/>
              </a:rPr>
              <a:t>studies.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121" y="882083"/>
            <a:ext cx="141577" cy="881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0047" y="992333"/>
            <a:ext cx="3036057" cy="7717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09144" y="1008087"/>
            <a:ext cx="1101161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83345" y="1008087"/>
            <a:ext cx="3397867" cy="7559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81261" y="4189575"/>
            <a:ext cx="7598010" cy="39532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02603" y="8205814"/>
            <a:ext cx="8101394" cy="15749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0704852" y="3937573"/>
            <a:ext cx="0" cy="3228975"/>
          </a:xfrm>
          <a:custGeom>
            <a:avLst/>
            <a:gdLst/>
            <a:ahLst/>
            <a:cxnLst/>
            <a:rect l="l" t="t" r="r" b="b"/>
            <a:pathLst>
              <a:path w="0" h="3228975">
                <a:moveTo>
                  <a:pt x="0" y="3228741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986917" y="5733069"/>
            <a:ext cx="0" cy="756285"/>
          </a:xfrm>
          <a:custGeom>
            <a:avLst/>
            <a:gdLst/>
            <a:ahLst/>
            <a:cxnLst/>
            <a:rect l="l" t="t" r="r" b="b"/>
            <a:pathLst>
              <a:path w="0" h="756285">
                <a:moveTo>
                  <a:pt x="0" y="755998"/>
                </a:moveTo>
                <a:lnTo>
                  <a:pt x="0" y="0"/>
                </a:lnTo>
              </a:path>
            </a:pathLst>
          </a:custGeom>
          <a:ln w="3175">
            <a:solidFill>
              <a:srgbClr val="C6C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979051" y="4599072"/>
            <a:ext cx="0" cy="315595"/>
          </a:xfrm>
          <a:custGeom>
            <a:avLst/>
            <a:gdLst/>
            <a:ahLst/>
            <a:cxnLst/>
            <a:rect l="l" t="t" r="r" b="b"/>
            <a:pathLst>
              <a:path w="0" h="315595">
                <a:moveTo>
                  <a:pt x="0" y="314999"/>
                </a:moveTo>
                <a:lnTo>
                  <a:pt x="0" y="0"/>
                </a:lnTo>
              </a:path>
            </a:pathLst>
          </a:custGeom>
          <a:ln w="3175">
            <a:solidFill>
              <a:srgbClr val="C6C6C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820652" y="6819817"/>
            <a:ext cx="0" cy="346710"/>
          </a:xfrm>
          <a:custGeom>
            <a:avLst/>
            <a:gdLst/>
            <a:ahLst/>
            <a:cxnLst/>
            <a:rect l="l" t="t" r="r" b="b"/>
            <a:pathLst>
              <a:path w="0" h="346709">
                <a:moveTo>
                  <a:pt x="0" y="346499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236430" y="7292315"/>
            <a:ext cx="0" cy="330835"/>
          </a:xfrm>
          <a:custGeom>
            <a:avLst/>
            <a:gdLst/>
            <a:ahLst/>
            <a:cxnLst/>
            <a:rect l="l" t="t" r="r" b="b"/>
            <a:pathLst>
              <a:path w="0" h="330834">
                <a:moveTo>
                  <a:pt x="0" y="330749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696986" y="3937573"/>
            <a:ext cx="7566659" cy="252095"/>
          </a:xfrm>
          <a:custGeom>
            <a:avLst/>
            <a:gdLst/>
            <a:ahLst/>
            <a:cxnLst/>
            <a:rect l="l" t="t" r="r" b="b"/>
            <a:pathLst>
              <a:path w="7566659" h="252095">
                <a:moveTo>
                  <a:pt x="7542948" y="251999"/>
                </a:moveTo>
                <a:lnTo>
                  <a:pt x="7542948" y="0"/>
                </a:lnTo>
              </a:path>
              <a:path w="7566659" h="252095">
                <a:moveTo>
                  <a:pt x="0" y="0"/>
                </a:moveTo>
                <a:lnTo>
                  <a:pt x="7566544" y="0"/>
                </a:lnTo>
              </a:path>
            </a:pathLst>
          </a:custGeom>
          <a:ln w="78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32489" y="3385439"/>
            <a:ext cx="4426585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50" b="1">
                <a:solidFill>
                  <a:srgbClr val="082F5B"/>
                </a:solidFill>
                <a:latin typeface="Times New Roman"/>
                <a:cs typeface="Times New Roman"/>
              </a:rPr>
              <a:t>Limitations</a:t>
            </a:r>
            <a:r>
              <a:rPr dirty="0" sz="2550" spc="-25" b="1">
                <a:solidFill>
                  <a:srgbClr val="082F5B"/>
                </a:solidFill>
                <a:latin typeface="Times New Roman"/>
                <a:cs typeface="Times New Roman"/>
              </a:rPr>
              <a:t> </a:t>
            </a:r>
            <a:r>
              <a:rPr dirty="0" sz="2550" b="1">
                <a:solidFill>
                  <a:srgbClr val="082F5B"/>
                </a:solidFill>
                <a:latin typeface="Times New Roman"/>
                <a:cs typeface="Times New Roman"/>
              </a:rPr>
              <a:t>of</a:t>
            </a:r>
            <a:r>
              <a:rPr dirty="0" sz="2550" spc="-65" b="1">
                <a:solidFill>
                  <a:srgbClr val="082F5B"/>
                </a:solidFill>
                <a:latin typeface="Times New Roman"/>
                <a:cs typeface="Times New Roman"/>
              </a:rPr>
              <a:t> </a:t>
            </a:r>
            <a:r>
              <a:rPr dirty="0" sz="2550" b="1">
                <a:solidFill>
                  <a:srgbClr val="082F5B"/>
                </a:solidFill>
                <a:latin typeface="Times New Roman"/>
                <a:cs typeface="Times New Roman"/>
              </a:rPr>
              <a:t>Current</a:t>
            </a:r>
            <a:r>
              <a:rPr dirty="0" sz="2550" spc="-10" b="1">
                <a:solidFill>
                  <a:srgbClr val="082F5B"/>
                </a:solidFill>
                <a:latin typeface="Times New Roman"/>
                <a:cs typeface="Times New Roman"/>
              </a:rPr>
              <a:t> </a:t>
            </a:r>
            <a:r>
              <a:rPr dirty="0" sz="2550" spc="50" b="1">
                <a:solidFill>
                  <a:srgbClr val="082F5B"/>
                </a:solidFill>
                <a:latin typeface="Times New Roman"/>
                <a:cs typeface="Times New Roman"/>
              </a:rPr>
              <a:t>Models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5929" y="4030400"/>
            <a:ext cx="8547100" cy="2041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 marR="163195" indent="4445">
              <a:lnSpc>
                <a:spcPct val="143800"/>
              </a:lnSpc>
              <a:spcBef>
                <a:spcPts val="100"/>
              </a:spcBef>
              <a:tabLst>
                <a:tab pos="2661285" algn="l"/>
              </a:tabLst>
            </a:pP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Traditional</a:t>
            </a:r>
            <a:r>
              <a:rPr dirty="0" sz="2300" spc="180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50" b="1">
                <a:solidFill>
                  <a:srgbClr val="363D49"/>
                </a:solidFill>
                <a:latin typeface="Arial"/>
                <a:cs typeface="Arial"/>
              </a:rPr>
              <a:t>climate</a:t>
            </a:r>
            <a:r>
              <a:rPr dirty="0" sz="2300" spc="90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models</a:t>
            </a:r>
            <a:r>
              <a:rPr dirty="0" sz="2300" spc="55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50" b="1">
                <a:solidFill>
                  <a:srgbClr val="363D49"/>
                </a:solidFill>
                <a:latin typeface="Arial"/>
                <a:cs typeface="Arial"/>
              </a:rPr>
              <a:t>(GCMs)</a:t>
            </a:r>
            <a:r>
              <a:rPr dirty="0" sz="2300" spc="35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75" b="1">
                <a:solidFill>
                  <a:srgbClr val="363D49"/>
                </a:solidFill>
                <a:latin typeface="Arial"/>
                <a:cs typeface="Arial"/>
              </a:rPr>
              <a:t>provide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70" b="1">
                <a:solidFill>
                  <a:srgbClr val="363D49"/>
                </a:solidFill>
                <a:latin typeface="Arial"/>
                <a:cs typeface="Arial"/>
              </a:rPr>
              <a:t>broad</a:t>
            </a:r>
            <a:r>
              <a:rPr dirty="0" sz="2300" spc="145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363D49"/>
                </a:solidFill>
                <a:latin typeface="Arial"/>
                <a:cs typeface="Arial"/>
              </a:rPr>
              <a:t>insights </a:t>
            </a:r>
            <a:r>
              <a:rPr dirty="0" sz="2300" spc="114" b="1">
                <a:solidFill>
                  <a:srgbClr val="363D49"/>
                </a:solidFill>
                <a:latin typeface="Arial"/>
                <a:cs typeface="Arial"/>
              </a:rPr>
              <a:t>but</a:t>
            </a:r>
            <a:r>
              <a:rPr dirty="0" sz="2300" spc="65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95" b="1">
                <a:solidFill>
                  <a:srgbClr val="363D49"/>
                </a:solidFill>
                <a:latin typeface="Arial"/>
                <a:cs typeface="Arial"/>
              </a:rPr>
              <a:t>often</a:t>
            </a:r>
            <a:r>
              <a:rPr dirty="0" sz="2300" spc="-135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lack</a:t>
            </a:r>
            <a:r>
              <a:rPr dirty="0" sz="2300" spc="35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-25" b="1">
                <a:solidFill>
                  <a:srgbClr val="363D49"/>
                </a:solidFill>
                <a:latin typeface="Arial"/>
                <a:cs typeface="Arial"/>
              </a:rPr>
              <a:t>the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	spatial</a:t>
            </a:r>
            <a:r>
              <a:rPr dirty="0" sz="2300" spc="105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resolution</a:t>
            </a:r>
            <a:r>
              <a:rPr dirty="0" sz="2300" spc="55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for</a:t>
            </a:r>
            <a:r>
              <a:rPr dirty="0" sz="2300" spc="75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local</a:t>
            </a:r>
            <a:r>
              <a:rPr dirty="0" sz="2300" spc="70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363D49"/>
                </a:solidFill>
                <a:latin typeface="Arial"/>
                <a:cs typeface="Arial"/>
              </a:rPr>
              <a:t>forecasting.</a:t>
            </a:r>
            <a:endParaRPr sz="2300">
              <a:latin typeface="Arial"/>
              <a:cs typeface="Arial"/>
            </a:endParaRPr>
          </a:p>
          <a:p>
            <a:pPr marL="12700" marR="5080" indent="635">
              <a:lnSpc>
                <a:spcPct val="143800"/>
              </a:lnSpc>
            </a:pP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Integrating</a:t>
            </a:r>
            <a:r>
              <a:rPr dirty="0" sz="2300" spc="200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60" b="1">
                <a:solidFill>
                  <a:srgbClr val="363D49"/>
                </a:solidFill>
                <a:latin typeface="Arial"/>
                <a:cs typeface="Arial"/>
              </a:rPr>
              <a:t>ML</a:t>
            </a:r>
            <a:r>
              <a:rPr dirty="0" sz="2300" spc="140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65" b="1">
                <a:solidFill>
                  <a:srgbClr val="363D49"/>
                </a:solidFill>
                <a:latin typeface="Arial"/>
                <a:cs typeface="Arial"/>
              </a:rPr>
              <a:t>with</a:t>
            </a:r>
            <a:r>
              <a:rPr dirty="0" sz="2300" spc="150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observational</a:t>
            </a:r>
            <a:r>
              <a:rPr dirty="0" sz="2300" spc="265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135" b="1">
                <a:solidFill>
                  <a:srgbClr val="363D49"/>
                </a:solidFill>
                <a:latin typeface="Arial"/>
                <a:cs typeface="Arial"/>
              </a:rPr>
              <a:t>data</a:t>
            </a:r>
            <a:r>
              <a:rPr dirty="0" sz="2300" spc="110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presents</a:t>
            </a:r>
            <a:r>
              <a:rPr dirty="0" sz="2300" spc="220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363D49"/>
                </a:solidFill>
                <a:latin typeface="Arial"/>
                <a:cs typeface="Arial"/>
              </a:rPr>
              <a:t>challenges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in</a:t>
            </a:r>
            <a:r>
              <a:rPr dirty="0" sz="2300" spc="-150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handling</a:t>
            </a:r>
            <a:r>
              <a:rPr dirty="0" sz="2300" spc="65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-25" b="1">
                <a:solidFill>
                  <a:srgbClr val="363D49"/>
                </a:solidFill>
                <a:latin typeface="Arial"/>
                <a:cs typeface="Arial"/>
              </a:rPr>
              <a:t>noisy,</a:t>
            </a:r>
            <a:r>
              <a:rPr dirty="0" sz="2300" spc="85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multi-</a:t>
            </a:r>
            <a:r>
              <a:rPr dirty="0" sz="2300" spc="55" b="1">
                <a:solidFill>
                  <a:srgbClr val="363D49"/>
                </a:solidFill>
                <a:latin typeface="Arial"/>
                <a:cs typeface="Arial"/>
              </a:rPr>
              <a:t>source</a:t>
            </a:r>
            <a:r>
              <a:rPr dirty="0" sz="2300" spc="200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50" b="1">
                <a:solidFill>
                  <a:srgbClr val="363D49"/>
                </a:solidFill>
                <a:latin typeface="Arial"/>
                <a:cs typeface="Arial"/>
              </a:rPr>
              <a:t>datasets.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7639" y="7717564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5" h="0">
                <a:moveTo>
                  <a:pt x="0" y="0"/>
                </a:moveTo>
                <a:lnTo>
                  <a:pt x="338213" y="0"/>
                </a:lnTo>
              </a:path>
            </a:pathLst>
          </a:custGeom>
          <a:ln w="7874">
            <a:solidFill>
              <a:srgbClr val="11C69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94939" y="6515744"/>
            <a:ext cx="7000240" cy="1298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305">
              <a:lnSpc>
                <a:spcPts val="3195"/>
              </a:lnSpc>
              <a:tabLst>
                <a:tab pos="829310" algn="l"/>
              </a:tabLst>
            </a:pPr>
            <a:r>
              <a:rPr dirty="0" sz="4000" spc="105" b="1">
                <a:solidFill>
                  <a:srgbClr val="11C69C"/>
                </a:solidFill>
                <a:latin typeface="Arial"/>
                <a:cs typeface="Arial"/>
              </a:rPr>
              <a:t>0</a:t>
            </a:r>
            <a:r>
              <a:rPr dirty="0" sz="4000" b="1">
                <a:solidFill>
                  <a:srgbClr val="11C69C"/>
                </a:solidFill>
                <a:latin typeface="Arial"/>
                <a:cs typeface="Arial"/>
              </a:rPr>
              <a:t>	</a:t>
            </a:r>
            <a:r>
              <a:rPr dirty="0" sz="2300" spc="55" b="1">
                <a:solidFill>
                  <a:srgbClr val="363D49"/>
                </a:solidFill>
                <a:latin typeface="Arial"/>
                <a:cs typeface="Arial"/>
              </a:rPr>
              <a:t>Computational</a:t>
            </a:r>
            <a:r>
              <a:rPr dirty="0" sz="2300" spc="320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and</a:t>
            </a:r>
            <a:r>
              <a:rPr dirty="0" sz="2300" spc="254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conceptual</a:t>
            </a:r>
            <a:r>
              <a:rPr dirty="0" sz="2300" spc="229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363D49"/>
                </a:solidFill>
                <a:latin typeface="Arial"/>
                <a:cs typeface="Arial"/>
              </a:rPr>
              <a:t>limitations.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250" spc="-25" b="1">
                <a:solidFill>
                  <a:srgbClr val="11C69C"/>
                </a:solidFill>
                <a:latin typeface="Arial"/>
                <a:cs typeface="Arial"/>
              </a:rPr>
              <a:t>I;</a:t>
            </a:r>
            <a:endParaRPr sz="32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2181" y="7413491"/>
            <a:ext cx="6380480" cy="375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Noise</a:t>
            </a:r>
            <a:r>
              <a:rPr dirty="0" sz="2300" spc="35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in</a:t>
            </a:r>
            <a:r>
              <a:rPr dirty="0" sz="2300" spc="-25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55" b="1">
                <a:solidFill>
                  <a:srgbClr val="363D49"/>
                </a:solidFill>
                <a:latin typeface="Arial"/>
                <a:cs typeface="Arial"/>
              </a:rPr>
              <a:t>atmospheric</a:t>
            </a:r>
            <a:r>
              <a:rPr dirty="0" sz="2300" spc="300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and</a:t>
            </a:r>
            <a:r>
              <a:rPr dirty="0" sz="2300" spc="170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oceanic</a:t>
            </a:r>
            <a:r>
              <a:rPr dirty="0" sz="2300" spc="229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363D49"/>
                </a:solidFill>
                <a:latin typeface="Arial"/>
                <a:cs typeface="Arial"/>
              </a:rPr>
              <a:t>variables.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2894" y="8098614"/>
            <a:ext cx="5757545" cy="6305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831850" algn="l"/>
              </a:tabLst>
            </a:pPr>
            <a:r>
              <a:rPr dirty="0" sz="3950" spc="-25" b="1" i="1">
                <a:solidFill>
                  <a:srgbClr val="11C69C"/>
                </a:solidFill>
                <a:latin typeface="Arial"/>
                <a:cs typeface="Arial"/>
              </a:rPr>
              <a:t>ti</a:t>
            </a:r>
            <a:r>
              <a:rPr dirty="0" sz="3950" b="1" i="1">
                <a:solidFill>
                  <a:srgbClr val="11C69C"/>
                </a:solidFill>
                <a:latin typeface="Arial"/>
                <a:cs typeface="Arial"/>
              </a:rPr>
              <a:t>	</a:t>
            </a:r>
            <a:r>
              <a:rPr dirty="0" sz="2300" spc="80" b="1">
                <a:solidFill>
                  <a:srgbClr val="363D49"/>
                </a:solidFill>
                <a:latin typeface="Arial"/>
                <a:cs typeface="Arial"/>
              </a:rPr>
              <a:t>Need</a:t>
            </a:r>
            <a:r>
              <a:rPr dirty="0" sz="2300" spc="60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for</a:t>
            </a:r>
            <a:r>
              <a:rPr dirty="0" sz="2300" spc="-25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363D49"/>
                </a:solidFill>
                <a:latin typeface="Arial"/>
                <a:cs typeface="Arial"/>
              </a:rPr>
              <a:t>higher</a:t>
            </a:r>
            <a:r>
              <a:rPr dirty="0" sz="2300" spc="15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-25" b="1">
                <a:solidFill>
                  <a:srgbClr val="363D49"/>
                </a:solidFill>
                <a:latin typeface="Arial"/>
                <a:cs typeface="Arial"/>
              </a:rPr>
              <a:t>granular</a:t>
            </a:r>
            <a:r>
              <a:rPr dirty="0" sz="2300" spc="130" b="1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363D49"/>
                </a:solidFill>
                <a:latin typeface="Arial"/>
                <a:cs typeface="Arial"/>
              </a:rPr>
              <a:t>accuracy.</a:t>
            </a:r>
            <a:endParaRPr sz="2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866956" y="4050876"/>
            <a:ext cx="5536565" cy="375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00" spc="-45" b="1">
                <a:solidFill>
                  <a:srgbClr val="232323"/>
                </a:solidFill>
                <a:latin typeface="Arial"/>
                <a:cs typeface="Arial"/>
              </a:rPr>
              <a:t>Global</a:t>
            </a:r>
            <a:r>
              <a:rPr dirty="0" sz="2300" spc="-30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300" spc="-50" b="1">
                <a:solidFill>
                  <a:srgbClr val="232323"/>
                </a:solidFill>
                <a:latin typeface="Arial"/>
                <a:cs typeface="Arial"/>
              </a:rPr>
              <a:t>Average</a:t>
            </a:r>
            <a:r>
              <a:rPr dirty="0" sz="2300" spc="-55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300" spc="-70" b="1">
                <a:solidFill>
                  <a:srgbClr val="232323"/>
                </a:solidFill>
                <a:latin typeface="Arial"/>
                <a:cs typeface="Arial"/>
              </a:rPr>
              <a:t>Temperature</a:t>
            </a:r>
            <a:r>
              <a:rPr dirty="0" sz="2300" spc="170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232323"/>
                </a:solidFill>
                <a:latin typeface="Arial"/>
                <a:cs typeface="Arial"/>
              </a:rPr>
              <a:t>1850</a:t>
            </a:r>
            <a:r>
              <a:rPr dirty="0" sz="2300" spc="-114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232323"/>
                </a:solidFill>
                <a:latin typeface="Arial"/>
                <a:cs typeface="Arial"/>
              </a:rPr>
              <a:t>-</a:t>
            </a:r>
            <a:r>
              <a:rPr dirty="0" sz="2300" spc="-25" b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2300" spc="-20" b="1">
                <a:solidFill>
                  <a:srgbClr val="232323"/>
                </a:solidFill>
                <a:latin typeface="Arial"/>
                <a:cs typeface="Arial"/>
              </a:rPr>
              <a:t>2025</a:t>
            </a:r>
            <a:endParaRPr sz="23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811752" y="4409187"/>
            <a:ext cx="43815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648979" y="4531249"/>
            <a:ext cx="59690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-25" i="1">
                <a:solidFill>
                  <a:srgbClr val="C6C6C6"/>
                </a:solidFill>
                <a:latin typeface="Arial"/>
                <a:cs typeface="Arial"/>
              </a:rPr>
              <a:t>•••</a:t>
            </a:r>
            <a:endParaRPr sz="2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791232" y="4531249"/>
            <a:ext cx="33020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50" spc="-50" i="1">
                <a:solidFill>
                  <a:srgbClr val="C6C6C6"/>
                </a:solidFill>
                <a:latin typeface="Arial"/>
                <a:cs typeface="Arial"/>
              </a:rPr>
              <a:t>j</a:t>
            </a:r>
            <a:endParaRPr sz="2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932832" y="4531249"/>
            <a:ext cx="46990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" spc="-10">
                <a:solidFill>
                  <a:srgbClr val="C6C6C6"/>
                </a:solidFill>
                <a:latin typeface="Arial"/>
                <a:cs typeface="Arial"/>
              </a:rPr>
              <a:t>-</a:t>
            </a:r>
            <a:r>
              <a:rPr dirty="0" sz="250" spc="-50">
                <a:solidFill>
                  <a:srgbClr val="C6C6C6"/>
                </a:solidFill>
                <a:latin typeface="Arial"/>
                <a:cs typeface="Arial"/>
              </a:rPr>
              <a:t>-</a:t>
            </a:r>
            <a:endParaRPr sz="2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121599" y="4531249"/>
            <a:ext cx="36195" cy="63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50" spc="-50">
                <a:solidFill>
                  <a:srgbClr val="C6C6C6"/>
                </a:solidFill>
                <a:latin typeface="Arial"/>
                <a:cs typeface="Arial"/>
              </a:rPr>
              <a:t>-</a:t>
            </a:r>
            <a:endParaRPr sz="2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812286" y="4609998"/>
            <a:ext cx="4127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785645" y="4645436"/>
            <a:ext cx="9334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8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baseline="-23148" sz="9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baseline="-23148" sz="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786352" y="4747811"/>
            <a:ext cx="92710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baseline="-27777" sz="9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baseline="-27777" sz="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811045" y="4834437"/>
            <a:ext cx="4635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811045" y="4868094"/>
            <a:ext cx="46355" cy="30861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280"/>
              </a:spcBef>
            </a:pP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8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811045" y="5165185"/>
            <a:ext cx="4635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811045" y="5220310"/>
            <a:ext cx="4635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368554" y="5279373"/>
            <a:ext cx="4127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663170" y="5302997"/>
            <a:ext cx="6760209" cy="17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000" spc="-254">
                <a:solidFill>
                  <a:srgbClr val="C6C6C6"/>
                </a:solidFill>
                <a:latin typeface="Courier New"/>
                <a:cs typeface="Courier New"/>
              </a:rPr>
              <a:t>----</a:t>
            </a:r>
            <a:r>
              <a:rPr dirty="0" sz="1000" spc="-250">
                <a:solidFill>
                  <a:srgbClr val="C6C6C6"/>
                </a:solidFill>
                <a:latin typeface="Courier New"/>
                <a:cs typeface="Courier New"/>
              </a:rPr>
              <a:t>-</a:t>
            </a:r>
            <a:r>
              <a:rPr dirty="0" sz="1000" spc="-155">
                <a:solidFill>
                  <a:srgbClr val="C6C6C6"/>
                </a:solidFill>
                <a:latin typeface="Courier New"/>
                <a:cs typeface="Courier New"/>
              </a:rPr>
              <a:t> </a:t>
            </a:r>
            <a:r>
              <a:rPr dirty="0" sz="1000" spc="-229">
                <a:solidFill>
                  <a:srgbClr val="C6C6C6"/>
                </a:solidFill>
                <a:latin typeface="Courier New"/>
                <a:cs typeface="Courier New"/>
              </a:rPr>
              <a:t>--</a:t>
            </a:r>
            <a:r>
              <a:rPr dirty="0" sz="1000" spc="-225">
                <a:solidFill>
                  <a:srgbClr val="C6C6C6"/>
                </a:solidFill>
                <a:latin typeface="Courier New"/>
                <a:cs typeface="Courier New"/>
              </a:rPr>
              <a:t>-</a:t>
            </a:r>
            <a:r>
              <a:rPr dirty="0" sz="1000" spc="-260">
                <a:solidFill>
                  <a:srgbClr val="C6C6C6"/>
                </a:solidFill>
                <a:latin typeface="Courier New"/>
                <a:cs typeface="Courier New"/>
              </a:rPr>
              <a:t> </a:t>
            </a:r>
            <a:r>
              <a:rPr dirty="0" sz="1000" spc="-229">
                <a:solidFill>
                  <a:srgbClr val="C6C6C6"/>
                </a:solidFill>
                <a:latin typeface="Courier New"/>
                <a:cs typeface="Courier New"/>
              </a:rPr>
              <a:t>---------------------------</a:t>
            </a:r>
            <a:r>
              <a:rPr dirty="0" sz="1000" spc="-225">
                <a:solidFill>
                  <a:srgbClr val="C6C6C6"/>
                </a:solidFill>
                <a:latin typeface="Courier New"/>
                <a:cs typeface="Courier New"/>
              </a:rPr>
              <a:t>-</a:t>
            </a:r>
            <a:r>
              <a:rPr dirty="0" sz="1000" spc="-290">
                <a:solidFill>
                  <a:srgbClr val="C6C6C6"/>
                </a:solidFill>
                <a:latin typeface="Courier New"/>
                <a:cs typeface="Courier New"/>
              </a:rPr>
              <a:t> </a:t>
            </a:r>
            <a:r>
              <a:rPr dirty="0" sz="700" spc="-90">
                <a:solidFill>
                  <a:srgbClr val="C6C6C6"/>
                </a:solidFill>
                <a:latin typeface="Arial"/>
                <a:cs typeface="Arial"/>
              </a:rPr>
              <a:t>-</a:t>
            </a:r>
            <a:r>
              <a:rPr dirty="0" sz="700" spc="335">
                <a:solidFill>
                  <a:srgbClr val="C6C6C6"/>
                </a:solidFill>
                <a:latin typeface="Arial"/>
                <a:cs typeface="Arial"/>
              </a:rPr>
              <a:t> </a:t>
            </a:r>
            <a:r>
              <a:rPr dirty="0" sz="1000" spc="-229">
                <a:solidFill>
                  <a:srgbClr val="C6C6C6"/>
                </a:solidFill>
                <a:latin typeface="Courier New"/>
                <a:cs typeface="Courier New"/>
              </a:rPr>
              <a:t>---</a:t>
            </a:r>
            <a:r>
              <a:rPr dirty="0" sz="1000" spc="-250">
                <a:solidFill>
                  <a:srgbClr val="C6C6C6"/>
                </a:solidFill>
                <a:latin typeface="Courier New"/>
                <a:cs typeface="Courier New"/>
              </a:rPr>
              <a:t>�</a:t>
            </a:r>
            <a:r>
              <a:rPr dirty="0" baseline="15873" sz="1050" spc="-375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sz="1000" spc="-250">
                <a:solidFill>
                  <a:srgbClr val="C6C6C6"/>
                </a:solidFill>
                <a:latin typeface="Courier New"/>
                <a:cs typeface="Courier New"/>
              </a:rPr>
              <a:t>-</a:t>
            </a:r>
            <a:r>
              <a:rPr dirty="0" sz="1000" spc="-229">
                <a:solidFill>
                  <a:srgbClr val="C6C6C6"/>
                </a:solidFill>
                <a:latin typeface="Courier New"/>
                <a:cs typeface="Courier New"/>
              </a:rPr>
              <a:t>-----------</a:t>
            </a:r>
            <a:r>
              <a:rPr dirty="0" sz="1000" spc="-225">
                <a:solidFill>
                  <a:srgbClr val="C6C6C6"/>
                </a:solidFill>
                <a:latin typeface="Courier New"/>
                <a:cs typeface="Courier New"/>
              </a:rPr>
              <a:t>-</a:t>
            </a:r>
            <a:r>
              <a:rPr dirty="0" sz="1000" spc="-320">
                <a:solidFill>
                  <a:srgbClr val="C6C6C6"/>
                </a:solidFill>
                <a:latin typeface="Courier New"/>
                <a:cs typeface="Courier New"/>
              </a:rPr>
              <a:t> </a:t>
            </a:r>
            <a:r>
              <a:rPr dirty="0" sz="1000" spc="-235">
                <a:solidFill>
                  <a:srgbClr val="C6C6C6"/>
                </a:solidFill>
                <a:latin typeface="Courier New"/>
                <a:cs typeface="Courier New"/>
              </a:rPr>
              <a:t>-------</a:t>
            </a:r>
            <a:r>
              <a:rPr dirty="0" sz="1000" spc="-229">
                <a:solidFill>
                  <a:srgbClr val="C6C6C6"/>
                </a:solidFill>
                <a:latin typeface="Courier New"/>
                <a:cs typeface="Courier New"/>
              </a:rPr>
              <a:t>-</a:t>
            </a:r>
            <a:r>
              <a:rPr dirty="0" sz="1000" spc="-125">
                <a:solidFill>
                  <a:srgbClr val="C6C6C6"/>
                </a:solidFill>
                <a:latin typeface="Courier New"/>
                <a:cs typeface="Courier New"/>
              </a:rPr>
              <a:t> </a:t>
            </a:r>
            <a:r>
              <a:rPr dirty="0" sz="700" spc="-95">
                <a:solidFill>
                  <a:srgbClr val="C6C6C6"/>
                </a:solidFill>
                <a:latin typeface="Arial"/>
                <a:cs typeface="Arial"/>
              </a:rPr>
              <a:t>-</a:t>
            </a:r>
            <a:r>
              <a:rPr dirty="0" sz="700" spc="340">
                <a:solidFill>
                  <a:srgbClr val="C6C6C6"/>
                </a:solidFill>
                <a:latin typeface="Arial"/>
                <a:cs typeface="Arial"/>
              </a:rPr>
              <a:t> </a:t>
            </a:r>
            <a:r>
              <a:rPr dirty="0" sz="1000" spc="-240">
                <a:solidFill>
                  <a:srgbClr val="C6C6C6"/>
                </a:solidFill>
                <a:latin typeface="Courier New"/>
                <a:cs typeface="Courier New"/>
              </a:rPr>
              <a:t>------</a:t>
            </a:r>
            <a:r>
              <a:rPr dirty="0" sz="1000" spc="-235">
                <a:solidFill>
                  <a:srgbClr val="C6C6C6"/>
                </a:solidFill>
                <a:latin typeface="Courier New"/>
                <a:cs typeface="Courier New"/>
              </a:rPr>
              <a:t>-</a:t>
            </a:r>
            <a:r>
              <a:rPr dirty="0" sz="1000" spc="-210">
                <a:solidFill>
                  <a:srgbClr val="C6C6C6"/>
                </a:solidFill>
                <a:latin typeface="Courier New"/>
                <a:cs typeface="Courier New"/>
              </a:rPr>
              <a:t> </a:t>
            </a:r>
            <a:r>
              <a:rPr dirty="0" sz="1000" spc="-229">
                <a:solidFill>
                  <a:srgbClr val="C6C6C6"/>
                </a:solidFill>
                <a:latin typeface="Courier New"/>
                <a:cs typeface="Courier New"/>
              </a:rPr>
              <a:t>-------------------</a:t>
            </a:r>
            <a:r>
              <a:rPr dirty="0" sz="1000" spc="-225">
                <a:solidFill>
                  <a:srgbClr val="C6C6C6"/>
                </a:solidFill>
                <a:latin typeface="Courier New"/>
                <a:cs typeface="Courier New"/>
              </a:rPr>
              <a:t>-</a:t>
            </a:r>
            <a:r>
              <a:rPr dirty="0" sz="1000" spc="-285">
                <a:solidFill>
                  <a:srgbClr val="C6C6C6"/>
                </a:solidFill>
                <a:latin typeface="Courier New"/>
                <a:cs typeface="Courier New"/>
              </a:rPr>
              <a:t> </a:t>
            </a:r>
            <a:r>
              <a:rPr dirty="0" sz="1000" spc="-235">
                <a:solidFill>
                  <a:srgbClr val="C6C6C6"/>
                </a:solidFill>
                <a:latin typeface="Courier New"/>
                <a:cs typeface="Courier New"/>
              </a:rPr>
              <a:t>------</a:t>
            </a:r>
            <a:r>
              <a:rPr dirty="0" sz="1000" spc="-229">
                <a:solidFill>
                  <a:srgbClr val="C6C6C6"/>
                </a:solidFill>
                <a:latin typeface="Courier New"/>
                <a:cs typeface="Courier New"/>
              </a:rPr>
              <a:t>-</a:t>
            </a:r>
            <a:r>
              <a:rPr dirty="0" sz="1000" spc="-250">
                <a:solidFill>
                  <a:srgbClr val="C6C6C6"/>
                </a:solidFill>
                <a:latin typeface="Courier New"/>
                <a:cs typeface="Courier New"/>
              </a:rPr>
              <a:t> </a:t>
            </a:r>
            <a:r>
              <a:rPr dirty="0" sz="1000" spc="-229">
                <a:solidFill>
                  <a:srgbClr val="C6C6C6"/>
                </a:solidFill>
                <a:latin typeface="Courier New"/>
                <a:cs typeface="Courier New"/>
              </a:rPr>
              <a:t>-------------</a:t>
            </a:r>
            <a:r>
              <a:rPr dirty="0" sz="1000" spc="-225">
                <a:solidFill>
                  <a:srgbClr val="C6C6C6"/>
                </a:solidFill>
                <a:latin typeface="Courier New"/>
                <a:cs typeface="Courier New"/>
              </a:rPr>
              <a:t>-</a:t>
            </a:r>
            <a:r>
              <a:rPr dirty="0" sz="1000" spc="-229">
                <a:solidFill>
                  <a:srgbClr val="C6C6C6"/>
                </a:solidFill>
                <a:latin typeface="Courier New"/>
                <a:cs typeface="Courier New"/>
              </a:rPr>
              <a:t> </a:t>
            </a:r>
            <a:r>
              <a:rPr dirty="0" sz="1000" spc="-235">
                <a:solidFill>
                  <a:srgbClr val="C6C6C6"/>
                </a:solidFill>
                <a:latin typeface="Courier New"/>
                <a:cs typeface="Courier New"/>
              </a:rPr>
              <a:t>-------------</a:t>
            </a:r>
            <a:r>
              <a:rPr dirty="0" sz="1000" spc="-229">
                <a:solidFill>
                  <a:srgbClr val="C6C6C6"/>
                </a:solidFill>
                <a:latin typeface="Courier New"/>
                <a:cs typeface="Courier New"/>
              </a:rPr>
              <a:t>-</a:t>
            </a:r>
            <a:r>
              <a:rPr dirty="0" sz="1000" spc="-275">
                <a:solidFill>
                  <a:srgbClr val="C6C6C6"/>
                </a:solidFill>
                <a:latin typeface="Courier New"/>
                <a:cs typeface="Courier New"/>
              </a:rPr>
              <a:t> </a:t>
            </a:r>
            <a:r>
              <a:rPr dirty="0" sz="1000" spc="-85">
                <a:solidFill>
                  <a:srgbClr val="C6C6C6"/>
                </a:solidFill>
                <a:latin typeface="Courier New"/>
                <a:cs typeface="Courier New"/>
              </a:rPr>
              <a:t>-</a:t>
            </a:r>
            <a:r>
              <a:rPr dirty="0" sz="1000" spc="-310">
                <a:solidFill>
                  <a:srgbClr val="C6C6C6"/>
                </a:solidFill>
                <a:latin typeface="Courier New"/>
                <a:cs typeface="Courier New"/>
              </a:rPr>
              <a:t> </a:t>
            </a:r>
            <a:r>
              <a:rPr dirty="0" sz="700" spc="-35">
                <a:solidFill>
                  <a:srgbClr val="C6C6C6"/>
                </a:solidFill>
                <a:latin typeface="Arial"/>
                <a:cs typeface="Arial"/>
              </a:rPr>
              <a:t>--</a:t>
            </a:r>
            <a:endParaRPr sz="7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811045" y="5456559"/>
            <a:ext cx="4318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785645" y="5442384"/>
            <a:ext cx="93980" cy="4038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37465" marR="30480" indent="-1905">
              <a:lnSpc>
                <a:spcPct val="155000"/>
              </a:lnSpc>
              <a:spcBef>
                <a:spcPts val="90"/>
              </a:spcBef>
            </a:pPr>
            <a:r>
              <a:rPr dirty="0" sz="800" spc="-90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baseline="-19841" sz="1050" spc="-135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baseline="-19841" sz="1050" spc="750">
                <a:solidFill>
                  <a:srgbClr val="C6C6C6"/>
                </a:solidFill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785645" y="5787308"/>
            <a:ext cx="9207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8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baseline="-23809" sz="105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baseline="-23809" sz="10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785645" y="5838804"/>
            <a:ext cx="92075" cy="32702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ctr" marL="38100" marR="30480">
              <a:lnSpc>
                <a:spcPct val="126699"/>
              </a:lnSpc>
              <a:spcBef>
                <a:spcPts val="155"/>
              </a:spcBef>
            </a:pPr>
            <a:r>
              <a:rPr dirty="0" baseline="-31250" sz="1200" spc="-165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sz="700" spc="-110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sz="700" spc="500">
                <a:solidFill>
                  <a:srgbClr val="C6C6C6"/>
                </a:solidFill>
                <a:latin typeface="Arial"/>
                <a:cs typeface="Arial"/>
              </a:rPr>
              <a:t> </a:t>
            </a:r>
            <a:r>
              <a:rPr dirty="0" sz="700" spc="-6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775052" y="6110182"/>
            <a:ext cx="18415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700" spc="-45">
                <a:solidFill>
                  <a:srgbClr val="C6C6C6"/>
                </a:solidFill>
                <a:latin typeface="Arial"/>
                <a:cs typeface="Arial"/>
              </a:rPr>
              <a:t>,</a:t>
            </a:r>
            <a:r>
              <a:rPr dirty="0" baseline="17361" sz="1200" spc="-67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sz="700" spc="-45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sz="700" spc="125">
                <a:solidFill>
                  <a:srgbClr val="C6C6C6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.</a:t>
            </a:r>
            <a:endParaRPr sz="7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811752" y="6220431"/>
            <a:ext cx="40640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811045" y="6267682"/>
            <a:ext cx="4318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811045" y="6322807"/>
            <a:ext cx="43180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3335">
              <a:lnSpc>
                <a:spcPts val="775"/>
              </a:lnSpc>
              <a:spcBef>
                <a:spcPts val="110"/>
              </a:spcBef>
            </a:pP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05"/>
              </a:lnSpc>
            </a:pPr>
            <a:r>
              <a:rPr dirty="0" sz="8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800">
              <a:latin typeface="Arial"/>
              <a:cs typeface="Arial"/>
            </a:endParaRPr>
          </a:p>
          <a:p>
            <a:pPr marL="13335">
              <a:lnSpc>
                <a:spcPts val="685"/>
              </a:lnSpc>
            </a:pP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785"/>
              </a:lnSpc>
            </a:pPr>
            <a:r>
              <a:rPr dirty="0" sz="8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50"/>
              </a:lnSpc>
            </a:pPr>
            <a:r>
              <a:rPr dirty="0" sz="8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924287" y="3928814"/>
            <a:ext cx="40640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7898181" y="3968188"/>
            <a:ext cx="9207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baseline="-31250" sz="12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sz="7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924287" y="4125688"/>
            <a:ext cx="40640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7898887" y="4172938"/>
            <a:ext cx="90170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baseline="-27777" sz="9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baseline="-27777"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7898887" y="4267438"/>
            <a:ext cx="90170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baseline="-27777" sz="9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baseline="-27777" sz="9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7898181" y="4361938"/>
            <a:ext cx="9080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8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baseline="-23148" sz="9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baseline="-23148" sz="9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7660562" y="4436750"/>
            <a:ext cx="393700" cy="1860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8285" algn="l"/>
              </a:tabLst>
            </a:pPr>
            <a:r>
              <a:rPr dirty="0" sz="700" spc="-30">
                <a:solidFill>
                  <a:srgbClr val="C6C6C6"/>
                </a:solidFill>
                <a:latin typeface="Arial"/>
                <a:cs typeface="Arial"/>
              </a:rPr>
              <a:t>.</a:t>
            </a:r>
            <a:r>
              <a:rPr dirty="0" sz="700" spc="-25">
                <a:solidFill>
                  <a:srgbClr val="C6C6C6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C6C6C6"/>
                </a:solidFill>
                <a:latin typeface="Arial"/>
                <a:cs typeface="Arial"/>
              </a:rPr>
              <a:t>-</a:t>
            </a:r>
            <a:r>
              <a:rPr dirty="0" sz="1050">
                <a:solidFill>
                  <a:srgbClr val="C6C6C6"/>
                </a:solidFill>
                <a:latin typeface="Arial"/>
                <a:cs typeface="Arial"/>
              </a:rPr>
              <a:t>	</a:t>
            </a:r>
            <a:r>
              <a:rPr dirty="0" sz="700" spc="-40">
                <a:solidFill>
                  <a:srgbClr val="C6C6C6"/>
                </a:solidFill>
                <a:latin typeface="Arial"/>
                <a:cs typeface="Arial"/>
              </a:rPr>
              <a:t>..</a:t>
            </a:r>
            <a:r>
              <a:rPr dirty="0" baseline="3472" sz="1200" spc="-60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sz="700" spc="-40">
                <a:solidFill>
                  <a:srgbClr val="C6C6C6"/>
                </a:solidFill>
                <a:latin typeface="Arial"/>
                <a:cs typeface="Arial"/>
              </a:rPr>
              <a:t>.</a:t>
            </a:r>
            <a:r>
              <a:rPr dirty="0" sz="700" spc="-20">
                <a:solidFill>
                  <a:srgbClr val="C6C6C6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-</a:t>
            </a:r>
            <a:endParaRPr sz="7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7898181" y="4550936"/>
            <a:ext cx="9525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8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baseline="-19841" sz="105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baseline="-19841" sz="10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7932148" y="4653311"/>
            <a:ext cx="43815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7687593" y="5243935"/>
            <a:ext cx="805815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C6C6C6"/>
                </a:solidFill>
                <a:latin typeface="Arial"/>
                <a:cs typeface="Arial"/>
              </a:rPr>
              <a:t>··•-:••··</a:t>
            </a:r>
            <a:r>
              <a:rPr dirty="0" sz="1400" spc="190">
                <a:solidFill>
                  <a:srgbClr val="C6C6C6"/>
                </a:solidFill>
                <a:latin typeface="Arial"/>
                <a:cs typeface="Arial"/>
              </a:rPr>
              <a:t>  </a:t>
            </a:r>
            <a:r>
              <a:rPr dirty="0" sz="1400" spc="-60">
                <a:solidFill>
                  <a:srgbClr val="363D49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7899414" y="5409309"/>
            <a:ext cx="104139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baseline="-23148" sz="9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sz="8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7898181" y="5503809"/>
            <a:ext cx="9334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8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baseline="-23148" sz="9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baseline="-23148" sz="9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7899414" y="5590434"/>
            <a:ext cx="10668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baseline="-18518" sz="9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sz="95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9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7898181" y="5666924"/>
            <a:ext cx="95250" cy="40449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ctr" marL="37465" marR="30480">
              <a:lnSpc>
                <a:spcPct val="120200"/>
              </a:lnSpc>
              <a:spcBef>
                <a:spcPts val="145"/>
              </a:spcBef>
            </a:pPr>
            <a:r>
              <a:rPr dirty="0" sz="800" spc="-95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baseline="-23809" sz="1050" spc="-142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baseline="-23809" sz="1050" spc="750">
                <a:solidFill>
                  <a:srgbClr val="C6C6C6"/>
                </a:solidFill>
                <a:latin typeface="Arial"/>
                <a:cs typeface="Arial"/>
              </a:rPr>
              <a:t> </a:t>
            </a: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  <a:p>
            <a:pPr algn="ctr" marL="635">
              <a:lnSpc>
                <a:spcPts val="745"/>
              </a:lnSpc>
            </a:pP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7924287" y="6031433"/>
            <a:ext cx="43815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7898181" y="6062932"/>
            <a:ext cx="9525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baseline="-34722" sz="12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sz="7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7898181" y="6157433"/>
            <a:ext cx="9525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baseline="-34722" sz="12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sz="7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924287" y="6267682"/>
            <a:ext cx="43815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7924814" y="6326744"/>
            <a:ext cx="4127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6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7898181" y="6346432"/>
            <a:ext cx="9334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baseline="-34722" sz="12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sz="6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6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7924287" y="6511806"/>
            <a:ext cx="43815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7898887" y="6559057"/>
            <a:ext cx="92710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baseline="-27777" sz="9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baseline="-27777" sz="9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7898887" y="6653557"/>
            <a:ext cx="92710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7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baseline="-27777" sz="9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baseline="-27777" sz="9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7898181" y="6732306"/>
            <a:ext cx="9525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baseline="-31250" sz="12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sz="7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7924287" y="6889805"/>
            <a:ext cx="43815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7923581" y="6920415"/>
            <a:ext cx="46990" cy="29273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8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135"/>
              </a:spcBef>
            </a:pP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7924287" y="7173305"/>
            <a:ext cx="43815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7924287" y="7370179"/>
            <a:ext cx="43815" cy="134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5368554" y="7759990"/>
            <a:ext cx="4127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-50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6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7898181" y="7732428"/>
            <a:ext cx="9334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baseline="-34722" sz="12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sz="6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4301368" y="7167028"/>
            <a:ext cx="3888740" cy="104711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634740">
              <a:lnSpc>
                <a:spcPct val="100000"/>
              </a:lnSpc>
              <a:spcBef>
                <a:spcPts val="495"/>
              </a:spcBef>
            </a:pPr>
            <a:r>
              <a:rPr dirty="0" baseline="-31250" sz="120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sz="700" spc="-25">
                <a:solidFill>
                  <a:srgbClr val="C6C6C6"/>
                </a:solidFill>
                <a:latin typeface="Arial"/>
                <a:cs typeface="Arial"/>
              </a:rPr>
              <a:t>'</a:t>
            </a:r>
            <a:endParaRPr sz="700">
              <a:latin typeface="Arial"/>
              <a:cs typeface="Arial"/>
            </a:endParaRPr>
          </a:p>
          <a:p>
            <a:pPr marL="563880" marR="30480" indent="-165100">
              <a:lnSpc>
                <a:spcPct val="123000"/>
              </a:lnSpc>
              <a:spcBef>
                <a:spcPts val="175"/>
              </a:spcBef>
            </a:pPr>
            <a:r>
              <a:rPr dirty="0" sz="1050" spc="-25">
                <a:solidFill>
                  <a:srgbClr val="C6C6C6"/>
                </a:solidFill>
                <a:latin typeface="Arial"/>
                <a:cs typeface="Arial"/>
              </a:rPr>
              <a:t>···</a:t>
            </a:r>
            <a:r>
              <a:rPr dirty="0" sz="1050" spc="-25">
                <a:solidFill>
                  <a:srgbClr val="4B4B4B"/>
                </a:solidFill>
                <a:latin typeface="Arial"/>
                <a:cs typeface="Arial"/>
              </a:rPr>
              <a:t>t.an</a:t>
            </a:r>
            <a:r>
              <a:rPr dirty="0" sz="1050" spc="-25">
                <a:solidFill>
                  <a:srgbClr val="C6C6C6"/>
                </a:solidFill>
                <a:latin typeface="Arial"/>
                <a:cs typeface="Arial"/>
              </a:rPr>
              <a:t>·</a:t>
            </a:r>
            <a:r>
              <a:rPr dirty="0" sz="1050" spc="-25">
                <a:solidFill>
                  <a:srgbClr val="4B4B4B"/>
                </a:solidFill>
                <a:latin typeface="Arial"/>
                <a:cs typeface="Arial"/>
              </a:rPr>
              <a:t>d</a:t>
            </a:r>
            <a:r>
              <a:rPr dirty="0" sz="1050" spc="-25">
                <a:solidFill>
                  <a:srgbClr val="C6C6C6"/>
                </a:solidFill>
                <a:latin typeface="Arial"/>
                <a:cs typeface="Arial"/>
              </a:rPr>
              <a:t>·</a:t>
            </a:r>
            <a:r>
              <a:rPr dirty="0" sz="1050" spc="-25">
                <a:solidFill>
                  <a:srgbClr val="4B4B4B"/>
                </a:solidFill>
                <a:latin typeface="Arial"/>
                <a:cs typeface="Arial"/>
              </a:rPr>
              <a:t>aata</a:t>
            </a:r>
            <a:r>
              <a:rPr dirty="0" sz="1050" spc="-25">
                <a:solidFill>
                  <a:srgbClr val="C6C6C6"/>
                </a:solidFill>
                <a:latin typeface="Arial"/>
                <a:cs typeface="Arial"/>
              </a:rPr>
              <a:t>·</a:t>
            </a:r>
            <a:r>
              <a:rPr dirty="0" sz="1050" spc="-25">
                <a:solidFill>
                  <a:srgbClr val="4B4B4B"/>
                </a:solidFill>
                <a:latin typeface="Arial"/>
                <a:cs typeface="Arial"/>
              </a:rPr>
              <a:t>p</a:t>
            </a:r>
            <a:r>
              <a:rPr dirty="0" sz="1050" spc="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eparecrby</a:t>
            </a:r>
            <a:r>
              <a:rPr dirty="0" sz="1050" spc="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s</a:t>
            </a:r>
            <a:r>
              <a:rPr dirty="0" sz="1050">
                <a:solidFill>
                  <a:srgbClr val="C6C6C6"/>
                </a:solidFill>
                <a:latin typeface="Arial"/>
                <a:cs typeface="Arial"/>
              </a:rPr>
              <a:t>·</a:t>
            </a: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erkeley</a:t>
            </a:r>
            <a:r>
              <a:rPr dirty="0" sz="1050" spc="7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63D49"/>
                </a:solidFill>
                <a:latin typeface="Arial"/>
                <a:cs typeface="Arial"/>
              </a:rPr>
              <a:t>Earth</a:t>
            </a:r>
            <a:r>
              <a:rPr dirty="0" sz="1050">
                <a:solidFill>
                  <a:srgbClr val="C6C6C6"/>
                </a:solidFill>
                <a:latin typeface="Arial"/>
                <a:cs typeface="Arial"/>
              </a:rPr>
              <a:t>·</a:t>
            </a: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and</a:t>
            </a:r>
            <a:r>
              <a:rPr dirty="0" sz="1050" spc="-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5D5D5D"/>
                </a:solidFill>
                <a:latin typeface="Arial"/>
                <a:cs typeface="Arial"/>
              </a:rPr>
              <a:t>combin¢d</a:t>
            </a:r>
            <a:r>
              <a:rPr dirty="0" sz="1050" spc="-10">
                <a:solidFill>
                  <a:srgbClr val="C6C6C6"/>
                </a:solidFill>
                <a:latin typeface="Arial"/>
                <a:cs typeface="Arial"/>
              </a:rPr>
              <a:t>• </a:t>
            </a: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with</a:t>
            </a:r>
            <a:r>
              <a:rPr dirty="0" sz="1050" spc="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 spc="-85">
                <a:solidFill>
                  <a:srgbClr val="4B4B4B"/>
                </a:solidFill>
                <a:latin typeface="Arial"/>
                <a:cs typeface="Arial"/>
              </a:rPr>
              <a:t>oce13n</a:t>
            </a:r>
            <a:r>
              <a:rPr dirty="0" sz="1050" spc="-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data</a:t>
            </a:r>
            <a:r>
              <a:rPr dirty="0" sz="1050" spc="5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adapted</a:t>
            </a:r>
            <a:r>
              <a:rPr dirty="0" sz="1050" spc="8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from</a:t>
            </a:r>
            <a:r>
              <a:rPr dirty="0" sz="1050" spc="5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63D49"/>
                </a:solidFill>
                <a:latin typeface="Arial"/>
                <a:cs typeface="Arial"/>
              </a:rPr>
              <a:t>the</a:t>
            </a:r>
            <a:r>
              <a:rPr dirty="0" sz="1050" spc="-15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1050" spc="70">
                <a:solidFill>
                  <a:srgbClr val="4B4B4B"/>
                </a:solidFill>
                <a:latin typeface="Arial"/>
                <a:cs typeface="Arial"/>
              </a:rPr>
              <a:t>UK</a:t>
            </a:r>
            <a:r>
              <a:rPr dirty="0" sz="1050" spc="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32323"/>
                </a:solidFill>
                <a:latin typeface="Arial"/>
                <a:cs typeface="Arial"/>
              </a:rPr>
              <a:t>Hadley</a:t>
            </a:r>
            <a:r>
              <a:rPr dirty="0" sz="1050" spc="3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B4B4B"/>
                </a:solidFill>
                <a:latin typeface="Arial"/>
                <a:cs typeface="Arial"/>
              </a:rPr>
              <a:t>Cen\</a:t>
            </a:r>
            <a:r>
              <a:rPr dirty="0" baseline="47619" sz="1050" spc="-15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sz="1050" spc="-10">
                <a:solidFill>
                  <a:srgbClr val="4B4B4B"/>
                </a:solidFill>
                <a:latin typeface="Arial"/>
                <a:cs typeface="Arial"/>
              </a:rPr>
              <a:t>re</a:t>
            </a:r>
            <a:endParaRPr sz="1050">
              <a:latin typeface="Arial"/>
              <a:cs typeface="Arial"/>
            </a:endParaRPr>
          </a:p>
          <a:p>
            <a:pPr marL="901700" marR="104775" indent="-864235">
              <a:lnSpc>
                <a:spcPct val="118100"/>
              </a:lnSpc>
              <a:spcBef>
                <a:spcPts val="434"/>
              </a:spcBef>
            </a:pP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Global</a:t>
            </a:r>
            <a:r>
              <a:rPr dirty="0" sz="1050" spc="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temperature</a:t>
            </a:r>
            <a:r>
              <a:rPr dirty="0" sz="1050" spc="7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anomalies</a:t>
            </a:r>
            <a:r>
              <a:rPr dirty="0" sz="1050" spc="1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63D49"/>
                </a:solidFill>
                <a:latin typeface="Arial"/>
                <a:cs typeface="Arial"/>
              </a:rPr>
              <a:t>re</a:t>
            </a:r>
            <a:r>
              <a:rPr dirty="0" sz="1050">
                <a:solidFill>
                  <a:srgbClr val="232323"/>
                </a:solidFill>
                <a:latin typeface="Arial"/>
                <a:cs typeface="Arial"/>
              </a:rPr>
              <a:t>l</a:t>
            </a: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ative</a:t>
            </a:r>
            <a:r>
              <a:rPr dirty="0" sz="1050" spc="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32323"/>
                </a:solidFill>
                <a:latin typeface="Arial"/>
                <a:cs typeface="Arial"/>
              </a:rPr>
              <a:t>to</a:t>
            </a:r>
            <a:r>
              <a:rPr dirty="0" sz="1050" spc="10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1850-1900</a:t>
            </a:r>
            <a:r>
              <a:rPr dirty="0" sz="1050" spc="10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B4B4B"/>
                </a:solidFill>
                <a:latin typeface="Arial"/>
                <a:cs typeface="Arial"/>
              </a:rPr>
              <a:t>average </a:t>
            </a: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Vertical</a:t>
            </a:r>
            <a:r>
              <a:rPr dirty="0" sz="1050" spc="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lines</a:t>
            </a:r>
            <a:r>
              <a:rPr dirty="0" sz="1050" spc="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63D49"/>
                </a:solidFill>
                <a:latin typeface="Arial"/>
                <a:cs typeface="Arial"/>
              </a:rPr>
              <a:t>indicate</a:t>
            </a:r>
            <a:r>
              <a:rPr dirty="0" sz="1050" spc="90">
                <a:solidFill>
                  <a:srgbClr val="363D4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95%</a:t>
            </a:r>
            <a:r>
              <a:rPr dirty="0" sz="1050" spc="1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4B4B4B"/>
                </a:solidFill>
                <a:latin typeface="Arial"/>
                <a:cs typeface="Arial"/>
              </a:rPr>
              <a:t>confidence</a:t>
            </a:r>
            <a:r>
              <a:rPr dirty="0" sz="1050" spc="5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4B4B4B"/>
                </a:solidFill>
                <a:latin typeface="Arial"/>
                <a:cs typeface="Arial"/>
              </a:rPr>
              <a:t>interva</a:t>
            </a:r>
            <a:r>
              <a:rPr dirty="0" baseline="47619" sz="1050" spc="-37">
                <a:solidFill>
                  <a:srgbClr val="C6C6C6"/>
                </a:solidFill>
                <a:latin typeface="Arial"/>
                <a:cs typeface="Arial"/>
              </a:rPr>
              <a:t>'</a:t>
            </a:r>
            <a:r>
              <a:rPr dirty="0" baseline="47619" sz="1050" spc="-75">
                <a:solidFill>
                  <a:srgbClr val="C6C6C6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4B4B4B"/>
                </a:solidFill>
                <a:latin typeface="Arial"/>
                <a:cs typeface="Arial"/>
              </a:rPr>
              <a:t>ls</a:t>
            </a:r>
            <a:endParaRPr sz="10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8369280" y="3999688"/>
            <a:ext cx="304800" cy="276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50" spc="-295">
                <a:solidFill>
                  <a:srgbClr val="363D49"/>
                </a:solidFill>
                <a:latin typeface="Courier New"/>
                <a:cs typeface="Courier New"/>
              </a:rPr>
              <a:t>1</a:t>
            </a:r>
            <a:r>
              <a:rPr dirty="0" sz="1650" spc="-295">
                <a:solidFill>
                  <a:srgbClr val="232323"/>
                </a:solidFill>
                <a:latin typeface="Courier New"/>
                <a:cs typeface="Courier New"/>
              </a:rPr>
              <a:t>.</a:t>
            </a:r>
            <a:r>
              <a:rPr dirty="0" sz="1650" spc="-295">
                <a:solidFill>
                  <a:srgbClr val="363D49"/>
                </a:solidFill>
                <a:latin typeface="Courier New"/>
                <a:cs typeface="Courier New"/>
              </a:rPr>
              <a:t>6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8711274" y="3909125"/>
            <a:ext cx="215900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sz="4450" spc="-1370">
                <a:solidFill>
                  <a:srgbClr val="232323"/>
                </a:solidFill>
                <a:latin typeface="Arial"/>
                <a:cs typeface="Arial"/>
              </a:rPr>
              <a:t>-</a:t>
            </a:r>
            <a:r>
              <a:rPr dirty="0" baseline="-8101" sz="3600" spc="-547">
                <a:solidFill>
                  <a:srgbClr val="232323"/>
                </a:solidFill>
                <a:latin typeface="Times New Roman"/>
                <a:cs typeface="Times New Roman"/>
              </a:rPr>
              <a:t>u</a:t>
            </a:r>
            <a:endParaRPr baseline="-8101" sz="36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8369280" y="4409187"/>
            <a:ext cx="452120" cy="276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50" spc="-270">
                <a:solidFill>
                  <a:srgbClr val="363D49"/>
                </a:solidFill>
                <a:latin typeface="Courier New"/>
                <a:cs typeface="Courier New"/>
              </a:rPr>
              <a:t>1</a:t>
            </a:r>
            <a:r>
              <a:rPr dirty="0" sz="1650" spc="-270">
                <a:solidFill>
                  <a:srgbClr val="232323"/>
                </a:solidFill>
                <a:latin typeface="Courier New"/>
                <a:cs typeface="Courier New"/>
              </a:rPr>
              <a:t>.</a:t>
            </a:r>
            <a:r>
              <a:rPr dirty="0" sz="1650" spc="-270">
                <a:solidFill>
                  <a:srgbClr val="363D49"/>
                </a:solidFill>
                <a:latin typeface="Courier New"/>
                <a:cs typeface="Courier New"/>
              </a:rPr>
              <a:t>4</a:t>
            </a:r>
            <a:r>
              <a:rPr dirty="0" sz="1650" spc="-114">
                <a:solidFill>
                  <a:srgbClr val="363D49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4B4B4B"/>
                </a:solidFill>
                <a:latin typeface="Arial"/>
                <a:cs typeface="Arial"/>
              </a:rPr>
              <a:t>0</a:t>
            </a:r>
            <a:endParaRPr sz="7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8739839" y="4350125"/>
            <a:ext cx="266700" cy="5835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50" spc="-585">
                <a:solidFill>
                  <a:srgbClr val="232323"/>
                </a:solidFill>
                <a:latin typeface="Arial"/>
                <a:cs typeface="Arial"/>
              </a:rPr>
              <a:t>--</a:t>
            </a:r>
            <a:r>
              <a:rPr dirty="0" sz="3650" spc="-635">
                <a:solidFill>
                  <a:srgbClr val="232323"/>
                </a:solidFill>
                <a:latin typeface="Arial"/>
                <a:cs typeface="Arial"/>
              </a:rPr>
              <a:t>-</a:t>
            </a:r>
            <a:endParaRPr sz="36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8336011" y="4767498"/>
            <a:ext cx="709930" cy="365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650" spc="-250">
                <a:solidFill>
                  <a:srgbClr val="363D49"/>
                </a:solidFill>
                <a:latin typeface="Courier New"/>
                <a:cs typeface="Courier New"/>
              </a:rPr>
              <a:t>1</a:t>
            </a:r>
            <a:r>
              <a:rPr dirty="0" sz="1650" spc="-250">
                <a:solidFill>
                  <a:srgbClr val="232323"/>
                </a:solidFill>
                <a:latin typeface="Courier New"/>
                <a:cs typeface="Courier New"/>
              </a:rPr>
              <a:t>.</a:t>
            </a:r>
            <a:r>
              <a:rPr dirty="0" sz="1650" spc="-250">
                <a:solidFill>
                  <a:srgbClr val="363D49"/>
                </a:solidFill>
                <a:latin typeface="Courier New"/>
                <a:cs typeface="Courier New"/>
              </a:rPr>
              <a:t>2</a:t>
            </a:r>
            <a:r>
              <a:rPr dirty="0" sz="1650" spc="-225">
                <a:solidFill>
                  <a:srgbClr val="363D49"/>
                </a:solidFill>
                <a:latin typeface="Courier New"/>
                <a:cs typeface="Courier New"/>
              </a:rPr>
              <a:t> </a:t>
            </a:r>
            <a:r>
              <a:rPr dirty="0" sz="2200" spc="-305">
                <a:solidFill>
                  <a:srgbClr val="232323"/>
                </a:solidFill>
                <a:latin typeface="Arial"/>
                <a:cs typeface="Arial"/>
              </a:rPr>
              <a:t>r</a:t>
            </a:r>
            <a:r>
              <a:rPr dirty="0" baseline="26041" sz="2400" spc="-1335">
                <a:solidFill>
                  <a:srgbClr val="232323"/>
                </a:solidFill>
                <a:latin typeface="Arial"/>
                <a:cs typeface="Arial"/>
              </a:rPr>
              <a:t>&gt;</a:t>
            </a:r>
            <a:r>
              <a:rPr dirty="0" sz="2200" spc="-295">
                <a:solidFill>
                  <a:srgbClr val="232323"/>
                </a:solidFill>
                <a:latin typeface="Arial"/>
                <a:cs typeface="Arial"/>
              </a:rPr>
              <a:t>o</a:t>
            </a:r>
            <a:r>
              <a:rPr dirty="0" baseline="26041" sz="2400" spc="-142">
                <a:solidFill>
                  <a:srgbClr val="232323"/>
                </a:solidFill>
                <a:latin typeface="Arial"/>
                <a:cs typeface="Arial"/>
              </a:rPr>
              <a:t>-</a:t>
            </a:r>
            <a:endParaRPr baseline="26041" sz="24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8353337" y="5070686"/>
            <a:ext cx="614680" cy="10001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42595">
              <a:lnSpc>
                <a:spcPts val="1860"/>
              </a:lnSpc>
              <a:spcBef>
                <a:spcPts val="114"/>
              </a:spcBef>
            </a:pPr>
            <a:r>
              <a:rPr dirty="0" sz="1750" spc="-50">
                <a:solidFill>
                  <a:srgbClr val="232323"/>
                </a:solidFill>
                <a:latin typeface="Arial"/>
                <a:cs typeface="Arial"/>
              </a:rPr>
              <a:t>E</a:t>
            </a:r>
            <a:endParaRPr sz="1750">
              <a:latin typeface="Arial"/>
              <a:cs typeface="Arial"/>
            </a:endParaRPr>
          </a:p>
          <a:p>
            <a:pPr marL="407670">
              <a:lnSpc>
                <a:spcPts val="1075"/>
              </a:lnSpc>
            </a:pPr>
            <a:r>
              <a:rPr dirty="0" sz="1250" spc="-50" b="1">
                <a:solidFill>
                  <a:srgbClr val="232323"/>
                </a:solidFill>
                <a:latin typeface="Arial"/>
                <a:cs typeface="Arial"/>
              </a:rPr>
              <a:t>0</a:t>
            </a:r>
            <a:endParaRPr sz="1250">
              <a:latin typeface="Arial"/>
              <a:cs typeface="Arial"/>
            </a:endParaRPr>
          </a:p>
          <a:p>
            <a:pPr marL="462915">
              <a:lnSpc>
                <a:spcPts val="869"/>
              </a:lnSpc>
            </a:pPr>
            <a:r>
              <a:rPr dirty="0" sz="1050" spc="-50" b="1">
                <a:solidFill>
                  <a:srgbClr val="232323"/>
                </a:solidFill>
                <a:latin typeface="Times New Roman"/>
                <a:cs typeface="Times New Roman"/>
              </a:rPr>
              <a:t>C</a:t>
            </a:r>
            <a:endParaRPr sz="1050">
              <a:latin typeface="Times New Roman"/>
              <a:cs typeface="Times New Roman"/>
            </a:endParaRPr>
          </a:p>
          <a:p>
            <a:pPr marL="412115">
              <a:lnSpc>
                <a:spcPts val="1120"/>
              </a:lnSpc>
            </a:pPr>
            <a:r>
              <a:rPr dirty="0" sz="1250" spc="-25">
                <a:solidFill>
                  <a:srgbClr val="232323"/>
                </a:solidFill>
                <a:latin typeface="Arial"/>
                <a:cs typeface="Arial"/>
              </a:rPr>
              <a:t>&lt;(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ts val="1805"/>
              </a:lnSpc>
            </a:pPr>
            <a:r>
              <a:rPr dirty="0" sz="1650" spc="-265">
                <a:solidFill>
                  <a:srgbClr val="363D49"/>
                </a:solidFill>
                <a:latin typeface="Courier New"/>
                <a:cs typeface="Courier New"/>
              </a:rPr>
              <a:t>0.8</a:t>
            </a:r>
            <a:r>
              <a:rPr dirty="0" sz="1650" spc="275">
                <a:solidFill>
                  <a:srgbClr val="363D49"/>
                </a:solidFill>
                <a:latin typeface="Courier New"/>
                <a:cs typeface="Courier New"/>
              </a:rPr>
              <a:t> </a:t>
            </a:r>
            <a:r>
              <a:rPr dirty="0" sz="1250" spc="-190" b="1">
                <a:solidFill>
                  <a:srgbClr val="232323"/>
                </a:solidFill>
                <a:latin typeface="Arial"/>
                <a:cs typeface="Arial"/>
              </a:rPr>
              <a:t>&lt;D</a:t>
            </a:r>
            <a:endParaRPr sz="1250">
              <a:latin typeface="Arial"/>
              <a:cs typeface="Arial"/>
            </a:endParaRPr>
          </a:p>
          <a:p>
            <a:pPr marL="453390">
              <a:lnSpc>
                <a:spcPct val="100000"/>
              </a:lnSpc>
              <a:spcBef>
                <a:spcPts val="135"/>
              </a:spcBef>
            </a:pPr>
            <a:r>
              <a:rPr dirty="0" sz="650" spc="-25" b="1">
                <a:solidFill>
                  <a:srgbClr val="232323"/>
                </a:solidFill>
                <a:latin typeface="Arial"/>
                <a:cs typeface="Arial"/>
              </a:rPr>
              <a:t>1-</a:t>
            </a:r>
            <a:endParaRPr sz="6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8796186" y="6027495"/>
            <a:ext cx="174625" cy="1860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60" b="1">
                <a:solidFill>
                  <a:srgbClr val="232323"/>
                </a:solidFill>
                <a:latin typeface="Arial"/>
                <a:cs typeface="Arial"/>
              </a:rPr>
              <a:t>::::1</a:t>
            </a:r>
            <a:endParaRPr sz="105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8370843" y="6047182"/>
            <a:ext cx="599440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363D49"/>
                </a:solidFill>
                <a:latin typeface="Arial"/>
                <a:cs typeface="Arial"/>
              </a:rPr>
              <a:t>o.6</a:t>
            </a:r>
            <a:r>
              <a:rPr dirty="0" sz="1400" spc="90">
                <a:solidFill>
                  <a:srgbClr val="363D49"/>
                </a:solidFill>
                <a:latin typeface="Arial"/>
                <a:cs typeface="Arial"/>
              </a:rPr>
              <a:t>  </a:t>
            </a:r>
            <a:r>
              <a:rPr dirty="0" sz="1950" spc="-335">
                <a:solidFill>
                  <a:srgbClr val="232323"/>
                </a:solidFill>
                <a:latin typeface="Arial"/>
                <a:cs typeface="Arial"/>
              </a:rPr>
              <a:t>1u</a:t>
            </a:r>
            <a:endParaRPr sz="195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8794583" y="6342494"/>
            <a:ext cx="178435" cy="2451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700"/>
              </a:lnSpc>
              <a:spcBef>
                <a:spcPts val="130"/>
              </a:spcBef>
            </a:pPr>
            <a:r>
              <a:rPr dirty="0" sz="650" spc="-25" b="1">
                <a:solidFill>
                  <a:srgbClr val="232323"/>
                </a:solidFill>
                <a:latin typeface="Arial"/>
                <a:cs typeface="Arial"/>
              </a:rPr>
              <a:t>1-</a:t>
            </a:r>
            <a:endParaRPr sz="650">
              <a:latin typeface="Arial"/>
              <a:cs typeface="Arial"/>
            </a:endParaRPr>
          </a:p>
          <a:p>
            <a:pPr marL="13335">
              <a:lnSpc>
                <a:spcPts val="1000"/>
              </a:lnSpc>
            </a:pPr>
            <a:r>
              <a:rPr dirty="0" sz="900" spc="-25" b="1">
                <a:solidFill>
                  <a:srgbClr val="232323"/>
                </a:solidFill>
                <a:latin typeface="Arial"/>
                <a:cs typeface="Arial"/>
              </a:rPr>
              <a:t>(J)</a:t>
            </a:r>
            <a:endParaRPr sz="9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8353337" y="6496056"/>
            <a:ext cx="674370" cy="257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50"/>
              </a:lnSpc>
            </a:pPr>
            <a:r>
              <a:rPr dirty="0" sz="1650" spc="-265">
                <a:solidFill>
                  <a:srgbClr val="363D49"/>
                </a:solidFill>
                <a:latin typeface="Courier New"/>
                <a:cs typeface="Courier New"/>
              </a:rPr>
              <a:t>0.4</a:t>
            </a:r>
            <a:r>
              <a:rPr dirty="0" sz="1650" spc="275">
                <a:solidFill>
                  <a:srgbClr val="363D49"/>
                </a:solidFill>
                <a:latin typeface="Courier New"/>
                <a:cs typeface="Courier New"/>
              </a:rPr>
              <a:t> </a:t>
            </a:r>
            <a:r>
              <a:rPr dirty="0" sz="1500" spc="-25">
                <a:solidFill>
                  <a:srgbClr val="232323"/>
                </a:solidFill>
                <a:latin typeface="Arial"/>
                <a:cs typeface="Arial"/>
              </a:rPr>
              <a:t>a..</a:t>
            </a:r>
            <a:endParaRPr sz="15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8783706" y="6653555"/>
            <a:ext cx="170815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 spc="-50">
                <a:solidFill>
                  <a:srgbClr val="232323"/>
                </a:solidFill>
                <a:latin typeface="Arial"/>
                <a:cs typeface="Arial"/>
              </a:rPr>
              <a:t>E</a:t>
            </a:r>
            <a:endParaRPr sz="175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8353337" y="6897680"/>
            <a:ext cx="518159" cy="276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50" spc="-265">
                <a:solidFill>
                  <a:srgbClr val="363D49"/>
                </a:solidFill>
                <a:latin typeface="Courier New"/>
                <a:cs typeface="Courier New"/>
              </a:rPr>
              <a:t>0.2</a:t>
            </a:r>
            <a:r>
              <a:rPr dirty="0" sz="1650" spc="-60">
                <a:solidFill>
                  <a:srgbClr val="363D49"/>
                </a:solidFill>
                <a:latin typeface="Courier New"/>
                <a:cs typeface="Courier New"/>
              </a:rPr>
              <a:t> </a:t>
            </a:r>
            <a:r>
              <a:rPr dirty="0" sz="1650" spc="-915">
                <a:solidFill>
                  <a:srgbClr val="232323"/>
                </a:solidFill>
                <a:latin typeface="Courier New"/>
                <a:cs typeface="Courier New"/>
              </a:rPr>
              <a:t>�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8369255" y="7173304"/>
            <a:ext cx="544830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70205" algn="l"/>
              </a:tabLst>
            </a:pPr>
            <a:r>
              <a:rPr dirty="0" sz="1400" spc="-50">
                <a:solidFill>
                  <a:srgbClr val="232323"/>
                </a:solidFill>
                <a:latin typeface="Arial"/>
                <a:cs typeface="Arial"/>
              </a:rPr>
              <a:t>0</a:t>
            </a:r>
            <a:r>
              <a:rPr dirty="0" sz="1400">
                <a:solidFill>
                  <a:srgbClr val="232323"/>
                </a:solidFill>
                <a:latin typeface="Arial"/>
                <a:cs typeface="Arial"/>
              </a:rPr>
              <a:t>	</a:t>
            </a:r>
            <a:r>
              <a:rPr dirty="0" sz="2800" spc="-470" i="1">
                <a:solidFill>
                  <a:srgbClr val="232323"/>
                </a:solidFill>
                <a:latin typeface="Courier New"/>
                <a:cs typeface="Courier New"/>
              </a:rPr>
              <a:t>i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8721537" y="7318992"/>
            <a:ext cx="143510" cy="4699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baseline="-18199" sz="4350" spc="-1425">
                <a:solidFill>
                  <a:srgbClr val="232323"/>
                </a:solidFill>
                <a:latin typeface="Times New Roman"/>
                <a:cs typeface="Times New Roman"/>
              </a:rPr>
              <a:t>-</a:t>
            </a:r>
            <a:r>
              <a:rPr dirty="0" sz="1200" spc="-50" b="1">
                <a:solidFill>
                  <a:srgbClr val="232323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8357719" y="7708803"/>
            <a:ext cx="60833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345">
                <a:solidFill>
                  <a:srgbClr val="4B4B4B"/>
                </a:solidFill>
                <a:latin typeface="Courier New"/>
                <a:cs typeface="Courier New"/>
              </a:rPr>
              <a:t>-</a:t>
            </a:r>
            <a:r>
              <a:rPr dirty="0" sz="1650" spc="-340">
                <a:solidFill>
                  <a:srgbClr val="4B4B4B"/>
                </a:solidFill>
                <a:latin typeface="Courier New"/>
                <a:cs typeface="Courier New"/>
              </a:rPr>
              <a:t>0.2</a:t>
            </a:r>
            <a:r>
              <a:rPr dirty="0" sz="1650" spc="-585">
                <a:solidFill>
                  <a:srgbClr val="4B4B4B"/>
                </a:solidFill>
                <a:latin typeface="Courier New"/>
                <a:cs typeface="Courier New"/>
              </a:rPr>
              <a:t> </a:t>
            </a:r>
            <a:r>
              <a:rPr dirty="0" sz="1700" spc="-320" b="1">
                <a:solidFill>
                  <a:srgbClr val="232323"/>
                </a:solidFill>
                <a:latin typeface="Arial"/>
                <a:cs typeface="Arial"/>
              </a:rPr>
              <a:t>&lt;.9</a:t>
            </a:r>
            <a:endParaRPr sz="17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8748869" y="7027617"/>
            <a:ext cx="9461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-365">
                <a:solidFill>
                  <a:srgbClr val="232323"/>
                </a:solidFill>
                <a:latin typeface="Times New Roman"/>
                <a:cs typeface="Times New Roman"/>
              </a:rPr>
              <a:t>-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0912849" y="8370302"/>
            <a:ext cx="1297305" cy="276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54075" algn="l"/>
              </a:tabLst>
            </a:pPr>
            <a:r>
              <a:rPr dirty="0" sz="1650" spc="-20">
                <a:solidFill>
                  <a:srgbClr val="363D49"/>
                </a:solidFill>
                <a:latin typeface="Courier New"/>
                <a:cs typeface="Courier New"/>
              </a:rPr>
              <a:t>1860</a:t>
            </a:r>
            <a:r>
              <a:rPr dirty="0" sz="1650">
                <a:solidFill>
                  <a:srgbClr val="363D49"/>
                </a:solidFill>
                <a:latin typeface="Courier New"/>
                <a:cs typeface="Courier New"/>
              </a:rPr>
              <a:t>	</a:t>
            </a:r>
            <a:r>
              <a:rPr dirty="0" sz="1650" spc="-135">
                <a:solidFill>
                  <a:srgbClr val="363D49"/>
                </a:solidFill>
                <a:latin typeface="Courier New"/>
                <a:cs typeface="Courier New"/>
              </a:rPr>
              <a:t>1880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2611779" y="8370302"/>
            <a:ext cx="5561330" cy="276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69950" algn="l"/>
                <a:tab pos="1718945" algn="l"/>
                <a:tab pos="2568575" algn="l"/>
                <a:tab pos="3418204" algn="l"/>
                <a:tab pos="4265295" algn="l"/>
                <a:tab pos="5122545" algn="l"/>
              </a:tabLst>
            </a:pPr>
            <a:r>
              <a:rPr dirty="0" sz="1650" spc="-20">
                <a:solidFill>
                  <a:srgbClr val="232323"/>
                </a:solidFill>
                <a:latin typeface="Courier New"/>
                <a:cs typeface="Courier New"/>
              </a:rPr>
              <a:t>1</a:t>
            </a:r>
            <a:r>
              <a:rPr dirty="0" sz="1650" spc="-20">
                <a:solidFill>
                  <a:srgbClr val="363D49"/>
                </a:solidFill>
                <a:latin typeface="Courier New"/>
                <a:cs typeface="Courier New"/>
              </a:rPr>
              <a:t>900</a:t>
            </a:r>
            <a:r>
              <a:rPr dirty="0" sz="1650">
                <a:solidFill>
                  <a:srgbClr val="363D49"/>
                </a:solidFill>
                <a:latin typeface="Courier New"/>
                <a:cs typeface="Courier New"/>
              </a:rPr>
              <a:t>	</a:t>
            </a:r>
            <a:r>
              <a:rPr dirty="0" sz="1650" spc="-20">
                <a:solidFill>
                  <a:srgbClr val="232323"/>
                </a:solidFill>
                <a:latin typeface="Courier New"/>
                <a:cs typeface="Courier New"/>
              </a:rPr>
              <a:t>1</a:t>
            </a:r>
            <a:r>
              <a:rPr dirty="0" sz="1650" spc="-20">
                <a:solidFill>
                  <a:srgbClr val="363D49"/>
                </a:solidFill>
                <a:latin typeface="Courier New"/>
                <a:cs typeface="Courier New"/>
              </a:rPr>
              <a:t>920</a:t>
            </a:r>
            <a:r>
              <a:rPr dirty="0" sz="1650">
                <a:solidFill>
                  <a:srgbClr val="363D49"/>
                </a:solidFill>
                <a:latin typeface="Courier New"/>
                <a:cs typeface="Courier New"/>
              </a:rPr>
              <a:t>	</a:t>
            </a:r>
            <a:r>
              <a:rPr dirty="0" sz="1650" spc="-20">
                <a:solidFill>
                  <a:srgbClr val="363D49"/>
                </a:solidFill>
                <a:latin typeface="Courier New"/>
                <a:cs typeface="Courier New"/>
              </a:rPr>
              <a:t>1940</a:t>
            </a:r>
            <a:r>
              <a:rPr dirty="0" sz="1650">
                <a:solidFill>
                  <a:srgbClr val="363D49"/>
                </a:solidFill>
                <a:latin typeface="Courier New"/>
                <a:cs typeface="Courier New"/>
              </a:rPr>
              <a:t>	</a:t>
            </a:r>
            <a:r>
              <a:rPr dirty="0" sz="1650" spc="-20">
                <a:solidFill>
                  <a:srgbClr val="363D49"/>
                </a:solidFill>
                <a:latin typeface="Courier New"/>
                <a:cs typeface="Courier New"/>
              </a:rPr>
              <a:t>1960</a:t>
            </a:r>
            <a:r>
              <a:rPr dirty="0" sz="1650">
                <a:solidFill>
                  <a:srgbClr val="363D49"/>
                </a:solidFill>
                <a:latin typeface="Courier New"/>
                <a:cs typeface="Courier New"/>
              </a:rPr>
              <a:t>	</a:t>
            </a:r>
            <a:r>
              <a:rPr dirty="0" sz="1650" spc="-20">
                <a:solidFill>
                  <a:srgbClr val="363D49"/>
                </a:solidFill>
                <a:latin typeface="Courier New"/>
                <a:cs typeface="Courier New"/>
              </a:rPr>
              <a:t>1980</a:t>
            </a:r>
            <a:r>
              <a:rPr dirty="0" sz="1650">
                <a:solidFill>
                  <a:srgbClr val="363D49"/>
                </a:solidFill>
                <a:latin typeface="Courier New"/>
                <a:cs typeface="Courier New"/>
              </a:rPr>
              <a:t>	</a:t>
            </a:r>
            <a:r>
              <a:rPr dirty="0" sz="1650" spc="-20">
                <a:solidFill>
                  <a:srgbClr val="4B4B4B"/>
                </a:solidFill>
                <a:latin typeface="Courier New"/>
                <a:cs typeface="Courier New"/>
              </a:rPr>
              <a:t>2000</a:t>
            </a:r>
            <a:r>
              <a:rPr dirty="0" sz="1650">
                <a:solidFill>
                  <a:srgbClr val="4B4B4B"/>
                </a:solidFill>
                <a:latin typeface="Courier New"/>
                <a:cs typeface="Courier New"/>
              </a:rPr>
              <a:t>	</a:t>
            </a:r>
            <a:r>
              <a:rPr dirty="0" sz="1650" spc="-145">
                <a:solidFill>
                  <a:srgbClr val="4B4B4B"/>
                </a:solidFill>
                <a:latin typeface="Courier New"/>
                <a:cs typeface="Courier New"/>
              </a:rPr>
              <a:t>2020</a:t>
            </a:r>
            <a:endParaRPr sz="16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047" y="1039586"/>
            <a:ext cx="487656" cy="535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8564" y="1008087"/>
            <a:ext cx="440464" cy="566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56337" y="992333"/>
            <a:ext cx="3822601" cy="5984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29329" y="4425824"/>
            <a:ext cx="802274" cy="7874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74485" y="4425824"/>
            <a:ext cx="786543" cy="80324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903905" y="4425824"/>
            <a:ext cx="802274" cy="78749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3852" y="8489314"/>
            <a:ext cx="5773229" cy="299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89006" y="8489314"/>
            <a:ext cx="5757497" cy="299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418433" y="8489314"/>
            <a:ext cx="5773229" cy="299249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15"/>
              </a:spcBef>
            </a:pPr>
            <a:r>
              <a:rPr dirty="0" spc="430">
                <a:solidFill>
                  <a:srgbClr val="082F5D"/>
                </a:solidFill>
              </a:rPr>
              <a:t>esearc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23783" y="5444747"/>
            <a:ext cx="237109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-100" b="1">
                <a:solidFill>
                  <a:srgbClr val="082F5D"/>
                </a:solidFill>
                <a:latin typeface="Times New Roman"/>
                <a:cs typeface="Times New Roman"/>
              </a:rPr>
              <a:t>Global</a:t>
            </a:r>
            <a:r>
              <a:rPr dirty="0" sz="2700" spc="-135" b="1">
                <a:solidFill>
                  <a:srgbClr val="082F5D"/>
                </a:solidFill>
                <a:latin typeface="Times New Roman"/>
                <a:cs typeface="Times New Roman"/>
              </a:rPr>
              <a:t> </a:t>
            </a:r>
            <a:r>
              <a:rPr dirty="0" sz="2700" spc="-55" b="1">
                <a:solidFill>
                  <a:srgbClr val="082F5D"/>
                </a:solidFill>
                <a:latin typeface="Times New Roman"/>
                <a:cs typeface="Times New Roman"/>
              </a:rPr>
              <a:t>Warming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52508" y="6112545"/>
            <a:ext cx="4116070" cy="1537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37800"/>
              </a:lnSpc>
              <a:spcBef>
                <a:spcPts val="95"/>
              </a:spcBef>
            </a:pPr>
            <a:r>
              <a:rPr dirty="0" sz="2400">
                <a:solidFill>
                  <a:srgbClr val="343D4D"/>
                </a:solidFill>
                <a:latin typeface="Arial"/>
                <a:cs typeface="Arial"/>
              </a:rPr>
              <a:t>Increasing</a:t>
            </a:r>
            <a:r>
              <a:rPr dirty="0" sz="2400" spc="40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80">
                <a:solidFill>
                  <a:srgbClr val="343D4D"/>
                </a:solidFill>
                <a:latin typeface="Arial"/>
                <a:cs typeface="Arial"/>
              </a:rPr>
              <a:t>temperatures </a:t>
            </a:r>
            <a:r>
              <a:rPr dirty="0" sz="2400" spc="85">
                <a:solidFill>
                  <a:srgbClr val="343D4D"/>
                </a:solidFill>
                <a:latin typeface="Arial"/>
                <a:cs typeface="Arial"/>
              </a:rPr>
              <a:t>highlight</a:t>
            </a:r>
            <a:r>
              <a:rPr dirty="0" sz="2400" spc="11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105">
                <a:solidFill>
                  <a:srgbClr val="343D4D"/>
                </a:solidFill>
                <a:latin typeface="Arial"/>
                <a:cs typeface="Arial"/>
              </a:rPr>
              <a:t>the</a:t>
            </a:r>
            <a:r>
              <a:rPr dirty="0" sz="2400" spc="6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343D4D"/>
                </a:solidFill>
                <a:latin typeface="Arial"/>
                <a:cs typeface="Arial"/>
              </a:rPr>
              <a:t>urgent</a:t>
            </a:r>
            <a:r>
              <a:rPr dirty="0" sz="2400" spc="95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343D4D"/>
                </a:solidFill>
                <a:latin typeface="Arial"/>
                <a:cs typeface="Arial"/>
              </a:rPr>
              <a:t>need</a:t>
            </a:r>
            <a:r>
              <a:rPr dirty="0" sz="2400" spc="35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343D4D"/>
                </a:solidFill>
                <a:latin typeface="Arial"/>
                <a:cs typeface="Arial"/>
              </a:rPr>
              <a:t>for </a:t>
            </a:r>
            <a:r>
              <a:rPr dirty="0" sz="2400" spc="114">
                <a:solidFill>
                  <a:srgbClr val="343D4D"/>
                </a:solidFill>
                <a:latin typeface="Arial"/>
                <a:cs typeface="Arial"/>
              </a:rPr>
              <a:t>robust</a:t>
            </a:r>
            <a:r>
              <a:rPr dirty="0" sz="2400" spc="8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140">
                <a:solidFill>
                  <a:srgbClr val="343D4D"/>
                </a:solidFill>
                <a:latin typeface="Arial"/>
                <a:cs typeface="Arial"/>
              </a:rPr>
              <a:t>prediction</a:t>
            </a:r>
            <a:r>
              <a:rPr dirty="0" sz="2400" spc="-55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40">
                <a:solidFill>
                  <a:srgbClr val="343D4D"/>
                </a:solidFill>
                <a:latin typeface="Arial"/>
                <a:cs typeface="Arial"/>
              </a:rPr>
              <a:t>systems.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92086" y="5444747"/>
            <a:ext cx="253492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-80" b="1">
                <a:solidFill>
                  <a:srgbClr val="082F5D"/>
                </a:solidFill>
                <a:latin typeface="Times New Roman"/>
                <a:cs typeface="Times New Roman"/>
              </a:rPr>
              <a:t>Natural</a:t>
            </a:r>
            <a:r>
              <a:rPr dirty="0" sz="2700" spc="-45" b="1">
                <a:solidFill>
                  <a:srgbClr val="082F5D"/>
                </a:solidFill>
                <a:latin typeface="Times New Roman"/>
                <a:cs typeface="Times New Roman"/>
              </a:rPr>
              <a:t> </a:t>
            </a:r>
            <a:r>
              <a:rPr dirty="0" sz="2700" spc="-10" b="1">
                <a:solidFill>
                  <a:srgbClr val="082F5D"/>
                </a:solidFill>
                <a:latin typeface="Times New Roman"/>
                <a:cs typeface="Times New Roman"/>
              </a:rPr>
              <a:t>Disasters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11850" y="6112545"/>
            <a:ext cx="4481195" cy="1537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37800"/>
              </a:lnSpc>
              <a:spcBef>
                <a:spcPts val="95"/>
              </a:spcBef>
            </a:pPr>
            <a:r>
              <a:rPr dirty="0" sz="2400">
                <a:solidFill>
                  <a:srgbClr val="343D4D"/>
                </a:solidFill>
                <a:latin typeface="Arial"/>
                <a:cs typeface="Arial"/>
              </a:rPr>
              <a:t>Floods,</a:t>
            </a:r>
            <a:r>
              <a:rPr dirty="0" sz="2400" spc="6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80">
                <a:solidFill>
                  <a:srgbClr val="343D4D"/>
                </a:solidFill>
                <a:latin typeface="Arial"/>
                <a:cs typeface="Arial"/>
              </a:rPr>
              <a:t>droughts,</a:t>
            </a:r>
            <a:r>
              <a:rPr dirty="0" sz="2400" spc="95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90">
                <a:solidFill>
                  <a:srgbClr val="343D4D"/>
                </a:solidFill>
                <a:latin typeface="Arial"/>
                <a:cs typeface="Arial"/>
              </a:rPr>
              <a:t>and</a:t>
            </a:r>
            <a:r>
              <a:rPr dirty="0" sz="2400" spc="75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343D4D"/>
                </a:solidFill>
                <a:latin typeface="Arial"/>
                <a:cs typeface="Arial"/>
              </a:rPr>
              <a:t>cyclones </a:t>
            </a:r>
            <a:r>
              <a:rPr dirty="0" sz="2400" spc="70">
                <a:solidFill>
                  <a:srgbClr val="343D4D"/>
                </a:solidFill>
                <a:latin typeface="Arial"/>
                <a:cs typeface="Arial"/>
              </a:rPr>
              <a:t>require</a:t>
            </a:r>
            <a:r>
              <a:rPr dirty="0" sz="2400" spc="-3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85">
                <a:solidFill>
                  <a:srgbClr val="343D4D"/>
                </a:solidFill>
                <a:latin typeface="Arial"/>
                <a:cs typeface="Arial"/>
              </a:rPr>
              <a:t>advanced</a:t>
            </a:r>
            <a:r>
              <a:rPr dirty="0" sz="2400" spc="155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80">
                <a:solidFill>
                  <a:srgbClr val="343D4D"/>
                </a:solidFill>
                <a:latin typeface="Arial"/>
                <a:cs typeface="Arial"/>
              </a:rPr>
              <a:t>forecasting for</a:t>
            </a:r>
            <a:r>
              <a:rPr dirty="0" sz="2400" spc="95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80">
                <a:solidFill>
                  <a:srgbClr val="343D4D"/>
                </a:solidFill>
                <a:latin typeface="Arial"/>
                <a:cs typeface="Arial"/>
              </a:rPr>
              <a:t>mitigation.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999715" y="5444747"/>
            <a:ext cx="262128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b="1">
                <a:solidFill>
                  <a:srgbClr val="082F5D"/>
                </a:solidFill>
                <a:latin typeface="Times New Roman"/>
                <a:cs typeface="Times New Roman"/>
              </a:rPr>
              <a:t>Agri-</a:t>
            </a:r>
            <a:r>
              <a:rPr dirty="0" sz="2700" spc="-10" b="1">
                <a:solidFill>
                  <a:srgbClr val="082F5D"/>
                </a:solidFill>
                <a:latin typeface="Times New Roman"/>
                <a:cs typeface="Times New Roman"/>
              </a:rPr>
              <a:t>Dependency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250688" y="6112545"/>
            <a:ext cx="4128770" cy="15379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53340">
              <a:lnSpc>
                <a:spcPct val="137800"/>
              </a:lnSpc>
              <a:spcBef>
                <a:spcPts val="95"/>
              </a:spcBef>
            </a:pPr>
            <a:r>
              <a:rPr dirty="0" sz="2400" spc="80">
                <a:solidFill>
                  <a:srgbClr val="343D4D"/>
                </a:solidFill>
                <a:latin typeface="Arial"/>
                <a:cs typeface="Arial"/>
              </a:rPr>
              <a:t>Indian</a:t>
            </a:r>
            <a:r>
              <a:rPr dirty="0" sz="2400" spc="-13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55">
                <a:solidFill>
                  <a:srgbClr val="343D4D"/>
                </a:solidFill>
                <a:latin typeface="Arial"/>
                <a:cs typeface="Arial"/>
              </a:rPr>
              <a:t>agriculture</a:t>
            </a:r>
            <a:r>
              <a:rPr dirty="0" sz="2400" spc="4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95">
                <a:solidFill>
                  <a:srgbClr val="343D4D"/>
                </a:solidFill>
                <a:latin typeface="Arial"/>
                <a:cs typeface="Arial"/>
              </a:rPr>
              <a:t>depends </a:t>
            </a:r>
            <a:r>
              <a:rPr dirty="0" sz="2400" spc="60">
                <a:solidFill>
                  <a:srgbClr val="343D4D"/>
                </a:solidFill>
                <a:latin typeface="Arial"/>
                <a:cs typeface="Arial"/>
              </a:rPr>
              <a:t>heavily</a:t>
            </a:r>
            <a:r>
              <a:rPr dirty="0" sz="2400" spc="75">
                <a:solidFill>
                  <a:srgbClr val="343D4D"/>
                </a:solidFill>
                <a:latin typeface="Arial"/>
                <a:cs typeface="Arial"/>
              </a:rPr>
              <a:t> on</a:t>
            </a:r>
            <a:r>
              <a:rPr dirty="0" sz="2400" spc="-45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130">
                <a:solidFill>
                  <a:srgbClr val="343D4D"/>
                </a:solidFill>
                <a:latin typeface="Arial"/>
                <a:cs typeface="Arial"/>
              </a:rPr>
              <a:t>climate-</a:t>
            </a:r>
            <a:r>
              <a:rPr dirty="0" sz="2400" spc="120">
                <a:solidFill>
                  <a:srgbClr val="343D4D"/>
                </a:solidFill>
                <a:latin typeface="Arial"/>
                <a:cs typeface="Arial"/>
              </a:rPr>
              <a:t>sensitive </a:t>
            </a:r>
            <a:r>
              <a:rPr dirty="0" sz="2400">
                <a:solidFill>
                  <a:srgbClr val="343D4D"/>
                </a:solidFill>
                <a:latin typeface="Arial"/>
                <a:cs typeface="Arial"/>
              </a:rPr>
              <a:t>seasonal</a:t>
            </a:r>
            <a:r>
              <a:rPr dirty="0" sz="2400" spc="135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343D4D"/>
                </a:solidFill>
                <a:latin typeface="Arial"/>
                <a:cs typeface="Arial"/>
              </a:rPr>
              <a:t>cycles.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047" y="1039586"/>
            <a:ext cx="424733" cy="5354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6822" y="1165582"/>
            <a:ext cx="1809050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88912" y="992333"/>
            <a:ext cx="3492253" cy="75599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74351" y="770950"/>
            <a:ext cx="182880" cy="549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450" spc="-50">
                <a:solidFill>
                  <a:srgbClr val="033160"/>
                </a:solidFill>
                <a:latin typeface="Arial"/>
                <a:cs typeface="Arial"/>
              </a:rPr>
              <a:t>•</a:t>
            </a:r>
            <a:endParaRPr sz="345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808242" y="1026886"/>
            <a:ext cx="546100" cy="66802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200" spc="25"/>
              <a:t>r1</a:t>
            </a:r>
            <a:endParaRPr sz="4200"/>
          </a:p>
        </p:txBody>
      </p:sp>
      <p:sp>
        <p:nvSpPr>
          <p:cNvPr id="7" name="object 7"/>
          <p:cNvSpPr txBox="1"/>
          <p:nvPr/>
        </p:nvSpPr>
        <p:spPr>
          <a:xfrm>
            <a:off x="3259780" y="3503565"/>
            <a:ext cx="855344" cy="549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25755" indent="-313055">
              <a:lnSpc>
                <a:spcPct val="100000"/>
              </a:lnSpc>
              <a:spcBef>
                <a:spcPts val="90"/>
              </a:spcBef>
              <a:buClr>
                <a:srgbClr val="343F4B"/>
              </a:buClr>
              <a:buChar char="•"/>
              <a:tabLst>
                <a:tab pos="325755" algn="l"/>
              </a:tabLst>
            </a:pPr>
            <a:r>
              <a:rPr dirty="0" sz="3450" spc="-350">
                <a:solidFill>
                  <a:srgbClr val="11C69A"/>
                </a:solidFill>
                <a:latin typeface="Arial"/>
                <a:cs typeface="Arial"/>
              </a:rPr>
              <a:t>&lt;/&gt;</a:t>
            </a:r>
            <a:endParaRPr sz="3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82520" y="3498053"/>
            <a:ext cx="12511405" cy="1033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175">
              <a:lnSpc>
                <a:spcPct val="137800"/>
              </a:lnSpc>
              <a:spcBef>
                <a:spcPts val="95"/>
              </a:spcBef>
            </a:pPr>
            <a:r>
              <a:rPr dirty="0" sz="2400" spc="90" b="1">
                <a:solidFill>
                  <a:srgbClr val="343F4B"/>
                </a:solidFill>
                <a:latin typeface="Arial"/>
                <a:cs typeface="Arial"/>
              </a:rPr>
              <a:t>Model</a:t>
            </a:r>
            <a:r>
              <a:rPr dirty="0" sz="2400" spc="-45" b="1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65" b="1">
                <a:solidFill>
                  <a:srgbClr val="343F4B"/>
                </a:solidFill>
                <a:latin typeface="Arial"/>
                <a:cs typeface="Arial"/>
              </a:rPr>
              <a:t>Development:</a:t>
            </a:r>
            <a:r>
              <a:rPr dirty="0" sz="2400" spc="75" b="1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43F4B"/>
                </a:solidFill>
                <a:latin typeface="Arial"/>
                <a:cs typeface="Arial"/>
              </a:rPr>
              <a:t>Build</a:t>
            </a:r>
            <a:r>
              <a:rPr dirty="0" sz="2400" spc="6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114">
                <a:solidFill>
                  <a:srgbClr val="343F4B"/>
                </a:solidFill>
                <a:latin typeface="Arial"/>
                <a:cs typeface="Arial"/>
              </a:rPr>
              <a:t>robust </a:t>
            </a:r>
            <a:r>
              <a:rPr dirty="0" sz="2400" spc="135">
                <a:solidFill>
                  <a:srgbClr val="343F4B"/>
                </a:solidFill>
                <a:latin typeface="Arial"/>
                <a:cs typeface="Arial"/>
              </a:rPr>
              <a:t>predictive</a:t>
            </a:r>
            <a:r>
              <a:rPr dirty="0" sz="2400" spc="-2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90">
                <a:solidFill>
                  <a:srgbClr val="343F4B"/>
                </a:solidFill>
                <a:latin typeface="Arial"/>
                <a:cs typeface="Arial"/>
              </a:rPr>
              <a:t>models </a:t>
            </a:r>
            <a:r>
              <a:rPr dirty="0" sz="2400" spc="50">
                <a:solidFill>
                  <a:srgbClr val="343F4B"/>
                </a:solidFill>
                <a:latin typeface="Arial"/>
                <a:cs typeface="Arial"/>
              </a:rPr>
              <a:t>using</a:t>
            </a:r>
            <a:r>
              <a:rPr dirty="0" sz="2400" spc="-15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43F4B"/>
                </a:solidFill>
                <a:latin typeface="Arial"/>
                <a:cs typeface="Arial"/>
              </a:rPr>
              <a:t>Linear</a:t>
            </a:r>
            <a:r>
              <a:rPr dirty="0" sz="2400" spc="-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343F4B"/>
                </a:solidFill>
                <a:latin typeface="Arial"/>
                <a:cs typeface="Arial"/>
              </a:rPr>
              <a:t>Regression,</a:t>
            </a:r>
            <a:r>
              <a:rPr dirty="0" sz="2400" spc="1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343F4B"/>
                </a:solidFill>
                <a:latin typeface="Arial"/>
                <a:cs typeface="Arial"/>
              </a:rPr>
              <a:t>Random </a:t>
            </a:r>
            <a:r>
              <a:rPr dirty="0" sz="2400" spc="70">
                <a:solidFill>
                  <a:srgbClr val="343F4B"/>
                </a:solidFill>
                <a:latin typeface="Arial"/>
                <a:cs typeface="Arial"/>
              </a:rPr>
              <a:t>Forest,</a:t>
            </a:r>
            <a:r>
              <a:rPr dirty="0" sz="2400" spc="-3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343F4B"/>
                </a:solidFill>
                <a:latin typeface="Arial"/>
                <a:cs typeface="Arial"/>
              </a:rPr>
              <a:t>and</a:t>
            </a:r>
            <a:r>
              <a:rPr dirty="0" sz="2400" spc="-4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75">
                <a:solidFill>
                  <a:srgbClr val="343F4B"/>
                </a:solidFill>
                <a:latin typeface="Arial"/>
                <a:cs typeface="Arial"/>
              </a:rPr>
              <a:t>Gradient</a:t>
            </a:r>
            <a:r>
              <a:rPr dirty="0" sz="2400" spc="11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40">
                <a:solidFill>
                  <a:srgbClr val="343F4B"/>
                </a:solidFill>
                <a:latin typeface="Arial"/>
                <a:cs typeface="Arial"/>
              </a:rPr>
              <a:t>Boosting.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1398" y="4976186"/>
            <a:ext cx="82550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30200" indent="-317500">
              <a:lnSpc>
                <a:spcPct val="100000"/>
              </a:lnSpc>
              <a:spcBef>
                <a:spcPts val="130"/>
              </a:spcBef>
              <a:buClr>
                <a:srgbClr val="343F4B"/>
              </a:buClr>
              <a:buFont typeface="Arial"/>
              <a:buChar char="•"/>
              <a:tabLst>
                <a:tab pos="330200" algn="l"/>
              </a:tabLst>
            </a:pPr>
            <a:r>
              <a:rPr dirty="0" sz="2850" spc="-114" b="1" i="1">
                <a:solidFill>
                  <a:srgbClr val="11C69A"/>
                </a:solidFill>
                <a:latin typeface="Arial"/>
                <a:cs typeface="Arial"/>
              </a:rPr>
              <a:t>(Ji)</a:t>
            </a:r>
            <a:endParaRPr sz="2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85281" y="4899798"/>
            <a:ext cx="12131675" cy="1033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604" marR="5080" indent="-2540">
              <a:lnSpc>
                <a:spcPct val="137800"/>
              </a:lnSpc>
              <a:spcBef>
                <a:spcPts val="95"/>
              </a:spcBef>
            </a:pPr>
            <a:r>
              <a:rPr dirty="0" sz="2400" spc="125" b="1">
                <a:solidFill>
                  <a:srgbClr val="343F4B"/>
                </a:solidFill>
                <a:latin typeface="Arial"/>
                <a:cs typeface="Arial"/>
              </a:rPr>
              <a:t>Data</a:t>
            </a:r>
            <a:r>
              <a:rPr dirty="0" sz="2400" spc="85" b="1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50" b="1">
                <a:solidFill>
                  <a:srgbClr val="343F4B"/>
                </a:solidFill>
                <a:latin typeface="Arial"/>
                <a:cs typeface="Arial"/>
              </a:rPr>
              <a:t>Integration:</a:t>
            </a:r>
            <a:r>
              <a:rPr dirty="0" sz="2400" spc="35" b="1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75">
                <a:solidFill>
                  <a:srgbClr val="343F4B"/>
                </a:solidFill>
                <a:latin typeface="Arial"/>
                <a:cs typeface="Arial"/>
              </a:rPr>
              <a:t>Consolidate</a:t>
            </a:r>
            <a:r>
              <a:rPr dirty="0" sz="2400" spc="16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80">
                <a:solidFill>
                  <a:srgbClr val="343F4B"/>
                </a:solidFill>
                <a:latin typeface="Arial"/>
                <a:cs typeface="Arial"/>
              </a:rPr>
              <a:t>diverse</a:t>
            </a:r>
            <a:r>
              <a:rPr dirty="0" sz="2400" spc="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100">
                <a:solidFill>
                  <a:srgbClr val="343F4B"/>
                </a:solidFill>
                <a:latin typeface="Arial"/>
                <a:cs typeface="Arial"/>
              </a:rPr>
              <a:t>climate</a:t>
            </a:r>
            <a:r>
              <a:rPr dirty="0" sz="2400" spc="4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43F4B"/>
                </a:solidFill>
                <a:latin typeface="Arial"/>
                <a:cs typeface="Arial"/>
              </a:rPr>
              <a:t>sources</a:t>
            </a:r>
            <a:r>
              <a:rPr dirty="0" sz="2400" spc="11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130">
                <a:solidFill>
                  <a:srgbClr val="343F4B"/>
                </a:solidFill>
                <a:latin typeface="Arial"/>
                <a:cs typeface="Arial"/>
              </a:rPr>
              <a:t>patterned</a:t>
            </a:r>
            <a:r>
              <a:rPr dirty="0" sz="2400" spc="18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105">
                <a:solidFill>
                  <a:srgbClr val="343F4B"/>
                </a:solidFill>
                <a:latin typeface="Arial"/>
                <a:cs typeface="Arial"/>
              </a:rPr>
              <a:t>after</a:t>
            </a:r>
            <a:r>
              <a:rPr dirty="0" sz="2400" spc="-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343F4B"/>
                </a:solidFill>
                <a:latin typeface="Arial"/>
                <a:cs typeface="Arial"/>
              </a:rPr>
              <a:t>NASA/NOAA </a:t>
            </a:r>
            <a:r>
              <a:rPr dirty="0" sz="2400" spc="90">
                <a:solidFill>
                  <a:srgbClr val="343F4B"/>
                </a:solidFill>
                <a:latin typeface="Arial"/>
                <a:cs typeface="Arial"/>
              </a:rPr>
              <a:t>historical</a:t>
            </a:r>
            <a:r>
              <a:rPr dirty="0" sz="240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343F4B"/>
                </a:solidFill>
                <a:latin typeface="Arial"/>
                <a:cs typeface="Arial"/>
              </a:rPr>
              <a:t>records.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65825" y="6282161"/>
            <a:ext cx="13239750" cy="10528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27025" marR="5080" indent="-314960">
              <a:lnSpc>
                <a:spcPct val="134600"/>
              </a:lnSpc>
              <a:spcBef>
                <a:spcPts val="125"/>
              </a:spcBef>
              <a:buClr>
                <a:srgbClr val="343F4B"/>
              </a:buClr>
              <a:buChar char="•"/>
              <a:tabLst>
                <a:tab pos="1131570" algn="l"/>
                <a:tab pos="1136015" algn="l"/>
              </a:tabLst>
            </a:pPr>
            <a:r>
              <a:rPr dirty="0" sz="2550" spc="75">
                <a:solidFill>
                  <a:srgbClr val="11C69A"/>
                </a:solidFill>
                <a:latin typeface="Arial"/>
                <a:cs typeface="Arial"/>
              </a:rPr>
              <a:t>•✓</a:t>
            </a:r>
            <a:r>
              <a:rPr dirty="0" sz="2550">
                <a:solidFill>
                  <a:srgbClr val="11C69A"/>
                </a:solidFill>
                <a:latin typeface="Arial"/>
                <a:cs typeface="Arial"/>
              </a:rPr>
              <a:t>	</a:t>
            </a:r>
            <a:r>
              <a:rPr dirty="0" sz="2400" spc="30" b="1">
                <a:solidFill>
                  <a:srgbClr val="343F4B"/>
                </a:solidFill>
                <a:latin typeface="Arial"/>
                <a:cs typeface="Arial"/>
              </a:rPr>
              <a:t>Preprocessing:</a:t>
            </a:r>
            <a:r>
              <a:rPr dirty="0" sz="2400" spc="-225" b="1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95">
                <a:solidFill>
                  <a:srgbClr val="343F4B"/>
                </a:solidFill>
                <a:latin typeface="Arial"/>
                <a:cs typeface="Arial"/>
              </a:rPr>
              <a:t>Apply</a:t>
            </a:r>
            <a:r>
              <a:rPr dirty="0" sz="2400" spc="7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343F4B"/>
                </a:solidFill>
                <a:latin typeface="Arial"/>
                <a:cs typeface="Arial"/>
              </a:rPr>
              <a:t>rigorous</a:t>
            </a:r>
            <a:r>
              <a:rPr dirty="0" sz="2400" spc="14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30">
                <a:solidFill>
                  <a:srgbClr val="343F4B"/>
                </a:solidFill>
                <a:latin typeface="Arial"/>
                <a:cs typeface="Arial"/>
              </a:rPr>
              <a:t>cleaning</a:t>
            </a:r>
            <a:r>
              <a:rPr dirty="0" sz="2400" spc="-5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90">
                <a:solidFill>
                  <a:srgbClr val="343F4B"/>
                </a:solidFill>
                <a:latin typeface="Arial"/>
                <a:cs typeface="Arial"/>
              </a:rPr>
              <a:t>and</a:t>
            </a:r>
            <a:r>
              <a:rPr dirty="0" sz="2400" spc="-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105">
                <a:solidFill>
                  <a:srgbClr val="343F4B"/>
                </a:solidFill>
                <a:latin typeface="Arial"/>
                <a:cs typeface="Arial"/>
              </a:rPr>
              <a:t>Min-</a:t>
            </a:r>
            <a:r>
              <a:rPr dirty="0" sz="2400" spc="135">
                <a:solidFill>
                  <a:srgbClr val="343F4B"/>
                </a:solidFill>
                <a:latin typeface="Arial"/>
                <a:cs typeface="Arial"/>
              </a:rPr>
              <a:t>Max</a:t>
            </a:r>
            <a:r>
              <a:rPr dirty="0" sz="2400" spc="10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70">
                <a:solidFill>
                  <a:srgbClr val="343F4B"/>
                </a:solidFill>
                <a:latin typeface="Arial"/>
                <a:cs typeface="Arial"/>
              </a:rPr>
              <a:t>normalization</a:t>
            </a:r>
            <a:r>
              <a:rPr dirty="0" sz="2400" spc="1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65">
                <a:solidFill>
                  <a:srgbClr val="343F4B"/>
                </a:solidFill>
                <a:latin typeface="Arial"/>
                <a:cs typeface="Arial"/>
              </a:rPr>
              <a:t>for</a:t>
            </a:r>
            <a:r>
              <a:rPr dirty="0" sz="2400" spc="21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135">
                <a:solidFill>
                  <a:srgbClr val="343F4B"/>
                </a:solidFill>
                <a:latin typeface="Arial"/>
                <a:cs typeface="Arial"/>
              </a:rPr>
              <a:t>high-</a:t>
            </a:r>
            <a:r>
              <a:rPr dirty="0" sz="2400" spc="114">
                <a:solidFill>
                  <a:srgbClr val="343F4B"/>
                </a:solidFill>
                <a:latin typeface="Arial"/>
                <a:cs typeface="Arial"/>
              </a:rPr>
              <a:t>quality </a:t>
            </a:r>
            <a:r>
              <a:rPr dirty="0" sz="2400" spc="114">
                <a:solidFill>
                  <a:srgbClr val="343F4B"/>
                </a:solidFill>
                <a:latin typeface="Arial"/>
                <a:cs typeface="Arial"/>
              </a:rPr>
              <a:t>		</a:t>
            </a:r>
            <a:r>
              <a:rPr dirty="0" sz="2400" spc="145">
                <a:solidFill>
                  <a:srgbClr val="343F4B"/>
                </a:solidFill>
                <a:latin typeface="Arial"/>
                <a:cs typeface="Arial"/>
              </a:rPr>
              <a:t>data</a:t>
            </a:r>
            <a:r>
              <a:rPr dirty="0" sz="2400" spc="-4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90">
                <a:solidFill>
                  <a:srgbClr val="343F4B"/>
                </a:solidFill>
                <a:latin typeface="Arial"/>
                <a:cs typeface="Arial"/>
              </a:rPr>
              <a:t>input.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74524" y="7893865"/>
            <a:ext cx="291465" cy="3943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114"/>
              </a:spcBef>
              <a:buClr>
                <a:srgbClr val="343F4B"/>
              </a:buClr>
              <a:buChar char="•"/>
              <a:tabLst>
                <a:tab pos="182880" algn="l"/>
              </a:tabLst>
            </a:pPr>
            <a:r>
              <a:rPr dirty="0" sz="2400" spc="25">
                <a:solidFill>
                  <a:srgbClr val="11C69A"/>
                </a:solidFill>
                <a:latin typeface="Arial"/>
                <a:cs typeface="Arial"/>
              </a:rPr>
              <a:t>;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9881" y="7766291"/>
            <a:ext cx="11885295" cy="10179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0005" marR="30480" indent="-2540">
              <a:lnSpc>
                <a:spcPct val="135600"/>
              </a:lnSpc>
              <a:spcBef>
                <a:spcPts val="95"/>
              </a:spcBef>
            </a:pPr>
            <a:r>
              <a:rPr dirty="0" sz="2400" b="1">
                <a:solidFill>
                  <a:srgbClr val="343F4B"/>
                </a:solidFill>
                <a:latin typeface="Arial"/>
                <a:cs typeface="Arial"/>
              </a:rPr>
              <a:t>Performance</a:t>
            </a:r>
            <a:r>
              <a:rPr dirty="0" sz="2400" spc="355" b="1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343F4B"/>
                </a:solidFill>
                <a:latin typeface="Arial"/>
                <a:cs typeface="Arial"/>
              </a:rPr>
              <a:t>Benchmarking:</a:t>
            </a:r>
            <a:r>
              <a:rPr dirty="0" sz="2400" spc="215" b="1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43F4B"/>
                </a:solidFill>
                <a:latin typeface="Arial"/>
                <a:cs typeface="Arial"/>
              </a:rPr>
              <a:t>Evaluate</a:t>
            </a:r>
            <a:r>
              <a:rPr dirty="0" sz="2400" spc="7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90">
                <a:solidFill>
                  <a:srgbClr val="343F4B"/>
                </a:solidFill>
                <a:latin typeface="Arial"/>
                <a:cs typeface="Arial"/>
              </a:rPr>
              <a:t>models</a:t>
            </a:r>
            <a:r>
              <a:rPr dirty="0" sz="2400" spc="17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343F4B"/>
                </a:solidFill>
                <a:latin typeface="Arial"/>
                <a:cs typeface="Arial"/>
              </a:rPr>
              <a:t>using</a:t>
            </a:r>
            <a:r>
              <a:rPr dirty="0" sz="2400" spc="-11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-95">
                <a:solidFill>
                  <a:srgbClr val="343F4B"/>
                </a:solidFill>
                <a:latin typeface="Arial"/>
                <a:cs typeface="Arial"/>
              </a:rPr>
              <a:t>MSE,</a:t>
            </a:r>
            <a:r>
              <a:rPr dirty="0" sz="2400" spc="-6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43F4B"/>
                </a:solidFill>
                <a:latin typeface="Arial"/>
                <a:cs typeface="Arial"/>
              </a:rPr>
              <a:t>R</a:t>
            </a:r>
            <a:r>
              <a:rPr dirty="0" baseline="26388" sz="3000">
                <a:solidFill>
                  <a:srgbClr val="343F4B"/>
                </a:solidFill>
                <a:latin typeface="Arial"/>
                <a:cs typeface="Arial"/>
              </a:rPr>
              <a:t>2</a:t>
            </a:r>
            <a:r>
              <a:rPr dirty="0" sz="2000">
                <a:solidFill>
                  <a:srgbClr val="343F4B"/>
                </a:solidFill>
                <a:latin typeface="Arial"/>
                <a:cs typeface="Arial"/>
              </a:rPr>
              <a:t>,</a:t>
            </a:r>
            <a:r>
              <a:rPr dirty="0" sz="2000" spc="7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90">
                <a:solidFill>
                  <a:srgbClr val="343F4B"/>
                </a:solidFill>
                <a:latin typeface="Arial"/>
                <a:cs typeface="Arial"/>
              </a:rPr>
              <a:t>and</a:t>
            </a:r>
            <a:r>
              <a:rPr dirty="0" sz="2400" spc="4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343F4B"/>
                </a:solidFill>
                <a:latin typeface="Arial"/>
                <a:cs typeface="Arial"/>
              </a:rPr>
              <a:t>MAE</a:t>
            </a:r>
            <a:r>
              <a:rPr dirty="0" sz="2400" spc="-3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120">
                <a:solidFill>
                  <a:srgbClr val="343F4B"/>
                </a:solidFill>
                <a:latin typeface="Arial"/>
                <a:cs typeface="Arial"/>
              </a:rPr>
              <a:t>metrics</a:t>
            </a:r>
            <a:r>
              <a:rPr dirty="0" sz="2400" spc="16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80">
                <a:solidFill>
                  <a:srgbClr val="343F4B"/>
                </a:solidFill>
                <a:latin typeface="Arial"/>
                <a:cs typeface="Arial"/>
              </a:rPr>
              <a:t>to </a:t>
            </a:r>
            <a:r>
              <a:rPr dirty="0" sz="2400" spc="130">
                <a:solidFill>
                  <a:srgbClr val="343F4B"/>
                </a:solidFill>
                <a:latin typeface="Arial"/>
                <a:cs typeface="Arial"/>
              </a:rPr>
              <a:t>identify</a:t>
            </a:r>
            <a:r>
              <a:rPr dirty="0" sz="2400" spc="70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135">
                <a:solidFill>
                  <a:srgbClr val="343F4B"/>
                </a:solidFill>
                <a:latin typeface="Arial"/>
                <a:cs typeface="Arial"/>
              </a:rPr>
              <a:t>optimal</a:t>
            </a:r>
            <a:r>
              <a:rPr dirty="0" sz="2400" spc="15">
                <a:solidFill>
                  <a:srgbClr val="343F4B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343F4B"/>
                </a:solidFill>
                <a:latin typeface="Arial"/>
                <a:cs typeface="Arial"/>
              </a:rPr>
              <a:t>techniques.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047" y="1039586"/>
            <a:ext cx="2595593" cy="5512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84410" y="1039586"/>
            <a:ext cx="471926" cy="5512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11466" y="1181335"/>
            <a:ext cx="629234" cy="4094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3740" y="1008087"/>
            <a:ext cx="1305662" cy="6929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82323" y="1039586"/>
            <a:ext cx="393271" cy="5512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38521" y="992333"/>
            <a:ext cx="2107936" cy="708748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2872740">
              <a:lnSpc>
                <a:spcPct val="100000"/>
              </a:lnSpc>
              <a:spcBef>
                <a:spcPts val="115"/>
              </a:spcBef>
            </a:pPr>
            <a:r>
              <a:rPr dirty="0" spc="325"/>
              <a:t>verv</a:t>
            </a:r>
            <a:r>
              <a:rPr dirty="0" spc="-869"/>
              <a:t>1</a:t>
            </a:r>
            <a:r>
              <a:rPr dirty="0" baseline="42438" sz="5400" spc="592" b="0">
                <a:latin typeface="Times New Roman"/>
                <a:cs typeface="Times New Roman"/>
              </a:rPr>
              <a:t>•</a:t>
            </a:r>
            <a:r>
              <a:rPr dirty="0" sz="4450" spc="325"/>
              <a:t>e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074" y="2601880"/>
            <a:ext cx="13773785" cy="384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350">
                <a:solidFill>
                  <a:srgbClr val="363F4B"/>
                </a:solidFill>
                <a:latin typeface="Arial"/>
                <a:cs typeface="Arial"/>
              </a:rPr>
              <a:t>A</a:t>
            </a:r>
            <a:r>
              <a:rPr dirty="0" sz="2350" spc="2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dirty="0" sz="2350" spc="140">
                <a:solidFill>
                  <a:srgbClr val="363F4B"/>
                </a:solidFill>
                <a:latin typeface="Arial"/>
                <a:cs typeface="Arial"/>
              </a:rPr>
              <a:t>synthetic</a:t>
            </a:r>
            <a:r>
              <a:rPr dirty="0" sz="2350" spc="8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dirty="0" sz="2350" spc="120">
                <a:solidFill>
                  <a:srgbClr val="363F4B"/>
                </a:solidFill>
                <a:latin typeface="Arial"/>
                <a:cs typeface="Arial"/>
              </a:rPr>
              <a:t>climate</a:t>
            </a:r>
            <a:r>
              <a:rPr dirty="0" sz="2350" spc="1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dirty="0" sz="2350" spc="125">
                <a:solidFill>
                  <a:srgbClr val="363F4B"/>
                </a:solidFill>
                <a:latin typeface="Arial"/>
                <a:cs typeface="Arial"/>
              </a:rPr>
              <a:t>dataset</a:t>
            </a:r>
            <a:r>
              <a:rPr dirty="0" sz="2350" spc="204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dirty="0" sz="2350" spc="120">
                <a:solidFill>
                  <a:srgbClr val="363F4B"/>
                </a:solidFill>
                <a:latin typeface="Arial"/>
                <a:cs typeface="Arial"/>
              </a:rPr>
              <a:t>mimicking</a:t>
            </a:r>
            <a:r>
              <a:rPr dirty="0" sz="2350" spc="-8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dirty="0" sz="2350" spc="85">
                <a:solidFill>
                  <a:srgbClr val="363F4B"/>
                </a:solidFill>
                <a:latin typeface="Arial"/>
                <a:cs typeface="Arial"/>
              </a:rPr>
              <a:t>realistic</a:t>
            </a:r>
            <a:r>
              <a:rPr dirty="0" sz="2350" spc="120">
                <a:solidFill>
                  <a:srgbClr val="363F4B"/>
                </a:solidFill>
                <a:latin typeface="Arial"/>
                <a:cs typeface="Arial"/>
              </a:rPr>
              <a:t> trends</a:t>
            </a:r>
            <a:r>
              <a:rPr dirty="0" sz="2350" spc="5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dirty="0" sz="2350" spc="95">
                <a:solidFill>
                  <a:srgbClr val="363F4B"/>
                </a:solidFill>
                <a:latin typeface="Arial"/>
                <a:cs typeface="Arial"/>
              </a:rPr>
              <a:t>in</a:t>
            </a:r>
            <a:r>
              <a:rPr dirty="0" sz="2350" spc="-105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363F4B"/>
                </a:solidFill>
                <a:latin typeface="Arial"/>
                <a:cs typeface="Arial"/>
              </a:rPr>
              <a:t>CO</a:t>
            </a:r>
            <a:r>
              <a:rPr dirty="0" baseline="-15503" sz="3225">
                <a:solidFill>
                  <a:srgbClr val="363F4B"/>
                </a:solidFill>
                <a:latin typeface="Times New Roman"/>
                <a:cs typeface="Times New Roman"/>
              </a:rPr>
              <a:t>2</a:t>
            </a:r>
            <a:r>
              <a:rPr dirty="0" baseline="-15503" sz="3225" spc="322">
                <a:solidFill>
                  <a:srgbClr val="363F4B"/>
                </a:solidFill>
                <a:latin typeface="Times New Roman"/>
                <a:cs typeface="Times New Roman"/>
              </a:rPr>
              <a:t> </a:t>
            </a:r>
            <a:r>
              <a:rPr dirty="0" sz="2350" spc="100">
                <a:solidFill>
                  <a:srgbClr val="363F4B"/>
                </a:solidFill>
                <a:latin typeface="Arial"/>
                <a:cs typeface="Arial"/>
              </a:rPr>
              <a:t>and</a:t>
            </a:r>
            <a:r>
              <a:rPr dirty="0" sz="2350" spc="155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363F4B"/>
                </a:solidFill>
                <a:latin typeface="Arial"/>
                <a:cs typeface="Arial"/>
              </a:rPr>
              <a:t>Average</a:t>
            </a:r>
            <a:r>
              <a:rPr dirty="0" sz="2350" spc="145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363F4B"/>
                </a:solidFill>
                <a:latin typeface="Arial"/>
                <a:cs typeface="Arial"/>
              </a:rPr>
              <a:t>Annual</a:t>
            </a:r>
            <a:r>
              <a:rPr dirty="0" sz="2350" spc="-5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dirty="0" sz="2350" spc="40">
                <a:solidFill>
                  <a:srgbClr val="363F4B"/>
                </a:solidFill>
                <a:latin typeface="Arial"/>
                <a:cs typeface="Arial"/>
              </a:rPr>
              <a:t>Temperature.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68" y="3818103"/>
            <a:ext cx="2081530" cy="440055"/>
          </a:xfrm>
          <a:prstGeom prst="rect">
            <a:avLst/>
          </a:prstGeom>
          <a:solidFill>
            <a:srgbClr val="033160"/>
          </a:solidFill>
        </p:spPr>
        <p:txBody>
          <a:bodyPr wrap="square" lIns="0" tIns="19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dirty="0" sz="2400" b="1">
                <a:solidFill>
                  <a:srgbClr val="F6FBF9"/>
                </a:solidFill>
                <a:latin typeface="Arial"/>
                <a:cs typeface="Arial"/>
              </a:rPr>
              <a:t>Vear</a:t>
            </a:r>
            <a:r>
              <a:rPr dirty="0" sz="2400" spc="-25" b="1">
                <a:solidFill>
                  <a:srgbClr val="F6FBF9"/>
                </a:solidFill>
                <a:latin typeface="Arial"/>
                <a:cs typeface="Arial"/>
              </a:rPr>
              <a:t> </a:t>
            </a:r>
            <a:r>
              <a:rPr dirty="0" sz="2400" spc="55" b="1">
                <a:solidFill>
                  <a:srgbClr val="F6FBF9"/>
                </a:solidFill>
                <a:latin typeface="Arial"/>
                <a:cs typeface="Arial"/>
              </a:rPr>
              <a:t>Instance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76743" y="3778728"/>
            <a:ext cx="490220" cy="440055"/>
          </a:xfrm>
          <a:prstGeom prst="rect">
            <a:avLst/>
          </a:prstGeom>
          <a:solidFill>
            <a:srgbClr val="033160"/>
          </a:solidFill>
        </p:spPr>
        <p:txBody>
          <a:bodyPr wrap="square" lIns="0" tIns="19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dirty="0" sz="2400" spc="85" b="1">
                <a:solidFill>
                  <a:srgbClr val="F6FBF9"/>
                </a:solidFill>
                <a:latin typeface="Arial"/>
                <a:cs typeface="Arial"/>
              </a:rPr>
              <a:t>CO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66964" y="3898606"/>
            <a:ext cx="159385" cy="381635"/>
          </a:xfrm>
          <a:prstGeom prst="rect">
            <a:avLst/>
          </a:prstGeom>
          <a:solidFill>
            <a:srgbClr val="033160"/>
          </a:solidFill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2150" spc="10" b="1">
                <a:solidFill>
                  <a:srgbClr val="F6FBF9"/>
                </a:solidFill>
                <a:latin typeface="Times New Roman"/>
                <a:cs typeface="Times New Roman"/>
              </a:rPr>
              <a:t>2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0363" y="3778728"/>
            <a:ext cx="2230755" cy="440055"/>
          </a:xfrm>
          <a:prstGeom prst="rect">
            <a:avLst/>
          </a:prstGeom>
          <a:solidFill>
            <a:srgbClr val="033160"/>
          </a:solidFill>
        </p:spPr>
        <p:txBody>
          <a:bodyPr wrap="square" lIns="0" tIns="19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dirty="0" sz="2400" spc="70" b="1">
                <a:solidFill>
                  <a:srgbClr val="F6FBF9"/>
                </a:solidFill>
                <a:latin typeface="Arial"/>
                <a:cs typeface="Arial"/>
              </a:rPr>
              <a:t>Concentration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11266" y="3778728"/>
            <a:ext cx="982344" cy="440055"/>
          </a:xfrm>
          <a:prstGeom prst="rect">
            <a:avLst/>
          </a:prstGeom>
          <a:solidFill>
            <a:srgbClr val="033160"/>
          </a:solidFill>
        </p:spPr>
        <p:txBody>
          <a:bodyPr wrap="square" lIns="0" tIns="19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dirty="0" sz="2400" spc="170" b="1">
                <a:solidFill>
                  <a:srgbClr val="F6FBF9"/>
                </a:solidFill>
                <a:latin typeface="Arial"/>
                <a:cs typeface="Arial"/>
              </a:rPr>
              <a:t>(ppm)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73366" y="3810228"/>
            <a:ext cx="3994785" cy="440055"/>
          </a:xfrm>
          <a:prstGeom prst="rect">
            <a:avLst/>
          </a:prstGeom>
          <a:solidFill>
            <a:srgbClr val="033160"/>
          </a:solidFill>
        </p:spPr>
        <p:txBody>
          <a:bodyPr wrap="square" lIns="0" tIns="19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dirty="0" sz="2400" b="1">
                <a:solidFill>
                  <a:srgbClr val="F6FBF9"/>
                </a:solidFill>
                <a:latin typeface="Arial"/>
                <a:cs typeface="Arial"/>
              </a:rPr>
              <a:t>Average</a:t>
            </a:r>
            <a:r>
              <a:rPr dirty="0" sz="2400" spc="190" b="1">
                <a:solidFill>
                  <a:srgbClr val="F6FBF9"/>
                </a:solidFill>
                <a:latin typeface="Arial"/>
                <a:cs typeface="Arial"/>
              </a:rPr>
              <a:t> </a:t>
            </a:r>
            <a:r>
              <a:rPr dirty="0" sz="2400" spc="70" b="1">
                <a:solidFill>
                  <a:srgbClr val="F6FBF9"/>
                </a:solidFill>
                <a:latin typeface="Arial"/>
                <a:cs typeface="Arial"/>
              </a:rPr>
              <a:t>Temperature</a:t>
            </a:r>
            <a:r>
              <a:rPr dirty="0" sz="2400" spc="210" b="1">
                <a:solidFill>
                  <a:srgbClr val="F6FBF9"/>
                </a:solidFill>
                <a:latin typeface="Arial"/>
                <a:cs typeface="Arial"/>
              </a:rPr>
              <a:t> </a:t>
            </a:r>
            <a:r>
              <a:rPr dirty="0" sz="2400" spc="60" b="1">
                <a:solidFill>
                  <a:srgbClr val="F6FBF9"/>
                </a:solidFill>
                <a:latin typeface="Arial"/>
                <a:cs typeface="Arial"/>
              </a:rPr>
              <a:t>(°C)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33178" y="3818103"/>
            <a:ext cx="2789555" cy="440055"/>
          </a:xfrm>
          <a:prstGeom prst="rect">
            <a:avLst/>
          </a:prstGeom>
          <a:solidFill>
            <a:srgbClr val="033160"/>
          </a:solidFill>
        </p:spPr>
        <p:txBody>
          <a:bodyPr wrap="square" lIns="0" tIns="19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dirty="0" sz="2400" b="1">
                <a:solidFill>
                  <a:srgbClr val="F6FBF9"/>
                </a:solidFill>
                <a:latin typeface="Arial"/>
                <a:cs typeface="Arial"/>
              </a:rPr>
              <a:t>Record</a:t>
            </a:r>
            <a:r>
              <a:rPr dirty="0" sz="2400" spc="155" b="1">
                <a:solidFill>
                  <a:srgbClr val="F6FBF9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6FBF9"/>
                </a:solidFill>
                <a:latin typeface="Arial"/>
                <a:cs typeface="Arial"/>
              </a:rPr>
              <a:t>Frequency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6226" y="4956499"/>
            <a:ext cx="760730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145">
                <a:solidFill>
                  <a:srgbClr val="363F4B"/>
                </a:solidFill>
                <a:latin typeface="Times New Roman"/>
                <a:cs typeface="Times New Roman"/>
              </a:rPr>
              <a:t>1980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65563" y="4948623"/>
            <a:ext cx="105473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165">
                <a:solidFill>
                  <a:srgbClr val="363F4B"/>
                </a:solidFill>
                <a:latin typeface="Times New Roman"/>
                <a:cs typeface="Times New Roman"/>
              </a:rPr>
              <a:t>350.99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55634" y="4948623"/>
            <a:ext cx="64071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65">
                <a:solidFill>
                  <a:srgbClr val="363F4B"/>
                </a:solidFill>
                <a:latin typeface="Times New Roman"/>
                <a:cs typeface="Times New Roman"/>
              </a:rPr>
              <a:t>9.82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435471" y="4980123"/>
            <a:ext cx="2230120" cy="384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50">
                <a:solidFill>
                  <a:srgbClr val="363F4B"/>
                </a:solidFill>
                <a:latin typeface="Arial"/>
                <a:cs typeface="Arial"/>
              </a:rPr>
              <a:t>Annual</a:t>
            </a:r>
            <a:r>
              <a:rPr dirty="0" sz="2350" spc="-2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363F4B"/>
                </a:solidFill>
                <a:latin typeface="Arial"/>
                <a:cs typeface="Arial"/>
              </a:rPr>
              <a:t>Baseline</a:t>
            </a:r>
            <a:endParaRPr sz="23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16226" y="6098370"/>
            <a:ext cx="78041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180">
                <a:solidFill>
                  <a:srgbClr val="363F4B"/>
                </a:solidFill>
                <a:latin typeface="Times New Roman"/>
                <a:cs typeface="Times New Roman"/>
              </a:rPr>
              <a:t>1990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65563" y="6106245"/>
            <a:ext cx="105473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165">
                <a:solidFill>
                  <a:srgbClr val="363F4B"/>
                </a:solidFill>
                <a:latin typeface="Times New Roman"/>
                <a:cs typeface="Times New Roman"/>
              </a:rPr>
              <a:t>364.55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15395" y="6098370"/>
            <a:ext cx="70802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-70">
                <a:solidFill>
                  <a:srgbClr val="363F4B"/>
                </a:solidFill>
                <a:latin typeface="Times New Roman"/>
                <a:cs typeface="Times New Roman"/>
              </a:rPr>
              <a:t>10.15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419866" y="6129870"/>
            <a:ext cx="2294255" cy="384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50" spc="100">
                <a:solidFill>
                  <a:srgbClr val="363F4B"/>
                </a:solidFill>
                <a:latin typeface="Arial"/>
                <a:cs typeface="Arial"/>
              </a:rPr>
              <a:t>Decade</a:t>
            </a:r>
            <a:r>
              <a:rPr dirty="0" sz="2350" spc="-95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dirty="0" sz="2350" spc="70">
                <a:solidFill>
                  <a:srgbClr val="363F4B"/>
                </a:solidFill>
                <a:latin typeface="Arial"/>
                <a:cs typeface="Arial"/>
              </a:rPr>
              <a:t>Interval</a:t>
            </a:r>
            <a:endParaRPr sz="23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54728" y="7255991"/>
            <a:ext cx="86423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345">
                <a:solidFill>
                  <a:srgbClr val="363F4B"/>
                </a:solidFill>
                <a:latin typeface="Times New Roman"/>
                <a:cs typeface="Times New Roman"/>
              </a:rPr>
              <a:t>2000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65563" y="7248117"/>
            <a:ext cx="102806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130">
                <a:solidFill>
                  <a:srgbClr val="363F4B"/>
                </a:solidFill>
                <a:latin typeface="Times New Roman"/>
                <a:cs typeface="Times New Roman"/>
              </a:rPr>
              <a:t>379.20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923264" y="7248117"/>
            <a:ext cx="78041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-10">
                <a:solidFill>
                  <a:srgbClr val="363F4B"/>
                </a:solidFill>
                <a:latin typeface="Times New Roman"/>
                <a:cs typeface="Times New Roman"/>
              </a:rPr>
              <a:t>10.42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420463" y="7279616"/>
            <a:ext cx="2597150" cy="384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50" spc="55">
                <a:solidFill>
                  <a:srgbClr val="363F4B"/>
                </a:solidFill>
                <a:latin typeface="Arial"/>
                <a:cs typeface="Arial"/>
              </a:rPr>
              <a:t>Millennium</a:t>
            </a:r>
            <a:r>
              <a:rPr dirty="0" sz="2350" spc="6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363F4B"/>
                </a:solidFill>
                <a:latin typeface="Arial"/>
                <a:cs typeface="Arial"/>
              </a:rPr>
              <a:t>Marker</a:t>
            </a:r>
            <a:endParaRPr sz="23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54728" y="8405739"/>
            <a:ext cx="735330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90">
                <a:solidFill>
                  <a:srgbClr val="363F4B"/>
                </a:solidFill>
                <a:latin typeface="Times New Roman"/>
                <a:cs typeface="Times New Roman"/>
              </a:rPr>
              <a:t>2010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65563" y="8397864"/>
            <a:ext cx="103695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140">
                <a:solidFill>
                  <a:srgbClr val="363F4B"/>
                </a:solidFill>
                <a:latin typeface="Times New Roman"/>
                <a:cs typeface="Times New Roman"/>
              </a:rPr>
              <a:t>394.85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923264" y="8397864"/>
            <a:ext cx="795020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45">
                <a:solidFill>
                  <a:srgbClr val="363F4B"/>
                </a:solidFill>
                <a:latin typeface="Times New Roman"/>
                <a:cs typeface="Times New Roman"/>
              </a:rPr>
              <a:t>10.88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419175" y="8429364"/>
            <a:ext cx="2080260" cy="384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50" spc="145">
                <a:solidFill>
                  <a:srgbClr val="363F4B"/>
                </a:solidFill>
                <a:latin typeface="Arial"/>
                <a:cs typeface="Arial"/>
              </a:rPr>
              <a:t>Growth</a:t>
            </a:r>
            <a:r>
              <a:rPr dirty="0" sz="2350" spc="-4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363F4B"/>
                </a:solidFill>
                <a:latin typeface="Arial"/>
                <a:cs typeface="Arial"/>
              </a:rPr>
              <a:t>Phase</a:t>
            </a:r>
            <a:endParaRPr sz="23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54728" y="9555485"/>
            <a:ext cx="825500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270">
                <a:solidFill>
                  <a:srgbClr val="363F4B"/>
                </a:solidFill>
                <a:latin typeface="Times New Roman"/>
                <a:cs typeface="Times New Roman"/>
              </a:rPr>
              <a:t>2020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73303" y="9547611"/>
            <a:ext cx="868044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-60">
                <a:solidFill>
                  <a:srgbClr val="363F4B"/>
                </a:solidFill>
                <a:latin typeface="Times New Roman"/>
                <a:cs typeface="Times New Roman"/>
              </a:rPr>
              <a:t>410.51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915395" y="9547611"/>
            <a:ext cx="685800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-105">
                <a:solidFill>
                  <a:srgbClr val="363F4B"/>
                </a:solidFill>
                <a:latin typeface="Times New Roman"/>
                <a:cs typeface="Times New Roman"/>
              </a:rPr>
              <a:t>11.34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420071" y="9579110"/>
            <a:ext cx="2002155" cy="384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50" spc="60">
                <a:solidFill>
                  <a:srgbClr val="363F4B"/>
                </a:solidFill>
                <a:latin typeface="Arial"/>
                <a:cs typeface="Arial"/>
              </a:rPr>
              <a:t>Current</a:t>
            </a:r>
            <a:r>
              <a:rPr dirty="0" sz="2350" spc="210">
                <a:solidFill>
                  <a:srgbClr val="363F4B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363F4B"/>
                </a:solidFill>
                <a:latin typeface="Arial"/>
                <a:cs typeface="Arial"/>
              </a:rPr>
              <a:t>Trend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316" y="1008087"/>
            <a:ext cx="4577683" cy="755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3577" y="992333"/>
            <a:ext cx="3382137" cy="59849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059968" y="4948623"/>
            <a:ext cx="204470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pc="-50" b="0">
                <a:solidFill>
                  <a:srgbClr val="11C89E"/>
                </a:solidFill>
                <a:latin typeface="Times New Roman"/>
                <a:cs typeface="Times New Roman"/>
              </a:rPr>
              <a:t>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70166" y="5700683"/>
            <a:ext cx="2073275" cy="436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700" spc="-10" b="1">
                <a:solidFill>
                  <a:srgbClr val="082F5B"/>
                </a:solidFill>
                <a:latin typeface="Times New Roman"/>
                <a:cs typeface="Times New Roman"/>
              </a:rPr>
              <a:t>Preprocessing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2088" y="6364545"/>
            <a:ext cx="3957954" cy="152209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algn="ctr" marL="12700" marR="5080" indent="6985">
              <a:lnSpc>
                <a:spcPct val="135600"/>
              </a:lnSpc>
              <a:spcBef>
                <a:spcPts val="160"/>
              </a:spcBef>
            </a:pPr>
            <a:r>
              <a:rPr dirty="0" sz="2400">
                <a:solidFill>
                  <a:srgbClr val="363F49"/>
                </a:solidFill>
                <a:latin typeface="Arial"/>
                <a:cs typeface="Arial"/>
              </a:rPr>
              <a:t>Cleaning,</a:t>
            </a:r>
            <a:r>
              <a:rPr dirty="0" sz="2400" spc="-65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363F49"/>
                </a:solidFill>
                <a:latin typeface="Arial"/>
                <a:cs typeface="Arial"/>
              </a:rPr>
              <a:t>handling</a:t>
            </a:r>
            <a:r>
              <a:rPr dirty="0" sz="2400" spc="-7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65">
                <a:solidFill>
                  <a:srgbClr val="363F49"/>
                </a:solidFill>
                <a:latin typeface="Arial"/>
                <a:cs typeface="Arial"/>
              </a:rPr>
              <a:t>missing </a:t>
            </a:r>
            <a:r>
              <a:rPr dirty="0" sz="2400">
                <a:solidFill>
                  <a:srgbClr val="363F49"/>
                </a:solidFill>
                <a:latin typeface="Arial"/>
                <a:cs typeface="Arial"/>
              </a:rPr>
              <a:t>values,</a:t>
            </a:r>
            <a:r>
              <a:rPr dirty="0" sz="2400" spc="5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90">
                <a:solidFill>
                  <a:srgbClr val="363F49"/>
                </a:solidFill>
                <a:latin typeface="Arial"/>
                <a:cs typeface="Arial"/>
              </a:rPr>
              <a:t>and</a:t>
            </a:r>
            <a:r>
              <a:rPr dirty="0" sz="2400" spc="7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63F49"/>
                </a:solidFill>
                <a:latin typeface="Arial"/>
                <a:cs typeface="Arial"/>
              </a:rPr>
              <a:t>scaling</a:t>
            </a:r>
            <a:r>
              <a:rPr dirty="0" sz="2400" spc="1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65">
                <a:solidFill>
                  <a:srgbClr val="363F49"/>
                </a:solidFill>
                <a:latin typeface="Arial"/>
                <a:cs typeface="Arial"/>
              </a:rPr>
              <a:t>features </a:t>
            </a:r>
            <a:r>
              <a:rPr dirty="0" sz="2400" spc="55">
                <a:solidFill>
                  <a:srgbClr val="363F49"/>
                </a:solidFill>
                <a:latin typeface="Arial"/>
                <a:cs typeface="Arial"/>
              </a:rPr>
              <a:t>(0-</a:t>
            </a:r>
            <a:r>
              <a:rPr dirty="0" sz="2400" spc="30">
                <a:solidFill>
                  <a:srgbClr val="363F49"/>
                </a:solidFill>
                <a:latin typeface="Arial"/>
                <a:cs typeface="Arial"/>
              </a:rPr>
              <a:t>1).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83870" y="4948623"/>
            <a:ext cx="21018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4450" spc="25">
                <a:solidFill>
                  <a:srgbClr val="11C89E"/>
                </a:solidFill>
                <a:latin typeface="Times New Roman"/>
                <a:cs typeface="Times New Roman"/>
              </a:rPr>
              <a:t>•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2712" y="5700683"/>
            <a:ext cx="1830705" cy="436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700" spc="-10" b="1">
                <a:solidFill>
                  <a:srgbClr val="082F5B"/>
                </a:solidFill>
                <a:latin typeface="Times New Roman"/>
                <a:cs typeface="Times New Roman"/>
              </a:rPr>
              <a:t>Engineering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42017" y="5700683"/>
            <a:ext cx="1388110" cy="436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700" spc="-10" b="1">
                <a:solidFill>
                  <a:srgbClr val="082F5B"/>
                </a:solidFill>
                <a:latin typeface="Times New Roman"/>
                <a:cs typeface="Times New Roman"/>
              </a:rPr>
              <a:t>Modeling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20329" y="5700683"/>
            <a:ext cx="1558290" cy="436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700" spc="-55" b="1">
                <a:solidFill>
                  <a:srgbClr val="082F5B"/>
                </a:solidFill>
                <a:latin typeface="Times New Roman"/>
                <a:cs typeface="Times New Roman"/>
              </a:rPr>
              <a:t>Evaluation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7052" y="6356670"/>
            <a:ext cx="4264025" cy="10496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2725" marR="30480" indent="-175260">
              <a:lnSpc>
                <a:spcPct val="139900"/>
              </a:lnSpc>
              <a:spcBef>
                <a:spcPts val="95"/>
              </a:spcBef>
            </a:pPr>
            <a:r>
              <a:rPr dirty="0" sz="2400" spc="50">
                <a:solidFill>
                  <a:srgbClr val="363F49"/>
                </a:solidFill>
                <a:latin typeface="Arial"/>
                <a:cs typeface="Arial"/>
              </a:rPr>
              <a:t>Feature</a:t>
            </a:r>
            <a:r>
              <a:rPr dirty="0" sz="2400" spc="-65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75">
                <a:solidFill>
                  <a:srgbClr val="363F49"/>
                </a:solidFill>
                <a:latin typeface="Arial"/>
                <a:cs typeface="Arial"/>
              </a:rPr>
              <a:t>selection</a:t>
            </a:r>
            <a:r>
              <a:rPr dirty="0" sz="2400" spc="-7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75">
                <a:solidFill>
                  <a:srgbClr val="363F49"/>
                </a:solidFill>
                <a:latin typeface="Arial"/>
                <a:cs typeface="Arial"/>
              </a:rPr>
              <a:t>of</a:t>
            </a:r>
            <a:r>
              <a:rPr dirty="0" sz="2400" spc="13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-60">
                <a:solidFill>
                  <a:srgbClr val="363F49"/>
                </a:solidFill>
                <a:latin typeface="Arial"/>
                <a:cs typeface="Arial"/>
              </a:rPr>
              <a:t>Year</a:t>
            </a:r>
            <a:r>
              <a:rPr dirty="0" sz="2400" spc="1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363F49"/>
                </a:solidFill>
                <a:latin typeface="Arial"/>
                <a:cs typeface="Arial"/>
              </a:rPr>
              <a:t>and </a:t>
            </a:r>
            <a:r>
              <a:rPr dirty="0" sz="2400">
                <a:solidFill>
                  <a:srgbClr val="363F49"/>
                </a:solidFill>
                <a:latin typeface="Arial"/>
                <a:cs typeface="Arial"/>
              </a:rPr>
              <a:t>CO</a:t>
            </a:r>
            <a:r>
              <a:rPr dirty="0" baseline="-12731" sz="3600">
                <a:solidFill>
                  <a:srgbClr val="363F49"/>
                </a:solidFill>
                <a:latin typeface="Arial"/>
                <a:cs typeface="Arial"/>
              </a:rPr>
              <a:t>2</a:t>
            </a:r>
            <a:r>
              <a:rPr dirty="0" baseline="-12731" sz="3600" spc="-262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63F49"/>
                </a:solidFill>
                <a:latin typeface="Arial"/>
                <a:cs typeface="Arial"/>
              </a:rPr>
              <a:t>as</a:t>
            </a:r>
            <a:r>
              <a:rPr dirty="0" sz="2400" spc="-15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110">
                <a:solidFill>
                  <a:srgbClr val="363F49"/>
                </a:solidFill>
                <a:latin typeface="Arial"/>
                <a:cs typeface="Arial"/>
              </a:rPr>
              <a:t>primary</a:t>
            </a:r>
            <a:r>
              <a:rPr dirty="0" sz="2400" spc="65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70">
                <a:solidFill>
                  <a:srgbClr val="363F49"/>
                </a:solidFill>
                <a:latin typeface="Arial"/>
                <a:cs typeface="Arial"/>
              </a:rPr>
              <a:t>indicators.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40650" y="6356670"/>
            <a:ext cx="4215130" cy="10496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49554">
              <a:lnSpc>
                <a:spcPct val="139900"/>
              </a:lnSpc>
              <a:spcBef>
                <a:spcPts val="95"/>
              </a:spcBef>
            </a:pPr>
            <a:r>
              <a:rPr dirty="0" sz="2400" spc="120">
                <a:solidFill>
                  <a:srgbClr val="363F49"/>
                </a:solidFill>
                <a:latin typeface="Arial"/>
                <a:cs typeface="Arial"/>
              </a:rPr>
              <a:t>Implementation</a:t>
            </a:r>
            <a:r>
              <a:rPr dirty="0" sz="2400" spc="-185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85">
                <a:solidFill>
                  <a:srgbClr val="363F49"/>
                </a:solidFill>
                <a:latin typeface="Arial"/>
                <a:cs typeface="Arial"/>
              </a:rPr>
              <a:t>of</a:t>
            </a:r>
            <a:r>
              <a:rPr dirty="0" sz="2400" spc="114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-110">
                <a:solidFill>
                  <a:srgbClr val="363F49"/>
                </a:solidFill>
                <a:latin typeface="Arial"/>
                <a:cs typeface="Arial"/>
              </a:rPr>
              <a:t>LR,</a:t>
            </a:r>
            <a:r>
              <a:rPr dirty="0" sz="2400" spc="-15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363F49"/>
                </a:solidFill>
                <a:latin typeface="Arial"/>
                <a:cs typeface="Arial"/>
              </a:rPr>
              <a:t>RF, </a:t>
            </a:r>
            <a:r>
              <a:rPr dirty="0" sz="2400" spc="90">
                <a:solidFill>
                  <a:srgbClr val="363F49"/>
                </a:solidFill>
                <a:latin typeface="Arial"/>
                <a:cs typeface="Arial"/>
              </a:rPr>
              <a:t>and</a:t>
            </a:r>
            <a:r>
              <a:rPr dirty="0" sz="2400" spc="-75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63F49"/>
                </a:solidFill>
                <a:latin typeface="Arial"/>
                <a:cs typeface="Arial"/>
              </a:rPr>
              <a:t>GB</a:t>
            </a:r>
            <a:r>
              <a:rPr dirty="0" sz="2400" spc="-9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85">
                <a:solidFill>
                  <a:srgbClr val="363F49"/>
                </a:solidFill>
                <a:latin typeface="Arial"/>
                <a:cs typeface="Arial"/>
              </a:rPr>
              <a:t>algorithms</a:t>
            </a:r>
            <a:r>
              <a:rPr dirty="0" sz="2400" spc="4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70">
                <a:solidFill>
                  <a:srgbClr val="363F49"/>
                </a:solidFill>
                <a:latin typeface="Arial"/>
                <a:cs typeface="Arial"/>
              </a:rPr>
              <a:t>in</a:t>
            </a:r>
            <a:r>
              <a:rPr dirty="0" sz="2400" spc="-135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65">
                <a:solidFill>
                  <a:srgbClr val="363F49"/>
                </a:solidFill>
                <a:latin typeface="Arial"/>
                <a:cs typeface="Arial"/>
              </a:rPr>
              <a:t>Python.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916291" y="6356670"/>
            <a:ext cx="3992245" cy="10496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94360" marR="5080" indent="-582295">
              <a:lnSpc>
                <a:spcPct val="139900"/>
              </a:lnSpc>
              <a:spcBef>
                <a:spcPts val="95"/>
              </a:spcBef>
            </a:pPr>
            <a:r>
              <a:rPr dirty="0" sz="2400" spc="105">
                <a:solidFill>
                  <a:srgbClr val="363F49"/>
                </a:solidFill>
                <a:latin typeface="Arial"/>
                <a:cs typeface="Arial"/>
              </a:rPr>
              <a:t>Comparative</a:t>
            </a:r>
            <a:r>
              <a:rPr dirty="0" sz="2400" spc="125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63F49"/>
                </a:solidFill>
                <a:latin typeface="Arial"/>
                <a:cs typeface="Arial"/>
              </a:rPr>
              <a:t>analysis</a:t>
            </a:r>
            <a:r>
              <a:rPr dirty="0" sz="2400" spc="85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40">
                <a:solidFill>
                  <a:srgbClr val="363F49"/>
                </a:solidFill>
                <a:latin typeface="Arial"/>
                <a:cs typeface="Arial"/>
              </a:rPr>
              <a:t>using </a:t>
            </a:r>
            <a:r>
              <a:rPr dirty="0" sz="2400" spc="-75">
                <a:solidFill>
                  <a:srgbClr val="363F49"/>
                </a:solidFill>
                <a:latin typeface="Arial"/>
                <a:cs typeface="Arial"/>
              </a:rPr>
              <a:t>MSE</a:t>
            </a:r>
            <a:r>
              <a:rPr dirty="0" sz="2400" spc="-5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90">
                <a:solidFill>
                  <a:srgbClr val="363F49"/>
                </a:solidFill>
                <a:latin typeface="Arial"/>
                <a:cs typeface="Arial"/>
              </a:rPr>
              <a:t>and</a:t>
            </a:r>
            <a:r>
              <a:rPr dirty="0" sz="2400" spc="-8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-165">
                <a:solidFill>
                  <a:srgbClr val="363F49"/>
                </a:solidFill>
                <a:latin typeface="Arial"/>
                <a:cs typeface="Arial"/>
              </a:rPr>
              <a:t>R2</a:t>
            </a:r>
            <a:r>
              <a:rPr dirty="0" sz="2400" spc="-50">
                <a:solidFill>
                  <a:srgbClr val="363F49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363F49"/>
                </a:solidFill>
                <a:latin typeface="Arial"/>
                <a:cs typeface="Arial"/>
              </a:rPr>
              <a:t>scores.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98123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7522" y="10347808"/>
            <a:ext cx="959582" cy="3149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516937" y="9418559"/>
            <a:ext cx="692785" cy="0"/>
          </a:xfrm>
          <a:custGeom>
            <a:avLst/>
            <a:gdLst/>
            <a:ahLst/>
            <a:cxnLst/>
            <a:rect l="l" t="t" r="r" b="b"/>
            <a:pathLst>
              <a:path w="692785" h="0">
                <a:moveTo>
                  <a:pt x="0" y="0"/>
                </a:moveTo>
                <a:lnTo>
                  <a:pt x="692157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485476" y="10150933"/>
            <a:ext cx="15652750" cy="0"/>
          </a:xfrm>
          <a:custGeom>
            <a:avLst/>
            <a:gdLst/>
            <a:ahLst/>
            <a:cxnLst/>
            <a:rect l="l" t="t" r="r" b="b"/>
            <a:pathLst>
              <a:path w="15652750" h="0">
                <a:moveTo>
                  <a:pt x="0" y="0"/>
                </a:moveTo>
                <a:lnTo>
                  <a:pt x="15652207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1638" y="3542939"/>
            <a:ext cx="755015" cy="578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59105" algn="l"/>
              </a:tabLst>
            </a:pPr>
            <a:r>
              <a:rPr dirty="0" sz="3300" spc="-509" b="1">
                <a:solidFill>
                  <a:srgbClr val="52545D"/>
                </a:solidFill>
                <a:latin typeface="Times New Roman"/>
                <a:cs typeface="Times New Roman"/>
              </a:rPr>
              <a:t>ca</a:t>
            </a:r>
            <a:r>
              <a:rPr dirty="0" sz="3300" b="1">
                <a:solidFill>
                  <a:srgbClr val="52545D"/>
                </a:solidFill>
                <a:latin typeface="Times New Roman"/>
                <a:cs typeface="Times New Roman"/>
              </a:rPr>
              <a:t>	</a:t>
            </a:r>
            <a:r>
              <a:rPr dirty="0" sz="3600" spc="-620" b="1">
                <a:solidFill>
                  <a:srgbClr val="52545D"/>
                </a:solidFill>
                <a:latin typeface="Times New Roman"/>
                <a:cs typeface="Times New Roman"/>
              </a:rPr>
              <a:t>co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5967" y="3850064"/>
            <a:ext cx="815975" cy="549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0550" algn="l"/>
              </a:tabLst>
            </a:pPr>
            <a:r>
              <a:rPr dirty="0" sz="3450" spc="-509">
                <a:solidFill>
                  <a:srgbClr val="52545D"/>
                </a:solidFill>
                <a:latin typeface="Arial"/>
                <a:cs typeface="Arial"/>
              </a:rPr>
              <a:t>E</a:t>
            </a:r>
            <a:r>
              <a:rPr dirty="0" sz="3450">
                <a:solidFill>
                  <a:srgbClr val="52545D"/>
                </a:solidFill>
                <a:latin typeface="Arial"/>
                <a:cs typeface="Arial"/>
              </a:rPr>
              <a:t>	</a:t>
            </a:r>
            <a:r>
              <a:rPr dirty="0" sz="2450" spc="-165">
                <a:solidFill>
                  <a:srgbClr val="52545D"/>
                </a:solidFill>
                <a:latin typeface="Arial"/>
                <a:cs typeface="Arial"/>
              </a:rPr>
              <a:t>a,</a:t>
            </a:r>
            <a:endParaRPr sz="2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153" y="4161125"/>
            <a:ext cx="476884" cy="574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600" spc="-470">
                <a:solidFill>
                  <a:srgbClr val="52545D"/>
                </a:solidFill>
                <a:latin typeface="Arial"/>
                <a:cs typeface="Arial"/>
              </a:rPr>
              <a:t>oE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311" y="4751749"/>
            <a:ext cx="793115" cy="526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37037" sz="4275" spc="-2700" b="1">
                <a:solidFill>
                  <a:srgbClr val="52545D"/>
                </a:solidFill>
                <a:latin typeface="Arial"/>
                <a:cs typeface="Arial"/>
              </a:rPr>
              <a:t>c</a:t>
            </a:r>
            <a:r>
              <a:rPr dirty="0" sz="3250" spc="-210">
                <a:solidFill>
                  <a:srgbClr val="52545D"/>
                </a:solidFill>
                <a:latin typeface="Times New Roman"/>
                <a:cs typeface="Times New Roman"/>
              </a:rPr>
              <a:t>c</a:t>
            </a:r>
            <a:r>
              <a:rPr dirty="0" sz="3250" spc="-1245">
                <a:solidFill>
                  <a:srgbClr val="52545D"/>
                </a:solidFill>
                <a:latin typeface="Times New Roman"/>
                <a:cs typeface="Times New Roman"/>
              </a:rPr>
              <a:t>a</a:t>
            </a:r>
            <a:r>
              <a:rPr dirty="0" baseline="37037" sz="4275" spc="-315" b="1">
                <a:solidFill>
                  <a:srgbClr val="52545D"/>
                </a:solidFill>
                <a:latin typeface="Arial"/>
                <a:cs typeface="Arial"/>
              </a:rPr>
              <a:t>:</a:t>
            </a:r>
            <a:r>
              <a:rPr dirty="0" baseline="37037" sz="4275" spc="-1252" b="1">
                <a:solidFill>
                  <a:srgbClr val="52545D"/>
                </a:solidFill>
                <a:latin typeface="Arial"/>
                <a:cs typeface="Arial"/>
              </a:rPr>
              <a:t>o</a:t>
            </a:r>
            <a:r>
              <a:rPr dirty="0" sz="3250" spc="-200">
                <a:solidFill>
                  <a:srgbClr val="52545D"/>
                </a:solidFill>
                <a:latin typeface="Times New Roman"/>
                <a:cs typeface="Times New Roman"/>
              </a:rPr>
              <a:t>co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6323" y="5188810"/>
            <a:ext cx="541020" cy="2952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00380" algn="l"/>
              </a:tabLst>
            </a:pPr>
            <a:r>
              <a:rPr dirty="0" sz="1750" spc="40" b="1">
                <a:solidFill>
                  <a:srgbClr val="52545D"/>
                </a:solidFill>
                <a:latin typeface="Times New Roman"/>
                <a:cs typeface="Times New Roman"/>
              </a:rPr>
              <a:t>Q)</a:t>
            </a:r>
            <a:r>
              <a:rPr dirty="0" sz="1750" b="1">
                <a:solidFill>
                  <a:srgbClr val="52545D"/>
                </a:solidFill>
                <a:latin typeface="Times New Roman"/>
                <a:cs typeface="Times New Roman"/>
              </a:rPr>
              <a:t>	</a:t>
            </a:r>
            <a:r>
              <a:rPr dirty="0" sz="1300" spc="-175">
                <a:solidFill>
                  <a:srgbClr val="52545D"/>
                </a:solidFill>
                <a:latin typeface="Times New Roman"/>
                <a:cs typeface="Times New Roman"/>
              </a:rPr>
              <a:t>I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537" y="5362059"/>
            <a:ext cx="706755" cy="3327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94970" algn="l"/>
              </a:tabLst>
            </a:pPr>
            <a:r>
              <a:rPr dirty="0" sz="1450" spc="-350" b="1">
                <a:solidFill>
                  <a:srgbClr val="52545D"/>
                </a:solidFill>
                <a:latin typeface="Arial"/>
                <a:cs typeface="Arial"/>
              </a:rPr>
              <a:t>L.</a:t>
            </a:r>
            <a:r>
              <a:rPr dirty="0" sz="1450" b="1">
                <a:solidFill>
                  <a:srgbClr val="52545D"/>
                </a:solidFill>
                <a:latin typeface="Arial"/>
                <a:cs typeface="Arial"/>
              </a:rPr>
              <a:t>	</a:t>
            </a:r>
            <a:r>
              <a:rPr dirty="0" sz="2000" b="1">
                <a:solidFill>
                  <a:srgbClr val="52545D"/>
                </a:solidFill>
                <a:latin typeface="Times New Roman"/>
                <a:cs typeface="Times New Roman"/>
              </a:rPr>
              <a:t>r-</a:t>
            </a:r>
            <a:r>
              <a:rPr dirty="0" sz="2000" spc="-50" b="1">
                <a:solidFill>
                  <a:srgbClr val="52545D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2145" y="5527434"/>
            <a:ext cx="744855" cy="436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700" spc="-135">
                <a:solidFill>
                  <a:srgbClr val="52545D"/>
                </a:solidFill>
                <a:latin typeface="Arial"/>
                <a:cs typeface="Arial"/>
              </a:rPr>
              <a:t>::s</a:t>
            </a:r>
            <a:r>
              <a:rPr dirty="0" sz="2700" spc="-55">
                <a:solidFill>
                  <a:srgbClr val="52545D"/>
                </a:solidFill>
                <a:latin typeface="Arial"/>
                <a:cs typeface="Arial"/>
              </a:rPr>
              <a:t> </a:t>
            </a:r>
            <a:r>
              <a:rPr dirty="0" sz="2100" spc="35">
                <a:solidFill>
                  <a:srgbClr val="52545D"/>
                </a:solidFill>
                <a:latin typeface="Times New Roman"/>
                <a:cs typeface="Times New Roman"/>
              </a:rPr>
              <a:t>Ln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19286" y="6197693"/>
            <a:ext cx="192405" cy="0"/>
          </a:xfrm>
          <a:custGeom>
            <a:avLst/>
            <a:gdLst/>
            <a:ahLst/>
            <a:cxnLst/>
            <a:rect l="l" t="t" r="r" b="b"/>
            <a:pathLst>
              <a:path w="192404" h="0">
                <a:moveTo>
                  <a:pt x="0" y="0"/>
                </a:moveTo>
                <a:lnTo>
                  <a:pt x="192191" y="0"/>
                </a:lnTo>
              </a:path>
            </a:pathLst>
          </a:custGeom>
          <a:ln w="7874">
            <a:solidFill>
              <a:srgbClr val="52545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1187" y="5743995"/>
            <a:ext cx="71437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baseline="33670" sz="2475" spc="-89">
                <a:solidFill>
                  <a:srgbClr val="52545D"/>
                </a:solidFill>
                <a:latin typeface="Times New Roman"/>
                <a:cs typeface="Times New Roman"/>
              </a:rPr>
              <a:t>I</a:t>
            </a:r>
            <a:r>
              <a:rPr dirty="0" sz="2700" spc="-910">
                <a:solidFill>
                  <a:srgbClr val="52545D"/>
                </a:solidFill>
                <a:latin typeface="Arial"/>
                <a:cs typeface="Arial"/>
              </a:rPr>
              <a:t>c</a:t>
            </a:r>
            <a:r>
              <a:rPr dirty="0" baseline="33670" sz="2475" spc="-292">
                <a:solidFill>
                  <a:srgbClr val="52545D"/>
                </a:solidFill>
                <a:latin typeface="Times New Roman"/>
                <a:cs typeface="Times New Roman"/>
              </a:rPr>
              <a:t>•</a:t>
            </a:r>
            <a:r>
              <a:rPr dirty="0" sz="2700" spc="-350">
                <a:solidFill>
                  <a:srgbClr val="52545D"/>
                </a:solidFill>
                <a:latin typeface="Arial"/>
                <a:cs typeface="Arial"/>
              </a:rPr>
              <a:t>o</a:t>
            </a:r>
            <a:r>
              <a:rPr dirty="0" sz="2700" spc="130">
                <a:solidFill>
                  <a:srgbClr val="52545D"/>
                </a:solidFill>
                <a:latin typeface="Arial"/>
                <a:cs typeface="Arial"/>
              </a:rPr>
              <a:t> </a:t>
            </a:r>
            <a:r>
              <a:rPr dirty="0" baseline="12484" sz="6675" spc="-2092">
                <a:solidFill>
                  <a:srgbClr val="52545D"/>
                </a:solidFill>
                <a:latin typeface="Times New Roman"/>
                <a:cs typeface="Times New Roman"/>
              </a:rPr>
              <a:t>°</a:t>
            </a:r>
            <a:r>
              <a:rPr dirty="0" sz="1950" spc="-280">
                <a:solidFill>
                  <a:srgbClr val="52545D"/>
                </a:solidFill>
                <a:latin typeface="Times New Roman"/>
                <a:cs typeface="Times New Roman"/>
              </a:rPr>
              <a:t>r</a:t>
            </a:r>
            <a:r>
              <a:rPr dirty="0" baseline="12484" sz="6675" spc="-1567">
                <a:solidFill>
                  <a:srgbClr val="52545D"/>
                </a:solidFill>
                <a:latin typeface="Times New Roman"/>
                <a:cs typeface="Times New Roman"/>
              </a:rPr>
              <a:t>'</a:t>
            </a:r>
            <a:r>
              <a:rPr dirty="0" sz="1950" spc="-254">
                <a:solidFill>
                  <a:srgbClr val="52545D"/>
                </a:solidFill>
                <a:latin typeface="Times New Roman"/>
                <a:cs typeface="Times New Roman"/>
              </a:rPr>
              <a:t>-</a:t>
            </a:r>
            <a:r>
              <a:rPr dirty="0" sz="1950" spc="-50">
                <a:solidFill>
                  <a:srgbClr val="52545D"/>
                </a:solidFill>
                <a:latin typeface="Times New Roman"/>
                <a:cs typeface="Times New Roman"/>
              </a:rPr>
              <a:t>f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537" y="6287369"/>
            <a:ext cx="14478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55" b="1">
                <a:solidFill>
                  <a:srgbClr val="52545D"/>
                </a:solidFill>
                <a:latin typeface="Arial"/>
                <a:cs typeface="Arial"/>
              </a:rPr>
              <a:t>L.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46884" y="6788316"/>
            <a:ext cx="236220" cy="0"/>
          </a:xfrm>
          <a:custGeom>
            <a:avLst/>
            <a:gdLst/>
            <a:ahLst/>
            <a:cxnLst/>
            <a:rect l="l" t="t" r="r" b="b"/>
            <a:pathLst>
              <a:path w="236219" h="0">
                <a:moveTo>
                  <a:pt x="0" y="0"/>
                </a:moveTo>
                <a:lnTo>
                  <a:pt x="235962" y="0"/>
                </a:lnTo>
              </a:path>
            </a:pathLst>
          </a:custGeom>
          <a:ln w="7874">
            <a:solidFill>
              <a:srgbClr val="52545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72838" y="6263745"/>
            <a:ext cx="722630" cy="6400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73709" algn="l"/>
              </a:tabLst>
            </a:pPr>
            <a:r>
              <a:rPr dirty="0" sz="1550" spc="-25">
                <a:solidFill>
                  <a:srgbClr val="52545D"/>
                </a:solidFill>
                <a:latin typeface="Arial"/>
                <a:cs typeface="Arial"/>
              </a:rPr>
              <a:t>(1)</a:t>
            </a:r>
            <a:r>
              <a:rPr dirty="0" sz="1550">
                <a:solidFill>
                  <a:srgbClr val="52545D"/>
                </a:solidFill>
                <a:latin typeface="Arial"/>
                <a:cs typeface="Arial"/>
              </a:rPr>
              <a:t>	</a:t>
            </a:r>
            <a:r>
              <a:rPr dirty="0" sz="4000" spc="-880">
                <a:solidFill>
                  <a:srgbClr val="52545D"/>
                </a:solidFill>
                <a:latin typeface="Arial"/>
                <a:cs typeface="Arial"/>
              </a:rPr>
              <a:t>A</a:t>
            </a:r>
            <a:endParaRPr sz="4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0587" y="6708681"/>
            <a:ext cx="452755" cy="8020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4290">
              <a:lnSpc>
                <a:spcPts val="2180"/>
              </a:lnSpc>
              <a:spcBef>
                <a:spcPts val="114"/>
              </a:spcBef>
            </a:pPr>
            <a:r>
              <a:rPr dirty="0" sz="2000" spc="-340">
                <a:solidFill>
                  <a:srgbClr val="52545D"/>
                </a:solidFill>
                <a:latin typeface="Arial"/>
                <a:cs typeface="Arial"/>
              </a:rPr>
              <a:t>C.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3920"/>
              </a:lnSpc>
            </a:pPr>
            <a:r>
              <a:rPr dirty="0" sz="3450" spc="-1175">
                <a:solidFill>
                  <a:srgbClr val="52545D"/>
                </a:solidFill>
                <a:latin typeface="Arial"/>
                <a:cs typeface="Arial"/>
              </a:rPr>
              <a:t>E�</a:t>
            </a:r>
            <a:endParaRPr sz="34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2822" y="7381992"/>
            <a:ext cx="816610" cy="10763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2750"/>
              </a:lnSpc>
              <a:spcBef>
                <a:spcPts val="130"/>
              </a:spcBef>
              <a:tabLst>
                <a:tab pos="440055" algn="l"/>
              </a:tabLst>
            </a:pPr>
            <a:r>
              <a:rPr dirty="0" sz="2450" spc="-810">
                <a:solidFill>
                  <a:srgbClr val="52545D"/>
                </a:solidFill>
                <a:latin typeface="Arial"/>
                <a:cs typeface="Arial"/>
              </a:rPr>
              <a:t>�</a:t>
            </a:r>
            <a:r>
              <a:rPr dirty="0" sz="2450">
                <a:solidFill>
                  <a:srgbClr val="52545D"/>
                </a:solidFill>
                <a:latin typeface="Arial"/>
                <a:cs typeface="Arial"/>
              </a:rPr>
              <a:t>	</a:t>
            </a:r>
            <a:r>
              <a:rPr dirty="0" u="sng" sz="2450" spc="-25">
                <a:solidFill>
                  <a:srgbClr val="52545D"/>
                </a:solidFill>
                <a:uFill>
                  <a:solidFill>
                    <a:srgbClr val="52545D"/>
                  </a:solidFill>
                </a:uFill>
                <a:latin typeface="Arial"/>
                <a:cs typeface="Arial"/>
              </a:rPr>
              <a:t>·r,</a:t>
            </a:r>
            <a:r>
              <a:rPr dirty="0" u="sng" sz="2450" spc="610">
                <a:solidFill>
                  <a:srgbClr val="52545D"/>
                </a:solidFill>
                <a:uFill>
                  <a:solidFill>
                    <a:srgbClr val="52545D"/>
                  </a:solidFill>
                </a:uFill>
                <a:latin typeface="Arial"/>
                <a:cs typeface="Arial"/>
              </a:rPr>
              <a:t> </a:t>
            </a:r>
            <a:endParaRPr sz="2450">
              <a:latin typeface="Arial"/>
              <a:cs typeface="Arial"/>
            </a:endParaRPr>
          </a:p>
          <a:p>
            <a:pPr marL="546735">
              <a:lnSpc>
                <a:spcPts val="1610"/>
              </a:lnSpc>
            </a:pPr>
            <a:r>
              <a:rPr dirty="0" u="sng" sz="1500" spc="-25" i="1">
                <a:solidFill>
                  <a:srgbClr val="52545D"/>
                </a:solidFill>
                <a:uFill>
                  <a:solidFill>
                    <a:srgbClr val="52545D"/>
                  </a:solidFill>
                </a:uFill>
                <a:latin typeface="Arial"/>
                <a:cs typeface="Arial"/>
              </a:rPr>
              <a:t>(0</a:t>
            </a:r>
            <a:r>
              <a:rPr dirty="0" u="sng" sz="1500" spc="500" i="1">
                <a:solidFill>
                  <a:srgbClr val="52545D"/>
                </a:solidFill>
                <a:uFill>
                  <a:solidFill>
                    <a:srgbClr val="52545D"/>
                  </a:solidFill>
                </a:uFill>
                <a:latin typeface="Arial"/>
                <a:cs typeface="Arial"/>
              </a:rPr>
              <a:t> </a:t>
            </a:r>
            <a:endParaRPr sz="1500">
              <a:latin typeface="Arial"/>
              <a:cs typeface="Arial"/>
            </a:endParaRPr>
          </a:p>
          <a:p>
            <a:pPr marL="555625">
              <a:lnSpc>
                <a:spcPts val="1910"/>
              </a:lnSpc>
              <a:spcBef>
                <a:spcPts val="775"/>
              </a:spcBef>
            </a:pPr>
            <a:r>
              <a:rPr dirty="0" sz="1650" spc="-25">
                <a:solidFill>
                  <a:srgbClr val="52545D"/>
                </a:solidFill>
                <a:latin typeface="Times New Roman"/>
                <a:cs typeface="Times New Roman"/>
              </a:rPr>
              <a:t>QJ</a:t>
            </a:r>
            <a:endParaRPr sz="1650">
              <a:latin typeface="Times New Roman"/>
              <a:cs typeface="Times New Roman"/>
            </a:endParaRPr>
          </a:p>
          <a:p>
            <a:pPr marL="562610">
              <a:lnSpc>
                <a:spcPts val="1190"/>
              </a:lnSpc>
            </a:pPr>
            <a:r>
              <a:rPr dirty="0" sz="1050" spc="-25">
                <a:solidFill>
                  <a:srgbClr val="52545D"/>
                </a:solidFill>
                <a:latin typeface="Arial"/>
                <a:cs typeface="Arial"/>
              </a:rPr>
              <a:t>\._</a:t>
            </a:r>
            <a:endParaRPr sz="1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60546" y="5299059"/>
            <a:ext cx="688340" cy="578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600" spc="-465">
                <a:solidFill>
                  <a:srgbClr val="52545D"/>
                </a:solidFill>
                <a:latin typeface="Courier New"/>
                <a:cs typeface="Courier New"/>
              </a:rPr>
              <a:t>0.4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60546" y="8047428"/>
            <a:ext cx="671830" cy="578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600" spc="-509">
                <a:solidFill>
                  <a:srgbClr val="52545D"/>
                </a:solidFill>
                <a:latin typeface="Courier New"/>
                <a:cs typeface="Courier New"/>
              </a:rPr>
              <a:t>0.0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397913" y="4125688"/>
            <a:ext cx="1571625" cy="5880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650" spc="990">
                <a:solidFill>
                  <a:srgbClr val="3A797C"/>
                </a:solidFill>
                <a:latin typeface="Times New Roman"/>
                <a:cs typeface="Times New Roman"/>
              </a:rPr>
              <a:t>-</a:t>
            </a:r>
            <a:r>
              <a:rPr dirty="0" sz="3650" spc="1450">
                <a:solidFill>
                  <a:srgbClr val="0F524F"/>
                </a:solidFill>
                <a:latin typeface="Times New Roman"/>
                <a:cs typeface="Times New Roman"/>
              </a:rPr>
              <a:t>380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235501" y="4606947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192" y="0"/>
                </a:lnTo>
              </a:path>
            </a:pathLst>
          </a:custGeom>
          <a:ln w="7874">
            <a:solidFill>
              <a:srgbClr val="0F52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9028047" y="4519438"/>
            <a:ext cx="449580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u="sng" sz="1000" spc="-25" i="1">
                <a:solidFill>
                  <a:srgbClr val="0F524F"/>
                </a:solidFill>
                <a:uFill>
                  <a:solidFill>
                    <a:srgbClr val="0F524F"/>
                  </a:solidFill>
                </a:uFill>
                <a:latin typeface="Arial"/>
                <a:cs typeface="Arial"/>
              </a:rPr>
              <a:t>.,a</a:t>
            </a:r>
            <a:r>
              <a:rPr dirty="0" u="none" sz="1000" spc="35" i="1">
                <a:solidFill>
                  <a:srgbClr val="0F524F"/>
                </a:solidFill>
                <a:latin typeface="Arial"/>
                <a:cs typeface="Arial"/>
              </a:rPr>
              <a:t> </a:t>
            </a:r>
            <a:r>
              <a:rPr dirty="0" u="none" baseline="35714" sz="1050" spc="434">
                <a:solidFill>
                  <a:srgbClr val="0F524F"/>
                </a:solidFill>
                <a:latin typeface="Times New Roman"/>
                <a:cs typeface="Times New Roman"/>
              </a:rPr>
              <a:t>7</a:t>
            </a:r>
            <a:r>
              <a:rPr dirty="0" u="none" baseline="35714" sz="1050" spc="-67">
                <a:solidFill>
                  <a:srgbClr val="0F524F"/>
                </a:solidFill>
                <a:latin typeface="Times New Roman"/>
                <a:cs typeface="Times New Roman"/>
              </a:rPr>
              <a:t> </a:t>
            </a:r>
            <a:r>
              <a:rPr dirty="0" u="sng" sz="1000" spc="-25">
                <a:solidFill>
                  <a:srgbClr val="0F524F"/>
                </a:solidFill>
                <a:uFill>
                  <a:solidFill>
                    <a:srgbClr val="0F524F"/>
                  </a:solidFill>
                </a:uFill>
                <a:latin typeface="Arial"/>
                <a:cs typeface="Arial"/>
              </a:rPr>
              <a:t>..</a:t>
            </a:r>
            <a:r>
              <a:rPr dirty="0" u="sng" sz="1000" spc="500">
                <a:solidFill>
                  <a:srgbClr val="0F524F"/>
                </a:solidFill>
                <a:uFill>
                  <a:solidFill>
                    <a:srgbClr val="0F524F"/>
                  </a:solidFill>
                </a:uFill>
                <a:latin typeface="Arial"/>
                <a:cs typeface="Arial"/>
              </a:rPr>
              <a:t> 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113013" y="4598187"/>
            <a:ext cx="334645" cy="549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450" spc="65">
                <a:solidFill>
                  <a:srgbClr val="0F524F"/>
                </a:solidFill>
                <a:latin typeface="Arial"/>
                <a:cs typeface="Arial"/>
              </a:rPr>
              <a:t>E</a:t>
            </a:r>
            <a:endParaRPr sz="34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120693" y="4858061"/>
            <a:ext cx="360045" cy="531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00" spc="45" b="1">
                <a:solidFill>
                  <a:srgbClr val="0F524F"/>
                </a:solidFill>
                <a:latin typeface="Times New Roman"/>
                <a:cs typeface="Times New Roman"/>
              </a:rPr>
              <a:t>a.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052733" y="5630694"/>
            <a:ext cx="382905" cy="0"/>
          </a:xfrm>
          <a:custGeom>
            <a:avLst/>
            <a:gdLst/>
            <a:ahLst/>
            <a:cxnLst/>
            <a:rect l="l" t="t" r="r" b="b"/>
            <a:pathLst>
              <a:path w="382905" h="0">
                <a:moveTo>
                  <a:pt x="0" y="0"/>
                </a:moveTo>
                <a:lnTo>
                  <a:pt x="382763" y="0"/>
                </a:lnTo>
              </a:path>
            </a:pathLst>
          </a:custGeom>
          <a:ln w="7874">
            <a:solidFill>
              <a:srgbClr val="0F52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9014634" y="5196685"/>
            <a:ext cx="501015" cy="531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300" spc="-70">
                <a:solidFill>
                  <a:srgbClr val="0F524F"/>
                </a:solidFill>
                <a:latin typeface="Times New Roman"/>
                <a:cs typeface="Times New Roman"/>
              </a:rPr>
              <a:t>..</a:t>
            </a:r>
            <a:r>
              <a:rPr dirty="0" sz="2300" spc="-600">
                <a:solidFill>
                  <a:srgbClr val="0F524F"/>
                </a:solidFill>
                <a:latin typeface="Times New Roman"/>
                <a:cs typeface="Times New Roman"/>
              </a:rPr>
              <a:t>,</a:t>
            </a:r>
            <a:r>
              <a:rPr dirty="0" baseline="11784" sz="4950" spc="-457" b="1">
                <a:solidFill>
                  <a:srgbClr val="0F524F"/>
                </a:solidFill>
                <a:latin typeface="Times New Roman"/>
                <a:cs typeface="Times New Roman"/>
              </a:rPr>
              <a:t>a</a:t>
            </a:r>
            <a:r>
              <a:rPr dirty="0" sz="2300" spc="-405">
                <a:solidFill>
                  <a:srgbClr val="0F524F"/>
                </a:solidFill>
                <a:latin typeface="Times New Roman"/>
                <a:cs typeface="Times New Roman"/>
              </a:rPr>
              <a:t>,</a:t>
            </a:r>
            <a:r>
              <a:rPr dirty="0" baseline="11784" sz="4950" spc="-900" b="1">
                <a:solidFill>
                  <a:srgbClr val="0F524F"/>
                </a:solidFill>
                <a:latin typeface="Times New Roman"/>
                <a:cs typeface="Times New Roman"/>
              </a:rPr>
              <a:t>.</a:t>
            </a:r>
            <a:r>
              <a:rPr dirty="0" sz="2300" spc="-70">
                <a:solidFill>
                  <a:srgbClr val="0F524F"/>
                </a:solidFill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383314" y="5806995"/>
            <a:ext cx="1932939" cy="554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 spc="980">
                <a:solidFill>
                  <a:srgbClr val="4F8993"/>
                </a:solidFill>
                <a:latin typeface="Times New Roman"/>
                <a:cs typeface="Times New Roman"/>
              </a:rPr>
              <a:t>-</a:t>
            </a:r>
            <a:r>
              <a:rPr dirty="0" sz="3450" spc="1450">
                <a:solidFill>
                  <a:srgbClr val="0F524F"/>
                </a:solidFill>
                <a:latin typeface="Times New Roman"/>
                <a:cs typeface="Times New Roman"/>
              </a:rPr>
              <a:t>3600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076213" y="6086557"/>
            <a:ext cx="487680" cy="625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900" spc="1625">
                <a:solidFill>
                  <a:srgbClr val="0F524F"/>
                </a:solidFill>
                <a:latin typeface="Times New Roman"/>
                <a:cs typeface="Times New Roman"/>
              </a:rPr>
              <a:t>u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191398" y="7433178"/>
            <a:ext cx="804545" cy="578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600" spc="-110">
                <a:solidFill>
                  <a:srgbClr val="0F524F"/>
                </a:solidFill>
                <a:latin typeface="Courier New"/>
                <a:cs typeface="Courier New"/>
              </a:rPr>
              <a:t>340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39929" y="9063299"/>
            <a:ext cx="1127125" cy="578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64515" indent="-551815">
              <a:lnSpc>
                <a:spcPct val="100000"/>
              </a:lnSpc>
              <a:spcBef>
                <a:spcPts val="125"/>
              </a:spcBef>
              <a:buSzPct val="97222"/>
              <a:buChar char="•"/>
              <a:tabLst>
                <a:tab pos="564515" algn="l"/>
              </a:tabLst>
            </a:pPr>
            <a:r>
              <a:rPr dirty="0" sz="3600" spc="20">
                <a:solidFill>
                  <a:srgbClr val="0F524F"/>
                </a:solidFill>
                <a:latin typeface="Courier New"/>
                <a:cs typeface="Courier New"/>
              </a:rPr>
              <a:t>​</a:t>
            </a:r>
            <a:r>
              <a:rPr dirty="0" sz="3600" spc="780">
                <a:solidFill>
                  <a:srgbClr val="67ACA3"/>
                </a:solidFill>
                <a:latin typeface="Courier New"/>
                <a:cs typeface="Courier New"/>
              </a:rPr>
              <a:t>�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756735" y="9406700"/>
            <a:ext cx="11038840" cy="0"/>
          </a:xfrm>
          <a:custGeom>
            <a:avLst/>
            <a:gdLst/>
            <a:ahLst/>
            <a:cxnLst/>
            <a:rect l="l" t="t" r="r" b="b"/>
            <a:pathLst>
              <a:path w="11038840" h="0">
                <a:moveTo>
                  <a:pt x="0" y="0"/>
                </a:moveTo>
                <a:lnTo>
                  <a:pt x="11038500" y="0"/>
                </a:lnTo>
              </a:path>
            </a:pathLst>
          </a:custGeom>
          <a:ln w="27147">
            <a:solidFill>
              <a:srgbClr val="66ABA2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6785107" y="9063299"/>
            <a:ext cx="2231390" cy="578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600" spc="1825">
                <a:solidFill>
                  <a:srgbClr val="67ACA3"/>
                </a:solidFill>
                <a:latin typeface="Courier New"/>
                <a:cs typeface="Courier New"/>
              </a:rPr>
              <a:t>�</a:t>
            </a:r>
            <a:r>
              <a:rPr dirty="0" sz="3600" spc="1825">
                <a:solidFill>
                  <a:srgbClr val="0F524F"/>
                </a:solidFill>
                <a:latin typeface="Courier New"/>
                <a:cs typeface="Courier New"/>
              </a:rPr>
              <a:t>320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47726" y="9425548"/>
            <a:ext cx="975360" cy="578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600" spc="-310">
                <a:solidFill>
                  <a:srgbClr val="52545D"/>
                </a:solidFill>
                <a:latin typeface="Courier New"/>
                <a:cs typeface="Courier New"/>
              </a:rPr>
              <a:t>-</a:t>
            </a:r>
            <a:r>
              <a:rPr dirty="0" sz="3600" spc="-335">
                <a:solidFill>
                  <a:srgbClr val="52545D"/>
                </a:solidFill>
                <a:latin typeface="Courier New"/>
                <a:cs typeface="Courier New"/>
              </a:rPr>
              <a:t>0.2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019476" y="10181546"/>
            <a:ext cx="1030605" cy="578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600" spc="-180">
                <a:solidFill>
                  <a:srgbClr val="0F524F"/>
                </a:solidFill>
                <a:latin typeface="Courier New"/>
                <a:cs typeface="Courier New"/>
              </a:rPr>
              <a:t>1960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276855" y="10181546"/>
            <a:ext cx="1030605" cy="578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600" spc="-180">
                <a:solidFill>
                  <a:srgbClr val="0F524F"/>
                </a:solidFill>
                <a:latin typeface="Courier New"/>
                <a:cs typeface="Courier New"/>
              </a:rPr>
              <a:t>1970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542100" y="10181546"/>
            <a:ext cx="1030605" cy="578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600" spc="-180">
                <a:solidFill>
                  <a:srgbClr val="0F524F"/>
                </a:solidFill>
                <a:latin typeface="Courier New"/>
                <a:cs typeface="Courier New"/>
              </a:rPr>
              <a:t>1980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053553" y="10181546"/>
            <a:ext cx="1041400" cy="578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600" spc="-150">
                <a:solidFill>
                  <a:srgbClr val="0F524F"/>
                </a:solidFill>
                <a:latin typeface="Courier New"/>
                <a:cs typeface="Courier New"/>
              </a:rPr>
              <a:t>2000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310929" y="10181546"/>
            <a:ext cx="1041400" cy="578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600" spc="-150">
                <a:solidFill>
                  <a:srgbClr val="0F524F"/>
                </a:solidFill>
                <a:latin typeface="Courier New"/>
                <a:cs typeface="Courier New"/>
              </a:rPr>
              <a:t>2010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595486" y="10236671"/>
            <a:ext cx="989330" cy="512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80">
                <a:solidFill>
                  <a:srgbClr val="0F524F"/>
                </a:solidFill>
                <a:latin typeface="Arial"/>
                <a:cs typeface="Arial"/>
              </a:rPr>
              <a:t>2020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316" y="1008087"/>
            <a:ext cx="2155128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2485" y="992333"/>
            <a:ext cx="2815825" cy="598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90169" y="1039586"/>
            <a:ext cx="456195" cy="5354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89098" y="1008087"/>
            <a:ext cx="2611323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32764" y="3024080"/>
            <a:ext cx="9847522" cy="80324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32764" y="4284075"/>
            <a:ext cx="10539684" cy="80324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348495" y="5544072"/>
            <a:ext cx="10932955" cy="803247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6503089" y="995386"/>
            <a:ext cx="3485515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272030" algn="l"/>
              </a:tabLst>
            </a:pPr>
            <a:r>
              <a:rPr dirty="0" spc="555"/>
              <a:t>ance</a:t>
            </a:r>
            <a:r>
              <a:rPr dirty="0"/>
              <a:t>	</a:t>
            </a:r>
            <a:r>
              <a:rPr dirty="0" spc="555"/>
              <a:t>enc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618874" y="3251565"/>
            <a:ext cx="2256155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solidFill>
                  <a:srgbClr val="080305"/>
                </a:solidFill>
                <a:latin typeface="Arial"/>
                <a:cs typeface="Arial"/>
              </a:rPr>
              <a:t>Linear</a:t>
            </a:r>
            <a:r>
              <a:rPr dirty="0" sz="1950" spc="210" b="1">
                <a:solidFill>
                  <a:srgbClr val="080305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080305"/>
                </a:solidFill>
                <a:latin typeface="Arial"/>
                <a:cs typeface="Arial"/>
              </a:rPr>
              <a:t>Regression</a:t>
            </a:r>
            <a:endParaRPr sz="1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73809" y="4511562"/>
            <a:ext cx="1898014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b="1">
                <a:solidFill>
                  <a:srgbClr val="080305"/>
                </a:solidFill>
                <a:latin typeface="Arial"/>
                <a:cs typeface="Arial"/>
              </a:rPr>
              <a:t>Random</a:t>
            </a:r>
            <a:r>
              <a:rPr dirty="0" sz="1950" spc="50" b="1">
                <a:solidFill>
                  <a:srgbClr val="080305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080305"/>
                </a:solidFill>
                <a:latin typeface="Arial"/>
                <a:cs typeface="Arial"/>
              </a:rPr>
              <a:t>Forest</a:t>
            </a:r>
            <a:endParaRPr sz="1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10328" y="5771558"/>
            <a:ext cx="2279650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50" b="1">
                <a:solidFill>
                  <a:srgbClr val="18C397"/>
                </a:solidFill>
                <a:latin typeface="Arial"/>
                <a:cs typeface="Arial"/>
              </a:rPr>
              <a:t>Gradient</a:t>
            </a:r>
            <a:r>
              <a:rPr dirty="0" sz="1950" spc="90" b="1">
                <a:solidFill>
                  <a:srgbClr val="18C397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18C397"/>
                </a:solidFill>
                <a:latin typeface="Arial"/>
                <a:cs typeface="Arial"/>
              </a:rPr>
              <a:t>Boosting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40641" y="8144288"/>
            <a:ext cx="17566640" cy="1033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25" marR="5080" indent="-10160">
              <a:lnSpc>
                <a:spcPct val="137800"/>
              </a:lnSpc>
              <a:spcBef>
                <a:spcPts val="95"/>
              </a:spcBef>
            </a:pPr>
            <a:r>
              <a:rPr dirty="0" sz="2400" b="1">
                <a:solidFill>
                  <a:srgbClr val="343F4F"/>
                </a:solidFill>
                <a:latin typeface="Arial"/>
                <a:cs typeface="Arial"/>
              </a:rPr>
              <a:t>Insight:</a:t>
            </a:r>
            <a:r>
              <a:rPr dirty="0" sz="2400" spc="-100" b="1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43F4F"/>
                </a:solidFill>
                <a:latin typeface="Arial"/>
                <a:cs typeface="Arial"/>
              </a:rPr>
              <a:t>Ensemble</a:t>
            </a:r>
            <a:r>
              <a:rPr dirty="0" sz="2400" spc="165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 spc="140">
                <a:solidFill>
                  <a:srgbClr val="343F4F"/>
                </a:solidFill>
                <a:latin typeface="Arial"/>
                <a:cs typeface="Arial"/>
              </a:rPr>
              <a:t>methods</a:t>
            </a:r>
            <a:r>
              <a:rPr dirty="0" sz="2400" spc="204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 spc="125">
                <a:solidFill>
                  <a:srgbClr val="343F4F"/>
                </a:solidFill>
                <a:latin typeface="Arial"/>
                <a:cs typeface="Arial"/>
              </a:rPr>
              <a:t>outperform</a:t>
            </a:r>
            <a:r>
              <a:rPr dirty="0" sz="2400" spc="240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 spc="85">
                <a:solidFill>
                  <a:srgbClr val="343F4F"/>
                </a:solidFill>
                <a:latin typeface="Arial"/>
                <a:cs typeface="Arial"/>
              </a:rPr>
              <a:t>simple</a:t>
            </a:r>
            <a:r>
              <a:rPr dirty="0" sz="2400" spc="45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43F4F"/>
                </a:solidFill>
                <a:latin typeface="Arial"/>
                <a:cs typeface="Arial"/>
              </a:rPr>
              <a:t>regression</a:t>
            </a:r>
            <a:r>
              <a:rPr dirty="0" sz="2400" spc="95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343F4F"/>
                </a:solidFill>
                <a:latin typeface="Arial"/>
                <a:cs typeface="Arial"/>
              </a:rPr>
              <a:t>by</a:t>
            </a:r>
            <a:r>
              <a:rPr dirty="0" sz="2400" spc="270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 spc="105">
                <a:solidFill>
                  <a:srgbClr val="343F4F"/>
                </a:solidFill>
                <a:latin typeface="Arial"/>
                <a:cs typeface="Arial"/>
              </a:rPr>
              <a:t>capturing</a:t>
            </a:r>
            <a:r>
              <a:rPr dirty="0" sz="2400" spc="15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 spc="80">
                <a:solidFill>
                  <a:srgbClr val="343F4F"/>
                </a:solidFill>
                <a:latin typeface="Arial"/>
                <a:cs typeface="Arial"/>
              </a:rPr>
              <a:t>non-</a:t>
            </a:r>
            <a:r>
              <a:rPr dirty="0" sz="2400" spc="65">
                <a:solidFill>
                  <a:srgbClr val="343F4F"/>
                </a:solidFill>
                <a:latin typeface="Arial"/>
                <a:cs typeface="Arial"/>
              </a:rPr>
              <a:t>linear</a:t>
            </a:r>
            <a:r>
              <a:rPr dirty="0" sz="2400" spc="220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43F4F"/>
                </a:solidFill>
                <a:latin typeface="Arial"/>
                <a:cs typeface="Arial"/>
              </a:rPr>
              <a:t>residuals</a:t>
            </a:r>
            <a:r>
              <a:rPr dirty="0" sz="2400" spc="170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 spc="70">
                <a:solidFill>
                  <a:srgbClr val="343F4F"/>
                </a:solidFill>
                <a:latin typeface="Arial"/>
                <a:cs typeface="Arial"/>
              </a:rPr>
              <a:t>effectively.</a:t>
            </a:r>
            <a:r>
              <a:rPr dirty="0" sz="2400" spc="105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 spc="75">
                <a:solidFill>
                  <a:srgbClr val="343F4F"/>
                </a:solidFill>
                <a:latin typeface="Arial"/>
                <a:cs typeface="Arial"/>
              </a:rPr>
              <a:t>Gradient</a:t>
            </a:r>
            <a:r>
              <a:rPr dirty="0" sz="2400" spc="215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 spc="65">
                <a:solidFill>
                  <a:srgbClr val="343F4F"/>
                </a:solidFill>
                <a:latin typeface="Arial"/>
                <a:cs typeface="Arial"/>
              </a:rPr>
              <a:t>Boosting </a:t>
            </a:r>
            <a:r>
              <a:rPr dirty="0" sz="2400" spc="75">
                <a:solidFill>
                  <a:srgbClr val="343F4F"/>
                </a:solidFill>
                <a:latin typeface="Arial"/>
                <a:cs typeface="Arial"/>
              </a:rPr>
              <a:t>achieved</a:t>
            </a:r>
            <a:r>
              <a:rPr dirty="0" sz="2400" spc="145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 spc="70">
                <a:solidFill>
                  <a:srgbClr val="343F4F"/>
                </a:solidFill>
                <a:latin typeface="Arial"/>
                <a:cs typeface="Arial"/>
              </a:rPr>
              <a:t>the</a:t>
            </a:r>
            <a:r>
              <a:rPr dirty="0" sz="2400" spc="165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 spc="110">
                <a:solidFill>
                  <a:srgbClr val="343F4F"/>
                </a:solidFill>
                <a:latin typeface="Arial"/>
                <a:cs typeface="Arial"/>
              </a:rPr>
              <a:t>minimum</a:t>
            </a:r>
            <a:r>
              <a:rPr dirty="0" sz="2400" spc="25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 spc="70">
                <a:solidFill>
                  <a:srgbClr val="343F4F"/>
                </a:solidFill>
                <a:latin typeface="Arial"/>
                <a:cs typeface="Arial"/>
              </a:rPr>
              <a:t>Mean</a:t>
            </a:r>
            <a:r>
              <a:rPr dirty="0" sz="2400" spc="-175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 spc="45">
                <a:solidFill>
                  <a:srgbClr val="343F4F"/>
                </a:solidFill>
                <a:latin typeface="Arial"/>
                <a:cs typeface="Arial"/>
              </a:rPr>
              <a:t>Squared</a:t>
            </a:r>
            <a:r>
              <a:rPr dirty="0" sz="2400" spc="125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43F4F"/>
                </a:solidFill>
                <a:latin typeface="Arial"/>
                <a:cs typeface="Arial"/>
              </a:rPr>
              <a:t>Error</a:t>
            </a:r>
            <a:r>
              <a:rPr dirty="0" sz="2400" spc="-20">
                <a:solidFill>
                  <a:srgbClr val="343F4F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343F4F"/>
                </a:solidFill>
                <a:latin typeface="Arial"/>
                <a:cs typeface="Arial"/>
              </a:rPr>
              <a:t>(0.043).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585" y="1055331"/>
            <a:ext cx="928121" cy="708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65292" y="1008087"/>
            <a:ext cx="456195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01302" y="1008087"/>
            <a:ext cx="204501" cy="56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47382" y="992333"/>
            <a:ext cx="4294527" cy="7559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8121" y="3622577"/>
            <a:ext cx="5883345" cy="38744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10352" y="3528078"/>
            <a:ext cx="5899076" cy="39847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324047" y="4646324"/>
            <a:ext cx="5867614" cy="2850742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038236" y="3559574"/>
            <a:ext cx="5679440" cy="15875"/>
          </a:xfrm>
          <a:custGeom>
            <a:avLst/>
            <a:gdLst/>
            <a:ahLst/>
            <a:cxnLst/>
            <a:rect l="l" t="t" r="r" b="b"/>
            <a:pathLst>
              <a:path w="5679440" h="15875">
                <a:moveTo>
                  <a:pt x="1352854" y="0"/>
                </a:moveTo>
                <a:lnTo>
                  <a:pt x="5678841" y="0"/>
                </a:lnTo>
              </a:path>
              <a:path w="5679440" h="15875">
                <a:moveTo>
                  <a:pt x="0" y="15749"/>
                </a:moveTo>
                <a:lnTo>
                  <a:pt x="1337123" y="15749"/>
                </a:lnTo>
              </a:path>
            </a:pathLst>
          </a:custGeom>
          <a:ln w="157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924227" y="5693694"/>
            <a:ext cx="267970" cy="0"/>
          </a:xfrm>
          <a:custGeom>
            <a:avLst/>
            <a:gdLst/>
            <a:ahLst/>
            <a:cxnLst/>
            <a:rect l="l" t="t" r="r" b="b"/>
            <a:pathLst>
              <a:path w="267969" h="0">
                <a:moveTo>
                  <a:pt x="0" y="0"/>
                </a:moveTo>
                <a:lnTo>
                  <a:pt x="267424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2240558" y="995386"/>
            <a:ext cx="2945765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5"/>
              </a:spcBef>
              <a:tabLst>
                <a:tab pos="1875789" algn="l"/>
              </a:tabLst>
            </a:pPr>
            <a:r>
              <a:rPr dirty="0" spc="204" b="0">
                <a:latin typeface="Arial"/>
                <a:cs typeface="Arial"/>
              </a:rPr>
              <a:t>r</a:t>
            </a:r>
            <a:r>
              <a:rPr dirty="0" spc="-1475" b="0">
                <a:latin typeface="Arial"/>
                <a:cs typeface="Arial"/>
              </a:rPr>
              <a:t>1</a:t>
            </a:r>
            <a:r>
              <a:rPr dirty="0" baseline="42438" sz="5400" spc="315" b="0">
                <a:latin typeface="Times New Roman"/>
                <a:cs typeface="Times New Roman"/>
              </a:rPr>
              <a:t>•</a:t>
            </a:r>
            <a:r>
              <a:rPr dirty="0" baseline="42438" sz="5400" spc="-165" b="0">
                <a:latin typeface="Times New Roman"/>
                <a:cs typeface="Times New Roman"/>
              </a:rPr>
              <a:t> </a:t>
            </a:r>
            <a:r>
              <a:rPr dirty="0" sz="4450" spc="580" b="0">
                <a:latin typeface="Arial"/>
                <a:cs typeface="Arial"/>
              </a:rPr>
              <a:t>cu</a:t>
            </a:r>
            <a:r>
              <a:rPr dirty="0" sz="4450" b="0">
                <a:latin typeface="Arial"/>
                <a:cs typeface="Arial"/>
              </a:rPr>
              <a:t>	</a:t>
            </a:r>
            <a:r>
              <a:rPr dirty="0" sz="4450" spc="525" b="0">
                <a:latin typeface="Arial"/>
                <a:cs typeface="Arial"/>
              </a:rPr>
              <a:t>ura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82906" y="7807241"/>
            <a:ext cx="2996565" cy="318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145">
                <a:solidFill>
                  <a:srgbClr val="050308"/>
                </a:solidFill>
                <a:latin typeface="Arial"/>
                <a:cs typeface="Arial"/>
              </a:rPr>
              <a:t>Smart</a:t>
            </a:r>
            <a:r>
              <a:rPr dirty="0" sz="1900" spc="80">
                <a:solidFill>
                  <a:srgbClr val="050308"/>
                </a:solidFill>
                <a:latin typeface="Arial"/>
                <a:cs typeface="Arial"/>
              </a:rPr>
              <a:t> </a:t>
            </a:r>
            <a:r>
              <a:rPr dirty="0" sz="1900" spc="140">
                <a:solidFill>
                  <a:srgbClr val="050308"/>
                </a:solidFill>
                <a:latin typeface="Arial"/>
                <a:cs typeface="Arial"/>
              </a:rPr>
              <a:t>Irrigation</a:t>
            </a:r>
            <a:r>
              <a:rPr dirty="0" sz="1900" spc="-30">
                <a:solidFill>
                  <a:srgbClr val="050308"/>
                </a:solidFill>
                <a:latin typeface="Arial"/>
                <a:cs typeface="Arial"/>
              </a:rPr>
              <a:t> </a:t>
            </a:r>
            <a:r>
              <a:rPr dirty="0" sz="1900" spc="175">
                <a:solidFill>
                  <a:srgbClr val="050308"/>
                </a:solidFill>
                <a:latin typeface="Arial"/>
                <a:cs typeface="Arial"/>
              </a:rPr>
              <a:t>Control</a:t>
            </a:r>
            <a:endParaRPr sz="1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62709" y="7807241"/>
            <a:ext cx="3187700" cy="318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150">
                <a:solidFill>
                  <a:srgbClr val="050308"/>
                </a:solidFill>
                <a:latin typeface="Arial"/>
                <a:cs typeface="Arial"/>
              </a:rPr>
              <a:t>Real-</a:t>
            </a:r>
            <a:r>
              <a:rPr dirty="0" sz="1900" spc="145">
                <a:solidFill>
                  <a:srgbClr val="050308"/>
                </a:solidFill>
                <a:latin typeface="Arial"/>
                <a:cs typeface="Arial"/>
              </a:rPr>
              <a:t>time</a:t>
            </a:r>
            <a:r>
              <a:rPr dirty="0" sz="1900" spc="105">
                <a:solidFill>
                  <a:srgbClr val="050308"/>
                </a:solidFill>
                <a:latin typeface="Arial"/>
                <a:cs typeface="Arial"/>
              </a:rPr>
              <a:t> </a:t>
            </a:r>
            <a:r>
              <a:rPr dirty="0" sz="1900" spc="130">
                <a:solidFill>
                  <a:srgbClr val="050308"/>
                </a:solidFill>
                <a:latin typeface="Arial"/>
                <a:cs typeface="Arial"/>
              </a:rPr>
              <a:t>Weather</a:t>
            </a:r>
            <a:r>
              <a:rPr dirty="0" sz="1900" spc="175">
                <a:solidFill>
                  <a:srgbClr val="050308"/>
                </a:solidFill>
                <a:latin typeface="Arial"/>
                <a:cs typeface="Arial"/>
              </a:rPr>
              <a:t> </a:t>
            </a:r>
            <a:r>
              <a:rPr dirty="0" sz="1900" spc="140">
                <a:solidFill>
                  <a:srgbClr val="050308"/>
                </a:solidFill>
                <a:latin typeface="Arial"/>
                <a:cs typeface="Arial"/>
              </a:rPr>
              <a:t>Alerts</a:t>
            </a:r>
            <a:endParaRPr sz="1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57609" y="5543184"/>
            <a:ext cx="2381250" cy="304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00" spc="-20">
                <a:solidFill>
                  <a:srgbClr val="79933B"/>
                </a:solidFill>
                <a:latin typeface="Times New Roman"/>
                <a:cs typeface="Times New Roman"/>
              </a:rPr>
              <a:t>��::;;</a:t>
            </a:r>
            <a:r>
              <a:rPr dirty="0" sz="1800" spc="-20">
                <a:solidFill>
                  <a:srgbClr val="A1AE3D"/>
                </a:solidFill>
                <a:latin typeface="Times New Roman"/>
                <a:cs typeface="Times New Roman"/>
              </a:rPr>
              <a:t>-</a:t>
            </a:r>
            <a:r>
              <a:rPr dirty="0" sz="1800" spc="-20">
                <a:solidFill>
                  <a:srgbClr val="79933B"/>
                </a:solidFill>
                <a:latin typeface="Times New Roman"/>
                <a:cs typeface="Times New Roman"/>
              </a:rPr>
              <a:t>..;';�=:-</a:t>
            </a:r>
            <a:r>
              <a:rPr dirty="0" sz="1800">
                <a:solidFill>
                  <a:srgbClr val="79933B"/>
                </a:solidFill>
                <a:latin typeface="Times New Roman"/>
                <a:cs typeface="Times New Roman"/>
              </a:rPr>
              <a:t>-</a:t>
            </a:r>
            <a:r>
              <a:rPr dirty="0" sz="1800" spc="-20">
                <a:solidFill>
                  <a:srgbClr val="A1AE3D"/>
                </a:solidFill>
                <a:latin typeface="Times New Roman"/>
                <a:cs typeface="Times New Roman"/>
              </a:rPr>
              <a:t>.;::-</a:t>
            </a:r>
            <a:r>
              <a:rPr dirty="0" sz="1800">
                <a:solidFill>
                  <a:srgbClr val="A1AE3D"/>
                </a:solidFill>
                <a:latin typeface="Times New Roman"/>
                <a:cs typeface="Times New Roman"/>
              </a:rPr>
              <a:t>-</a:t>
            </a:r>
            <a:r>
              <a:rPr dirty="0" sz="1800" spc="-320">
                <a:solidFill>
                  <a:srgbClr val="879C2D"/>
                </a:solidFill>
                <a:latin typeface="Times New Roman"/>
                <a:cs typeface="Times New Roman"/>
              </a:rPr>
              <a:t>�;::_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793632" y="5806996"/>
            <a:ext cx="7366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0">
                <a:solidFill>
                  <a:srgbClr val="79933B"/>
                </a:solidFill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597436" y="7807241"/>
            <a:ext cx="3317240" cy="318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155">
                <a:solidFill>
                  <a:srgbClr val="050308"/>
                </a:solidFill>
                <a:latin typeface="Arial"/>
                <a:cs typeface="Arial"/>
              </a:rPr>
              <a:t>Optimized</a:t>
            </a:r>
            <a:r>
              <a:rPr dirty="0" sz="1900" spc="-65">
                <a:solidFill>
                  <a:srgbClr val="050308"/>
                </a:solidFill>
                <a:latin typeface="Arial"/>
                <a:cs typeface="Arial"/>
              </a:rPr>
              <a:t> </a:t>
            </a:r>
            <a:r>
              <a:rPr dirty="0" sz="1900" spc="95">
                <a:solidFill>
                  <a:srgbClr val="050308"/>
                </a:solidFill>
                <a:latin typeface="Arial"/>
                <a:cs typeface="Arial"/>
              </a:rPr>
              <a:t>Yield</a:t>
            </a:r>
            <a:r>
              <a:rPr dirty="0" sz="1900" spc="-175">
                <a:solidFill>
                  <a:srgbClr val="050308"/>
                </a:solidFill>
                <a:latin typeface="Arial"/>
                <a:cs typeface="Arial"/>
              </a:rPr>
              <a:t> </a:t>
            </a:r>
            <a:r>
              <a:rPr dirty="0" sz="1900" spc="150">
                <a:solidFill>
                  <a:srgbClr val="050308"/>
                </a:solidFill>
                <a:latin typeface="Arial"/>
                <a:cs typeface="Arial"/>
              </a:rPr>
              <a:t>Prediction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1349" y="2409829"/>
            <a:ext cx="1667472" cy="11969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31745" y="2646076"/>
            <a:ext cx="613503" cy="7402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39638" y="2472827"/>
            <a:ext cx="1069699" cy="9134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72260" y="2646076"/>
            <a:ext cx="1101161" cy="74024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52073" y="2646076"/>
            <a:ext cx="802274" cy="72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317271" y="2220827"/>
            <a:ext cx="1116891" cy="1165496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026010" y="6331567"/>
            <a:ext cx="0" cy="2788285"/>
          </a:xfrm>
          <a:custGeom>
            <a:avLst/>
            <a:gdLst/>
            <a:ahLst/>
            <a:cxnLst/>
            <a:rect l="l" t="t" r="r" b="b"/>
            <a:pathLst>
              <a:path w="0" h="2788284">
                <a:moveTo>
                  <a:pt x="0" y="2787743"/>
                </a:moveTo>
                <a:lnTo>
                  <a:pt x="0" y="0"/>
                </a:lnTo>
              </a:path>
            </a:pathLst>
          </a:custGeom>
          <a:ln w="6292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862160" y="6331567"/>
            <a:ext cx="0" cy="2788285"/>
          </a:xfrm>
          <a:custGeom>
            <a:avLst/>
            <a:gdLst/>
            <a:ahLst/>
            <a:cxnLst/>
            <a:rect l="l" t="t" r="r" b="b"/>
            <a:pathLst>
              <a:path w="0" h="2788284">
                <a:moveTo>
                  <a:pt x="0" y="2787743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0300334" y="2105753"/>
            <a:ext cx="263525" cy="70612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245" b="0">
                <a:solidFill>
                  <a:srgbClr val="033162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950981" y="2924754"/>
            <a:ext cx="26352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4450" spc="245">
                <a:solidFill>
                  <a:srgbClr val="033162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43251" y="4460375"/>
            <a:ext cx="6647180" cy="46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50">
                <a:solidFill>
                  <a:srgbClr val="343D4B"/>
                </a:solidFill>
                <a:latin typeface="Arial"/>
                <a:cs typeface="Arial"/>
              </a:rPr>
              <a:t>Thank</a:t>
            </a:r>
            <a:r>
              <a:rPr dirty="0" sz="2850" spc="9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850" spc="70">
                <a:solidFill>
                  <a:srgbClr val="343D4B"/>
                </a:solidFill>
                <a:latin typeface="Arial"/>
                <a:cs typeface="Arial"/>
              </a:rPr>
              <a:t>you</a:t>
            </a:r>
            <a:r>
              <a:rPr dirty="0" sz="2850" spc="15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850" spc="55">
                <a:solidFill>
                  <a:srgbClr val="343D4B"/>
                </a:solidFill>
                <a:latin typeface="Arial"/>
                <a:cs typeface="Arial"/>
              </a:rPr>
              <a:t>for</a:t>
            </a:r>
            <a:r>
              <a:rPr dirty="0" sz="2850" spc="335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850" spc="80">
                <a:solidFill>
                  <a:srgbClr val="343D4B"/>
                </a:solidFill>
                <a:latin typeface="Arial"/>
                <a:cs typeface="Arial"/>
              </a:rPr>
              <a:t>your</a:t>
            </a:r>
            <a:r>
              <a:rPr dirty="0" sz="2850" spc="105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850" spc="155">
                <a:solidFill>
                  <a:srgbClr val="343D4B"/>
                </a:solidFill>
                <a:latin typeface="Arial"/>
                <a:cs typeface="Arial"/>
              </a:rPr>
              <a:t>time</a:t>
            </a:r>
            <a:r>
              <a:rPr dirty="0" sz="2850" spc="9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850" spc="135">
                <a:solidFill>
                  <a:srgbClr val="343D4B"/>
                </a:solidFill>
                <a:latin typeface="Arial"/>
                <a:cs typeface="Arial"/>
              </a:rPr>
              <a:t>and</a:t>
            </a:r>
            <a:r>
              <a:rPr dirty="0" sz="2850" spc="-6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850" spc="125">
                <a:solidFill>
                  <a:srgbClr val="343D4B"/>
                </a:solidFill>
                <a:latin typeface="Arial"/>
                <a:cs typeface="Arial"/>
              </a:rPr>
              <a:t>attention.</a:t>
            </a:r>
            <a:endParaRPr sz="28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3024" y="6708681"/>
            <a:ext cx="2042160" cy="3892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50" spc="160" b="1">
                <a:solidFill>
                  <a:srgbClr val="343D4B"/>
                </a:solidFill>
                <a:latin typeface="Arial"/>
                <a:cs typeface="Arial"/>
              </a:rPr>
              <a:t>Contact</a:t>
            </a:r>
            <a:r>
              <a:rPr dirty="0" sz="2350" spc="90" b="1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350" spc="-10" b="1">
                <a:solidFill>
                  <a:srgbClr val="343D4B"/>
                </a:solidFill>
                <a:latin typeface="Arial"/>
                <a:cs typeface="Arial"/>
              </a:rPr>
              <a:t>Info:</a:t>
            </a:r>
            <a:endParaRPr sz="2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2706" y="7500116"/>
            <a:ext cx="485076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105">
                <a:solidFill>
                  <a:srgbClr val="343D4B"/>
                </a:solidFill>
                <a:latin typeface="Arial"/>
                <a:cs typeface="Arial"/>
              </a:rPr>
              <a:t>Nikhil</a:t>
            </a:r>
            <a:r>
              <a:rPr dirty="0" sz="2300" spc="-135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300" spc="170">
                <a:solidFill>
                  <a:srgbClr val="343D4B"/>
                </a:solidFill>
                <a:latin typeface="Arial"/>
                <a:cs typeface="Arial"/>
              </a:rPr>
              <a:t>Gowda</a:t>
            </a:r>
            <a:r>
              <a:rPr dirty="0" sz="2300" spc="-6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600" spc="70">
                <a:solidFill>
                  <a:srgbClr val="343D4B"/>
                </a:solidFill>
                <a:latin typeface="Arial"/>
                <a:cs typeface="Arial"/>
              </a:rPr>
              <a:t>I</a:t>
            </a:r>
            <a:r>
              <a:rPr dirty="0" sz="2600" spc="-22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300" spc="180">
                <a:solidFill>
                  <a:srgbClr val="343D4B"/>
                </a:solidFill>
                <a:latin typeface="Arial"/>
                <a:cs typeface="Arial"/>
              </a:rPr>
              <a:t>Nithin</a:t>
            </a:r>
            <a:r>
              <a:rPr dirty="0" sz="2300" spc="-21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300" spc="315">
                <a:solidFill>
                  <a:srgbClr val="343D4B"/>
                </a:solidFill>
                <a:latin typeface="Arial"/>
                <a:cs typeface="Arial"/>
              </a:rPr>
              <a:t>D</a:t>
            </a:r>
            <a:r>
              <a:rPr dirty="0" sz="2300" spc="-325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600" spc="120">
                <a:solidFill>
                  <a:srgbClr val="343D4B"/>
                </a:solidFill>
                <a:latin typeface="Arial"/>
                <a:cs typeface="Arial"/>
              </a:rPr>
              <a:t>I</a:t>
            </a:r>
            <a:r>
              <a:rPr dirty="0" sz="2600" spc="-27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300" spc="70">
                <a:solidFill>
                  <a:srgbClr val="343D4B"/>
                </a:solidFill>
                <a:latin typeface="Arial"/>
                <a:cs typeface="Arial"/>
              </a:rPr>
              <a:t>Prajwal</a:t>
            </a:r>
            <a:r>
              <a:rPr dirty="0" sz="2300" spc="-35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300" spc="-50">
                <a:solidFill>
                  <a:srgbClr val="343D4B"/>
                </a:solidFill>
                <a:latin typeface="Arial"/>
                <a:cs typeface="Arial"/>
              </a:rPr>
              <a:t>R</a:t>
            </a:r>
            <a:endParaRPr sz="2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51821" y="8287614"/>
            <a:ext cx="4443730" cy="46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25">
                <a:solidFill>
                  <a:srgbClr val="343D4B"/>
                </a:solidFill>
                <a:latin typeface="Arial"/>
                <a:cs typeface="Arial"/>
              </a:rPr>
              <a:t>UAS</a:t>
            </a:r>
            <a:r>
              <a:rPr dirty="0" sz="2300" spc="-11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300" spc="65">
                <a:solidFill>
                  <a:srgbClr val="343D4B"/>
                </a:solidFill>
                <a:latin typeface="Arial"/>
                <a:cs typeface="Arial"/>
              </a:rPr>
              <a:t>Bangalore</a:t>
            </a:r>
            <a:r>
              <a:rPr dirty="0" sz="2300" spc="-14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343D4B"/>
                </a:solidFill>
                <a:latin typeface="Arial"/>
                <a:cs typeface="Arial"/>
              </a:rPr>
              <a:t>I</a:t>
            </a:r>
            <a:r>
              <a:rPr dirty="0" sz="2850" spc="-305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343D4B"/>
                </a:solidFill>
                <a:latin typeface="Arial"/>
                <a:cs typeface="Arial"/>
              </a:rPr>
              <a:t>GKVK</a:t>
            </a:r>
            <a:r>
              <a:rPr dirty="0" sz="2300" spc="4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300" spc="145">
                <a:solidFill>
                  <a:srgbClr val="343D4B"/>
                </a:solidFill>
                <a:latin typeface="Arial"/>
                <a:cs typeface="Arial"/>
              </a:rPr>
              <a:t>Campus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89171" y="6708681"/>
            <a:ext cx="2115185" cy="3892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50" spc="75" b="1">
                <a:solidFill>
                  <a:srgbClr val="343D4B"/>
                </a:solidFill>
                <a:latin typeface="Arial"/>
                <a:cs typeface="Arial"/>
              </a:rPr>
              <a:t>Project</a:t>
            </a:r>
            <a:r>
              <a:rPr dirty="0" sz="2350" spc="90" b="1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350" spc="80" b="1">
                <a:solidFill>
                  <a:srgbClr val="343D4B"/>
                </a:solidFill>
                <a:latin typeface="Arial"/>
                <a:cs typeface="Arial"/>
              </a:rPr>
              <a:t>Code:</a:t>
            </a:r>
            <a:endParaRPr sz="2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87977" y="7535553"/>
            <a:ext cx="3996054" cy="3803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00">
                <a:solidFill>
                  <a:srgbClr val="343D4B"/>
                </a:solidFill>
                <a:latin typeface="Arial"/>
                <a:cs typeface="Arial"/>
              </a:rPr>
              <a:t>EAl421</a:t>
            </a:r>
            <a:r>
              <a:rPr dirty="0" sz="2300" spc="-265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343D4B"/>
                </a:solidFill>
                <a:latin typeface="Arial"/>
                <a:cs typeface="Arial"/>
              </a:rPr>
              <a:t>Lab</a:t>
            </a:r>
            <a:r>
              <a:rPr dirty="0" sz="2300" spc="545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300" spc="175">
                <a:solidFill>
                  <a:srgbClr val="343D4B"/>
                </a:solidFill>
                <a:latin typeface="Arial"/>
                <a:cs typeface="Arial"/>
              </a:rPr>
              <a:t>Implementation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88566" y="8354552"/>
            <a:ext cx="3288029" cy="3803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00" spc="185">
                <a:solidFill>
                  <a:srgbClr val="343D4B"/>
                </a:solidFill>
                <a:latin typeface="Arial"/>
                <a:cs typeface="Arial"/>
              </a:rPr>
              <a:t>Python</a:t>
            </a:r>
            <a:r>
              <a:rPr dirty="0" sz="2300" spc="-4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300" spc="100">
                <a:solidFill>
                  <a:srgbClr val="343D4B"/>
                </a:solidFill>
                <a:latin typeface="Arial"/>
                <a:cs typeface="Arial"/>
              </a:rPr>
              <a:t>/</a:t>
            </a:r>
            <a:r>
              <a:rPr dirty="0" sz="2300" spc="114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300" spc="105">
                <a:solidFill>
                  <a:srgbClr val="343D4B"/>
                </a:solidFill>
                <a:latin typeface="Arial"/>
                <a:cs typeface="Arial"/>
              </a:rPr>
              <a:t>Google</a:t>
            </a:r>
            <a:r>
              <a:rPr dirty="0" sz="2300" spc="-45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dirty="0" sz="2300" spc="105">
                <a:solidFill>
                  <a:srgbClr val="343D4B"/>
                </a:solidFill>
                <a:latin typeface="Arial"/>
                <a:cs typeface="Arial"/>
              </a:rPr>
              <a:t>Colab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047" y="1055331"/>
            <a:ext cx="2139398" cy="708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3946" y="1039586"/>
            <a:ext cx="361810" cy="5512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8701" y="2472827"/>
            <a:ext cx="896659" cy="8032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64083" y="3780076"/>
            <a:ext cx="975313" cy="80324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8121" y="5087322"/>
            <a:ext cx="1400047" cy="7874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8121" y="6347319"/>
            <a:ext cx="1431509" cy="81899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8121" y="7670316"/>
            <a:ext cx="1447239" cy="81899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3852" y="9276811"/>
            <a:ext cx="1431509" cy="64574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928120" y="3528074"/>
            <a:ext cx="18263870" cy="0"/>
          </a:xfrm>
          <a:custGeom>
            <a:avLst/>
            <a:gdLst/>
            <a:ahLst/>
            <a:cxnLst/>
            <a:rect l="l" t="t" r="r" b="b"/>
            <a:pathLst>
              <a:path w="18263870" h="0">
                <a:moveTo>
                  <a:pt x="0" y="0"/>
                </a:moveTo>
                <a:lnTo>
                  <a:pt x="18263530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43851" y="4819571"/>
            <a:ext cx="18247995" cy="0"/>
          </a:xfrm>
          <a:custGeom>
            <a:avLst/>
            <a:gdLst/>
            <a:ahLst/>
            <a:cxnLst/>
            <a:rect l="l" t="t" r="r" b="b"/>
            <a:pathLst>
              <a:path w="18247995" h="0">
                <a:moveTo>
                  <a:pt x="0" y="0"/>
                </a:moveTo>
                <a:lnTo>
                  <a:pt x="18247800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28120" y="6126818"/>
            <a:ext cx="18263870" cy="0"/>
          </a:xfrm>
          <a:custGeom>
            <a:avLst/>
            <a:gdLst/>
            <a:ahLst/>
            <a:cxnLst/>
            <a:rect l="l" t="t" r="r" b="b"/>
            <a:pathLst>
              <a:path w="18263870" h="0">
                <a:moveTo>
                  <a:pt x="0" y="0"/>
                </a:moveTo>
                <a:lnTo>
                  <a:pt x="18263530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43851" y="7418315"/>
            <a:ext cx="18247995" cy="0"/>
          </a:xfrm>
          <a:custGeom>
            <a:avLst/>
            <a:gdLst/>
            <a:ahLst/>
            <a:cxnLst/>
            <a:rect l="l" t="t" r="r" b="b"/>
            <a:pathLst>
              <a:path w="18247995" h="0">
                <a:moveTo>
                  <a:pt x="0" y="0"/>
                </a:moveTo>
                <a:lnTo>
                  <a:pt x="18247800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28120" y="8709811"/>
            <a:ext cx="18263870" cy="0"/>
          </a:xfrm>
          <a:custGeom>
            <a:avLst/>
            <a:gdLst/>
            <a:ahLst/>
            <a:cxnLst/>
            <a:rect l="l" t="t" r="r" b="b"/>
            <a:pathLst>
              <a:path w="18263870" h="0">
                <a:moveTo>
                  <a:pt x="0" y="0"/>
                </a:moveTo>
                <a:lnTo>
                  <a:pt x="18263530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2341880">
              <a:lnSpc>
                <a:spcPct val="100000"/>
              </a:lnSpc>
              <a:spcBef>
                <a:spcPts val="115"/>
              </a:spcBef>
            </a:pPr>
            <a:r>
              <a:rPr dirty="0" spc="470"/>
              <a:t>ources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85">
                <a:hlinkClick r:id="rId10"/>
              </a:rPr>
              <a:t>https://www.clipartmax.com/png/middle/285-</a:t>
            </a:r>
            <a:r>
              <a:rPr dirty="0" spc="100">
                <a:hlinkClick r:id="rId10"/>
              </a:rPr>
              <a:t>2853046_by-</a:t>
            </a:r>
            <a:r>
              <a:rPr dirty="0" spc="75">
                <a:hlinkClick r:id="rId10"/>
              </a:rPr>
              <a:t>http-</a:t>
            </a:r>
            <a:r>
              <a:rPr dirty="0" spc="95">
                <a:hlinkClick r:id="rId10"/>
              </a:rPr>
              <a:t>myexamportal-</a:t>
            </a:r>
            <a:r>
              <a:rPr dirty="0" spc="75">
                <a:hlinkClick r:id="rId10"/>
              </a:rPr>
              <a:t>university-</a:t>
            </a:r>
            <a:r>
              <a:rPr dirty="0" spc="70">
                <a:hlinkClick r:id="rId10"/>
              </a:rPr>
              <a:t>of-</a:t>
            </a:r>
            <a:r>
              <a:rPr dirty="0" spc="75">
                <a:hlinkClick r:id="rId10"/>
              </a:rPr>
              <a:t>agricultural-</a:t>
            </a:r>
            <a:r>
              <a:rPr dirty="0" spc="85">
                <a:hlinkClick r:id="rId10"/>
              </a:rPr>
              <a:t>sciences-</a:t>
            </a:r>
            <a:r>
              <a:rPr dirty="0" spc="90">
                <a:hlinkClick r:id="rId10"/>
              </a:rPr>
              <a:t>bangalore-</a:t>
            </a:r>
            <a:r>
              <a:rPr dirty="0" spc="80">
                <a:hlinkClick r:id="rId10"/>
              </a:rPr>
              <a:t>logo.png</a:t>
            </a:r>
          </a:p>
          <a:p>
            <a:pPr marL="14604">
              <a:lnSpc>
                <a:spcPct val="100000"/>
              </a:lnSpc>
              <a:spcBef>
                <a:spcPts val="1510"/>
              </a:spcBef>
            </a:pPr>
            <a:r>
              <a:rPr dirty="0" sz="1900"/>
              <a:t>Source:</a:t>
            </a:r>
            <a:r>
              <a:rPr dirty="0" sz="1900" spc="80"/>
              <a:t> </a:t>
            </a:r>
            <a:r>
              <a:rPr dirty="0" sz="1900" spc="75">
                <a:solidFill>
                  <a:srgbClr val="5B4BC6"/>
                </a:solidFill>
                <a:hlinkClick r:id="rId11"/>
              </a:rPr>
              <a:t>www.clipartmax.com</a:t>
            </a:r>
            <a:endParaRPr sz="1900"/>
          </a:p>
          <a:p>
            <a:pPr>
              <a:lnSpc>
                <a:spcPct val="100000"/>
              </a:lnSpc>
            </a:pPr>
            <a:endParaRPr sz="1900"/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90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75">
                <a:hlinkClick r:id="rId12"/>
              </a:rPr>
              <a:t>https://png.pngtree.com/png-</a:t>
            </a:r>
            <a:r>
              <a:rPr dirty="0" spc="80">
                <a:hlinkClick r:id="rId12"/>
              </a:rPr>
              <a:t>vector/20250321/ourlarge/pngtree-</a:t>
            </a:r>
            <a:r>
              <a:rPr dirty="0" spc="75">
                <a:hlinkClick r:id="rId12"/>
              </a:rPr>
              <a:t>earth-divided-a-</a:t>
            </a:r>
            <a:r>
              <a:rPr dirty="0" spc="70">
                <a:hlinkClick r:id="rId12"/>
              </a:rPr>
              <a:t>visual-</a:t>
            </a:r>
            <a:r>
              <a:rPr dirty="0" spc="75">
                <a:hlinkClick r:id="rId12"/>
              </a:rPr>
              <a:t>representation-</a:t>
            </a:r>
            <a:r>
              <a:rPr dirty="0" spc="65">
                <a:hlinkClick r:id="rId12"/>
              </a:rPr>
              <a:t>of-</a:t>
            </a:r>
            <a:r>
              <a:rPr dirty="0" spc="75">
                <a:hlinkClick r:id="rId12"/>
              </a:rPr>
              <a:t>climate-</a:t>
            </a:r>
            <a:r>
              <a:rPr dirty="0" spc="90">
                <a:hlinkClick r:id="rId12"/>
              </a:rPr>
              <a:t>change-</a:t>
            </a:r>
            <a:r>
              <a:rPr dirty="0" spc="85">
                <a:hlinkClick r:id="rId12"/>
              </a:rPr>
              <a:t>png-</a:t>
            </a:r>
            <a:r>
              <a:rPr dirty="0" spc="80">
                <a:hlinkClick r:id="rId12"/>
              </a:rPr>
              <a:t>image_l5821773.png</a:t>
            </a:r>
          </a:p>
          <a:p>
            <a:pPr marL="14604">
              <a:lnSpc>
                <a:spcPct val="100000"/>
              </a:lnSpc>
              <a:spcBef>
                <a:spcPts val="1510"/>
              </a:spcBef>
            </a:pPr>
            <a:r>
              <a:rPr dirty="0" sz="1900"/>
              <a:t>Source:</a:t>
            </a:r>
            <a:r>
              <a:rPr dirty="0" sz="1900" spc="20"/>
              <a:t> </a:t>
            </a:r>
            <a:r>
              <a:rPr dirty="0" sz="1900" spc="65">
                <a:solidFill>
                  <a:srgbClr val="5B4BC6"/>
                </a:solidFill>
              </a:rPr>
              <a:t>pngtree.com</a:t>
            </a:r>
            <a:endParaRPr sz="1900"/>
          </a:p>
          <a:p>
            <a:pPr>
              <a:lnSpc>
                <a:spcPct val="100000"/>
              </a:lnSpc>
            </a:pPr>
            <a:endParaRPr sz="1900"/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90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65">
                <a:hlinkClick r:id="rId13"/>
              </a:rPr>
              <a:t>https://berkeley-earth-</a:t>
            </a:r>
            <a:r>
              <a:rPr dirty="0" spc="85">
                <a:hlinkClick r:id="rId13"/>
              </a:rPr>
              <a:t>wp-</a:t>
            </a:r>
            <a:r>
              <a:rPr dirty="0" spc="70">
                <a:hlinkClick r:id="rId13"/>
              </a:rPr>
              <a:t>offload.storage.googleapis.com/wp-</a:t>
            </a:r>
            <a:r>
              <a:rPr dirty="0" spc="75">
                <a:hlinkClick r:id="rId13"/>
              </a:rPr>
              <a:t>content/uploads/2026/01/13155613/2025-</a:t>
            </a:r>
            <a:r>
              <a:rPr dirty="0" spc="80">
                <a:hlinkClick r:id="rId13"/>
              </a:rPr>
              <a:t>Time-</a:t>
            </a:r>
            <a:r>
              <a:rPr dirty="0" spc="65">
                <a:hlinkClick r:id="rId13"/>
              </a:rPr>
              <a:t>Series.png</a:t>
            </a:r>
          </a:p>
          <a:p>
            <a:pPr marL="14604">
              <a:lnSpc>
                <a:spcPct val="100000"/>
              </a:lnSpc>
              <a:spcBef>
                <a:spcPts val="1510"/>
              </a:spcBef>
            </a:pPr>
            <a:r>
              <a:rPr dirty="0" sz="1900"/>
              <a:t>Source:</a:t>
            </a:r>
            <a:r>
              <a:rPr dirty="0" sz="1900" spc="25"/>
              <a:t> </a:t>
            </a:r>
            <a:r>
              <a:rPr dirty="0" sz="1900" spc="45">
                <a:solidFill>
                  <a:srgbClr val="5B4BC6"/>
                </a:solidFill>
              </a:rPr>
              <a:t>berkeleyearth.org</a:t>
            </a:r>
            <a:endParaRPr sz="1900"/>
          </a:p>
          <a:p>
            <a:pPr>
              <a:lnSpc>
                <a:spcPct val="100000"/>
              </a:lnSpc>
            </a:pPr>
            <a:endParaRPr sz="1900"/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900"/>
          </a:p>
          <a:p>
            <a:pPr marL="12700">
              <a:lnSpc>
                <a:spcPct val="100000"/>
              </a:lnSpc>
            </a:pPr>
            <a:r>
              <a:rPr dirty="0" spc="65">
                <a:hlinkClick r:id="rId14"/>
              </a:rPr>
              <a:t>https://www.anernstore.com/cdn/shop/articles/Solar_panels_powering_a_drip_irrigation_system_in.png?v=1755070975&amp;width=1200</a:t>
            </a:r>
          </a:p>
          <a:p>
            <a:pPr marL="14604">
              <a:lnSpc>
                <a:spcPct val="100000"/>
              </a:lnSpc>
              <a:spcBef>
                <a:spcPts val="1390"/>
              </a:spcBef>
            </a:pPr>
            <a:r>
              <a:rPr dirty="0" sz="1900"/>
              <a:t>Source:</a:t>
            </a:r>
            <a:r>
              <a:rPr dirty="0" sz="1900" spc="80"/>
              <a:t> </a:t>
            </a:r>
            <a:r>
              <a:rPr dirty="0" sz="1900" spc="35">
                <a:solidFill>
                  <a:srgbClr val="5B4BC6"/>
                </a:solidFill>
                <a:hlinkClick r:id="rId15"/>
              </a:rPr>
              <a:t>www</a:t>
            </a:r>
            <a:r>
              <a:rPr dirty="0" sz="1900" spc="35">
                <a:solidFill>
                  <a:srgbClr val="4838A1"/>
                </a:solidFill>
                <a:hlinkClick r:id="rId15"/>
              </a:rPr>
              <a:t>.</a:t>
            </a:r>
            <a:r>
              <a:rPr dirty="0" sz="1900" spc="35">
                <a:solidFill>
                  <a:srgbClr val="5B4BC6"/>
                </a:solidFill>
                <a:hlinkClick r:id="rId15"/>
              </a:rPr>
              <a:t>anernstore</a:t>
            </a:r>
            <a:r>
              <a:rPr dirty="0" sz="1900" spc="35">
                <a:solidFill>
                  <a:srgbClr val="4F31F2"/>
                </a:solidFill>
                <a:hlinkClick r:id="rId15"/>
              </a:rPr>
              <a:t>.</a:t>
            </a:r>
            <a:r>
              <a:rPr dirty="0" sz="1900" spc="35">
                <a:solidFill>
                  <a:srgbClr val="5B4BC6"/>
                </a:solidFill>
                <a:hlinkClick r:id="rId15"/>
              </a:rPr>
              <a:t>com</a:t>
            </a:r>
            <a:endParaRPr sz="1900"/>
          </a:p>
          <a:p>
            <a:pPr>
              <a:lnSpc>
                <a:spcPct val="100000"/>
              </a:lnSpc>
            </a:pPr>
            <a:endParaRPr sz="1900"/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900"/>
          </a:p>
          <a:p>
            <a:pPr marL="12700">
              <a:lnSpc>
                <a:spcPct val="100000"/>
              </a:lnSpc>
            </a:pPr>
            <a:r>
              <a:rPr dirty="0" spc="70">
                <a:hlinkClick r:id="rId16"/>
              </a:rPr>
              <a:t>https://storage.googleapis.com/gweb-uniblog-</a:t>
            </a:r>
            <a:r>
              <a:rPr dirty="0" spc="65">
                <a:hlinkClick r:id="rId16"/>
              </a:rPr>
              <a:t>publish-</a:t>
            </a:r>
            <a:r>
              <a:rPr dirty="0" spc="75">
                <a:hlinkClick r:id="rId16"/>
              </a:rPr>
              <a:t>prod/images/Px0_15l_socialv2.width-</a:t>
            </a:r>
            <a:r>
              <a:rPr dirty="0" spc="70">
                <a:hlinkClick r:id="rId16"/>
              </a:rPr>
              <a:t>1300.png</a:t>
            </a:r>
          </a:p>
          <a:p>
            <a:pPr marL="14604">
              <a:lnSpc>
                <a:spcPct val="100000"/>
              </a:lnSpc>
              <a:spcBef>
                <a:spcPts val="1510"/>
              </a:spcBef>
            </a:pPr>
            <a:r>
              <a:rPr dirty="0" sz="1900"/>
              <a:t>Source:</a:t>
            </a:r>
            <a:r>
              <a:rPr dirty="0" sz="1900" spc="25"/>
              <a:t> </a:t>
            </a:r>
            <a:r>
              <a:rPr dirty="0" sz="1900" spc="-10">
                <a:solidFill>
                  <a:srgbClr val="5B4BC6"/>
                </a:solidFill>
              </a:rPr>
              <a:t>blog</a:t>
            </a:r>
            <a:r>
              <a:rPr dirty="0" sz="1900" spc="-10">
                <a:solidFill>
                  <a:srgbClr val="7254E2"/>
                </a:solidFill>
              </a:rPr>
              <a:t>.</a:t>
            </a:r>
            <a:r>
              <a:rPr dirty="0" sz="1900" spc="-10">
                <a:solidFill>
                  <a:srgbClr val="5B4BC6"/>
                </a:solidFill>
              </a:rPr>
              <a:t>google</a:t>
            </a:r>
            <a:endParaRPr sz="1900"/>
          </a:p>
          <a:p>
            <a:pPr>
              <a:lnSpc>
                <a:spcPct val="100000"/>
              </a:lnSpc>
              <a:spcBef>
                <a:spcPts val="1590"/>
              </a:spcBef>
            </a:pPr>
            <a:endParaRPr sz="1900"/>
          </a:p>
          <a:p>
            <a:pPr marL="19685" marR="5080" indent="-7620">
              <a:lnSpc>
                <a:spcPct val="140000"/>
              </a:lnSpc>
            </a:pPr>
            <a:r>
              <a:rPr dirty="0" spc="90">
                <a:hlinkClick r:id="rId17"/>
              </a:rPr>
              <a:t>https://png.pngtree.com/thumb_back/fh260/background/20241224/pngtree-</a:t>
            </a:r>
            <a:r>
              <a:rPr dirty="0" spc="80">
                <a:hlinkClick r:id="rId17"/>
              </a:rPr>
              <a:t>lush-</a:t>
            </a:r>
            <a:r>
              <a:rPr dirty="0" spc="90">
                <a:hlinkClick r:id="rId17"/>
              </a:rPr>
              <a:t>green-</a:t>
            </a:r>
            <a:r>
              <a:rPr dirty="0" spc="65">
                <a:hlinkClick r:id="rId17"/>
              </a:rPr>
              <a:t>field-</a:t>
            </a:r>
            <a:r>
              <a:rPr dirty="0" spc="80">
                <a:hlinkClick r:id="rId17"/>
              </a:rPr>
              <a:t>with-majestic-</a:t>
            </a:r>
            <a:r>
              <a:rPr dirty="0" spc="90">
                <a:hlinkClick r:id="rId17"/>
              </a:rPr>
              <a:t>mountain-landscape-</a:t>
            </a:r>
            <a:r>
              <a:rPr dirty="0" spc="65">
                <a:hlinkClick r:id="rId17"/>
              </a:rPr>
              <a:t>in-</a:t>
            </a:r>
            <a:r>
              <a:rPr dirty="0" spc="80">
                <a:hlinkClick r:id="rId17"/>
              </a:rPr>
              <a:t>the-</a:t>
            </a:r>
            <a:r>
              <a:rPr dirty="0" spc="95">
                <a:hlinkClick r:id="rId17"/>
              </a:rPr>
              <a:t>background-</a:t>
            </a:r>
            <a:r>
              <a:rPr dirty="0" spc="80">
                <a:hlinkClick r:id="rId17"/>
              </a:rPr>
              <a:t>capturing-</a:t>
            </a:r>
            <a:r>
              <a:rPr dirty="0" spc="85">
                <a:hlinkClick r:id="rId17"/>
              </a:rPr>
              <a:t>image_l685</a:t>
            </a:r>
            <a:r>
              <a:rPr dirty="0" spc="85"/>
              <a:t> </a:t>
            </a:r>
            <a:r>
              <a:rPr dirty="0" spc="-10"/>
              <a:t>2210.jpg</a:t>
            </a:r>
          </a:p>
          <a:p>
            <a:pPr marL="14604">
              <a:lnSpc>
                <a:spcPct val="100000"/>
              </a:lnSpc>
              <a:spcBef>
                <a:spcPts val="1510"/>
              </a:spcBef>
            </a:pPr>
            <a:r>
              <a:rPr dirty="0" sz="1900"/>
              <a:t>Source:</a:t>
            </a:r>
            <a:r>
              <a:rPr dirty="0" sz="1900" spc="20"/>
              <a:t> </a:t>
            </a:r>
            <a:r>
              <a:rPr dirty="0" sz="1900" spc="55">
                <a:solidFill>
                  <a:srgbClr val="5B4BC6"/>
                </a:solidFill>
              </a:rPr>
              <a:t>pngtree</a:t>
            </a:r>
            <a:r>
              <a:rPr dirty="0" sz="1900" spc="55">
                <a:solidFill>
                  <a:srgbClr val="4838A1"/>
                </a:solidFill>
              </a:rPr>
              <a:t>.</a:t>
            </a:r>
            <a:r>
              <a:rPr dirty="0" sz="1900" spc="55">
                <a:solidFill>
                  <a:srgbClr val="5B4BC6"/>
                </a:solidFill>
              </a:rPr>
              <a:t>com</a:t>
            </a:r>
            <a:endParaRPr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047" y="1055331"/>
            <a:ext cx="2139398" cy="708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3946" y="1039586"/>
            <a:ext cx="361810" cy="5512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8121" y="5890571"/>
            <a:ext cx="1384316" cy="771747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2341880">
              <a:lnSpc>
                <a:spcPct val="100000"/>
              </a:lnSpc>
              <a:spcBef>
                <a:spcPts val="115"/>
              </a:spcBef>
            </a:pPr>
            <a:r>
              <a:rPr dirty="0" spc="470"/>
              <a:t>ources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34829" y="5897558"/>
            <a:ext cx="7423150" cy="7480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55">
                <a:solidFill>
                  <a:srgbClr val="4B4D57"/>
                </a:solidFill>
                <a:latin typeface="Arial"/>
                <a:cs typeface="Arial"/>
              </a:rPr>
              <a:t>https</a:t>
            </a:r>
            <a:r>
              <a:rPr dirty="0" sz="1550" spc="55">
                <a:solidFill>
                  <a:srgbClr val="64626B"/>
                </a:solidFill>
                <a:latin typeface="Arial"/>
                <a:cs typeface="Arial"/>
              </a:rPr>
              <a:t>:</a:t>
            </a:r>
            <a:r>
              <a:rPr dirty="0" sz="1550" spc="55">
                <a:solidFill>
                  <a:srgbClr val="4B4D57"/>
                </a:solidFill>
                <a:latin typeface="Arial"/>
                <a:cs typeface="Arial"/>
              </a:rPr>
              <a:t>//miro</a:t>
            </a:r>
            <a:r>
              <a:rPr dirty="0" sz="1550" spc="55">
                <a:solidFill>
                  <a:srgbClr val="64626B"/>
                </a:solidFill>
                <a:latin typeface="Arial"/>
                <a:cs typeface="Arial"/>
              </a:rPr>
              <a:t>.</a:t>
            </a:r>
            <a:r>
              <a:rPr dirty="0" sz="1550" spc="55">
                <a:solidFill>
                  <a:srgbClr val="4B4D57"/>
                </a:solidFill>
                <a:latin typeface="Arial"/>
                <a:cs typeface="Arial"/>
              </a:rPr>
              <a:t>medium</a:t>
            </a:r>
            <a:r>
              <a:rPr dirty="0" sz="1550" spc="55">
                <a:solidFill>
                  <a:srgbClr val="64626B"/>
                </a:solidFill>
                <a:latin typeface="Arial"/>
                <a:cs typeface="Arial"/>
              </a:rPr>
              <a:t>.</a:t>
            </a:r>
            <a:r>
              <a:rPr dirty="0" sz="1550" spc="55">
                <a:solidFill>
                  <a:srgbClr val="4B4D57"/>
                </a:solidFill>
                <a:latin typeface="Arial"/>
                <a:cs typeface="Arial"/>
              </a:rPr>
              <a:t>com/v2/resize</a:t>
            </a:r>
            <a:r>
              <a:rPr dirty="0" sz="1550" spc="55">
                <a:solidFill>
                  <a:srgbClr val="64626B"/>
                </a:solidFill>
                <a:latin typeface="Arial"/>
                <a:cs typeface="Arial"/>
              </a:rPr>
              <a:t>:</a:t>
            </a:r>
            <a:r>
              <a:rPr dirty="0" sz="1550" spc="55">
                <a:solidFill>
                  <a:srgbClr val="4B4D57"/>
                </a:solidFill>
                <a:latin typeface="Arial"/>
                <a:cs typeface="Arial"/>
              </a:rPr>
              <a:t>fit</a:t>
            </a:r>
            <a:r>
              <a:rPr dirty="0" sz="1550" spc="55">
                <a:solidFill>
                  <a:srgbClr val="64626B"/>
                </a:solidFill>
                <a:latin typeface="Arial"/>
                <a:cs typeface="Arial"/>
              </a:rPr>
              <a:t>:</a:t>
            </a:r>
            <a:r>
              <a:rPr dirty="0" sz="1550" spc="55">
                <a:solidFill>
                  <a:srgbClr val="4B4D57"/>
                </a:solidFill>
                <a:latin typeface="Arial"/>
                <a:cs typeface="Arial"/>
              </a:rPr>
              <a:t>1400/l*PEz2rFdsaF_</a:t>
            </a:r>
            <a:r>
              <a:rPr dirty="0" sz="1550" spc="-270">
                <a:solidFill>
                  <a:srgbClr val="4B4D57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B4D57"/>
                </a:solidFill>
                <a:latin typeface="Arial"/>
                <a:cs typeface="Arial"/>
              </a:rPr>
              <a:t>vHkM5JHgSBw</a:t>
            </a:r>
            <a:r>
              <a:rPr dirty="0" sz="1550" spc="-10">
                <a:solidFill>
                  <a:srgbClr val="64626B"/>
                </a:solidFill>
                <a:latin typeface="Arial"/>
                <a:cs typeface="Arial"/>
              </a:rPr>
              <a:t>.</a:t>
            </a:r>
            <a:r>
              <a:rPr dirty="0" sz="1550" spc="-10">
                <a:solidFill>
                  <a:srgbClr val="4B4D57"/>
                </a:solidFill>
                <a:latin typeface="Arial"/>
                <a:cs typeface="Arial"/>
              </a:rPr>
              <a:t>jpeg</a:t>
            </a:r>
            <a:endParaRPr sz="155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510"/>
              </a:spcBef>
            </a:pPr>
            <a:r>
              <a:rPr dirty="0" sz="1900">
                <a:solidFill>
                  <a:srgbClr val="4B4D57"/>
                </a:solidFill>
                <a:latin typeface="Arial"/>
                <a:cs typeface="Arial"/>
              </a:rPr>
              <a:t>Source:</a:t>
            </a:r>
            <a:r>
              <a:rPr dirty="0" sz="1900" spc="-25">
                <a:solidFill>
                  <a:srgbClr val="4B4D57"/>
                </a:solidFill>
                <a:latin typeface="Arial"/>
                <a:cs typeface="Arial"/>
              </a:rPr>
              <a:t> </a:t>
            </a:r>
            <a:r>
              <a:rPr dirty="0" sz="1900" spc="65">
                <a:solidFill>
                  <a:srgbClr val="5949CD"/>
                </a:solidFill>
                <a:latin typeface="Arial"/>
                <a:cs typeface="Arial"/>
              </a:rPr>
              <a:t>medium.com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2026-04-15T16:34:29Z</dcterms:created>
  <dcterms:modified xsi:type="dcterms:W3CDTF">2026-04-15T16:34:29Z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2026-04-15T00:00:00Z</vt:filetime>
  </property>
  <property fmtid="{D5CDD505-2E9C-101B-9397-08002B2CF9AE}" pid="3" name="LastSaved">
    <vt:filetime>2026-04-15T00:00:00Z</vt:filetime>
  </property>
</Properties>
</file>